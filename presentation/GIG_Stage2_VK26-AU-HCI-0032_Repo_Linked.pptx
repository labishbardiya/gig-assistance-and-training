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8"/>
  </p:notesMasterIdLst>
  <p:sldIdLst>
    <p:sldId id="256" r:id="rId2"/>
    <p:sldId id="276" r:id="rId3"/>
    <p:sldId id="277" r:id="rId4"/>
    <p:sldId id="278" r:id="rId5"/>
    <p:sldId id="279" r:id="rId6"/>
    <p:sldId id="280" r:id="rId7"/>
    <p:sldId id="281" r:id="rId8"/>
    <p:sldId id="282" r:id="rId9"/>
    <p:sldId id="283" r:id="rId10"/>
    <p:sldId id="284" r:id="rId11"/>
    <p:sldId id="285" r:id="rId12"/>
    <p:sldId id="286" r:id="rId13"/>
    <p:sldId id="287" r:id="rId14"/>
    <p:sldId id="288" r:id="rId15"/>
    <p:sldId id="289" r:id="rId16"/>
    <p:sldId id="290" r:id="rId17"/>
  </p:sldIdLst>
  <p:sldSz cx="12192000" cy="6858000"/>
  <p:notesSz cx="6858000" cy="9144000"/>
  <p:embeddedFontLst>
    <p:embeddedFont>
      <p:font typeface="DM Sans Medium"/>
      <p:regular r:id="rId19"/>
      <p:bold r:id="rId20"/>
      <p:italic r:id="rId21"/>
      <p:boldItalic r:id="rId22"/>
    </p:embeddedFont>
    <p:embeddedFont>
      <p:font typeface="Poppins SemiBold" panose="0000070000000000000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6046466-F724-4CB5-896F-67C00AF2974A}">
  <a:tblStyle styleId="{56046466-F724-4CB5-896F-67C00AF2974A}"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498"/>
    <p:restoredTop sz="94691"/>
  </p:normalViewPr>
  <p:slideViewPr>
    <p:cSldViewPr snapToGrid="0">
      <p:cViewPr varScale="1">
        <p:scale>
          <a:sx n="120" d="100"/>
          <a:sy n="120" d="100"/>
        </p:scale>
        <p:origin x="192" y="24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font" Target="fonts/font1.fntdata"/><Relationship Id="rId20" Type="http://schemas.openxmlformats.org/officeDocument/2006/relationships/font" Target="fonts/font2.fntdata"/><Relationship Id="rId21" Type="http://schemas.openxmlformats.org/officeDocument/2006/relationships/font" Target="fonts/font3.fntdata"/><Relationship Id="rId22" Type="http://schemas.openxmlformats.org/officeDocument/2006/relationships/font" Target="fonts/font4.fntdata"/><Relationship Id="rId23" Type="http://schemas.openxmlformats.org/officeDocument/2006/relationships/font" Target="fonts/font5.fntdata"/><Relationship Id="rId24" Type="http://schemas.openxmlformats.org/officeDocument/2006/relationships/font" Target="fonts/font6.fntdata"/><Relationship Id="rId25" Type="http://schemas.openxmlformats.org/officeDocument/2006/relationships/font" Target="fonts/font7.fntdata"/><Relationship Id="rId26" Type="http://schemas.openxmlformats.org/officeDocument/2006/relationships/font" Target="fonts/font8.fntdata"/><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Application ID: VK26-AU-HCI-0032. Theme: HCI 2.0: Designing Interaction Beyond Chat. Title and technical scope come from the team Stage 1 proposal. Design Development Stage: this deck presents design targets and concept visuals, not measured GIG results.</a:t>
            </a:r>
          </a:p>
        </p:txBody>
      </p:sp>
      <p:sp>
        <p:nvSpPr>
          <p:cNvPr id="82" name="Google Shape;82;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Sources: team Stage 1 proposal (title, scope, theme). Image 01_gig_product_concept.png is an AI-generated illustration, not a CAD render or photograph. The four tiles restate the interaction loop; they are not measured results. VERIFY before submission: team name and member details are not in this deck.</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S1: NDRF Raising Day 2025, 691 mock exercises in 2024. S2: NDRF Mock Exercise procedure. S3: WHO 2018 review of 17 simulation reports (4/17 unfamiliar with procedures, 4/17 coordination difficulty), mostly tabletop/public-health cases outside India, used only as broader context. Image 02_training_scenario.png is AI-generated, not an NDRF photograph. URLs are on the References slide.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Before and With GIG flows are the design hypothesis, not observed results. No time, error or cost figures are claimed; the five measures are what the pilot would record. Image 03_wearer_pov_concept.png is AI-generated.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Architecture is a design, not a built system. The quality gate rejects low-quality gaze before any candidate is displayed. The human confirmation gate (physical confirm or cancel) must pass before an event record is written. No decorative AI graphic is used. Hardware models are not selected; see BOM slide.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Image 03_wearer_pov_concept.png is AI-generated. The highlight shown is a candidate only; no completed-check symbol appears. First demonstration: indoor, supervised, consented, single kit.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VERIFY before submission: the OpenSCAD file cad/GIG_parametric_temple_module.scad was not available when this deck was built, so its description and parameters (44 x 20 x 14 mm body; 8.5 x 4.0 mm channel; cable opening; two top holes) come from the team brief and were not checked against the file. If you can render the file, replace the image with a genuine OpenSCAD screenshot and keep the caption honest. Material selection is not stated because no material has been chosen or tested.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Indicative BOM only: selection criteria and evidence status, no unit prices, vendors or totals. The template asks for part numbers, unit cost and lead time; these are intentionally absent until verified quotations exist. Image is AI-generated concept art.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No lab photos, IDE screenshots, terminal logs, timestamps or faculty sign-off are shown, by design. VERIFY before submission: add member names, institutional IDs, faculty mentor and a repository link once they exist. The template asks for proof of personal fabrication; none exists yet and none is simulated.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FMEA is a design-stage analysis; none of the controls has been tested. No standards compliance (ISO, IEC, IP rating) is claimed because none has been assessed.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brief gives phases but no calendar dates, so none are shown. Add dates after vendor lead times are confirmed. Procurement, build and pilot are plans only; the pilot depends on access and is exploratory (8 to 12 adults).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Each risk links to the go/no-go evidence on the next slide. No GIG test has been run, so no risk is reported as observed.</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Go/no-go evidence is what the team will measure in Stage 3; no result exists yet.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S5 Pupil Labs (check component licences before reuse). S6 GazeGPT, Konrad et al. 2024: research baseline for gaze selection, not a responder-training workflow. S7 Laerdal SimCapture: commercial debrief prior art. S8 Thurnherr et al. printable gaze frames, MIT licence, RealSense-specific, mechanical inspiration only.</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All hyperlinks are live. S3 and S1 figures are quoted with their sample and context only. S4 (official site) was the source for stage requirements; it supports no claim about GIG performance.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Generation prompts (from the team brief). 01: Photorealistic but clearly conceptual industrial-design render of humanitarian responder training glasses with scene camera, inward eye sensor, small monocular display, tactile temple controls and cable to pocket compute; no logos. 02: Supervised indoor disaster-response training exercise in India; trainee with subtle smart-glasses prototype prepares an open relief kit; instructor observes; no uniforms, agency logos, victims or UI overlay. 03: First-person view into a relief-kit case; only the first-aid pouch has a restrained amber candidate highlight; Confirm item and Cancel overlay; no completed-check symbol. 04: Instructor and trainee at a laptop; concept interface shows paused first-person kit video, one highlighted item, short checklist and four event markers; no biometric interpretation or agency marks.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6.png"/><Relationship Id="rId7" Type="http://schemas.openxmlformats.org/officeDocument/2006/relationships/image" Target="../media/image10.png"/><Relationship Id="rId8" Type="http://schemas.openxmlformats.org/officeDocument/2006/relationships/image" Target="../media/image7.pn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13.png"/><Relationship Id="rId7" Type="http://schemas.openxmlformats.org/officeDocument/2006/relationships/image" Target="../media/image17.png"/><Relationship Id="rId8"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14.png"/><Relationship Id="rId7" Type="http://schemas.openxmlformats.org/officeDocument/2006/relationships/image" Target="../media/image9.png"/><Relationship Id="rId8" Type="http://schemas.openxmlformats.org/officeDocument/2006/relationships/image" Target="../media/image18.png"/><Relationship Id="rId9" Type="http://schemas.openxmlformats.org/officeDocument/2006/relationships/hyperlink" Target="https://github.com/labishbardiya/GIG-Assistance-and-Training"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8.png"/><Relationship Id="rId7" Type="http://schemas.openxmlformats.org/officeDocument/2006/relationships/image" Target="../media/image15.png"/><Relationship Id="rId8"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7.png"/><Relationship Id="rId7" Type="http://schemas.openxmlformats.org/officeDocument/2006/relationships/image" Target="../media/image11.png"/><Relationship Id="rId8" Type="http://schemas.openxmlformats.org/officeDocument/2006/relationships/image" Target="../media/image16.png"/><Relationship Id="rId9" Type="http://schemas.openxmlformats.org/officeDocument/2006/relationships/hyperlink" Target="https://github.com/labishbardiya/GIG-Assistance-and-Training"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11.png"/><Relationship Id="rId7"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12.png"/><Relationship Id="rId7" Type="http://schemas.openxmlformats.org/officeDocument/2006/relationships/image" Target="../media/image19.png"/><Relationship Id="rId8"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11.png"/><Relationship Id="rId7" Type="http://schemas.openxmlformats.org/officeDocument/2006/relationships/image" Target="../media/image7.png"/><Relationship Id="rId8" Type="http://schemas.openxmlformats.org/officeDocument/2006/relationships/image" Target="../media/image19.png"/><Relationship Id="rId9" Type="http://schemas.openxmlformats.org/officeDocument/2006/relationships/image" Target="../media/image16.png"/><Relationship Id="rId10" Type="http://schemas.openxmlformats.org/officeDocument/2006/relationships/image" Target="../media/image14.png"/><Relationship Id="rId11"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12.png"/><Relationship Id="rId7"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7.png"/><Relationship Id="rId7" Type="http://schemas.openxmlformats.org/officeDocument/2006/relationships/image" Target="../media/image15.png"/><Relationship Id="rId8" Type="http://schemas.openxmlformats.org/officeDocument/2006/relationships/image" Target="../media/image12.png"/><Relationship Id="rId9"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hyperlink" Target="https://www.ndrf.gov.in/en/pressrelease/national-disaster-response-force-ndrf-raising-day-2025" TargetMode="External"/><Relationship Id="rId7" Type="http://schemas.openxmlformats.org/officeDocument/2006/relationships/hyperlink" Target="https://www.ndrf.gov.in/sites/default/files/MOCK%20EXERCISE.pdf" TargetMode="External"/><Relationship Id="rId8" Type="http://schemas.openxmlformats.org/officeDocument/2006/relationships/hyperlink" Target="https://www.who.int/news-room/articles-detail/after-action-reviews-and-simulations-exercises-within-the-monitoring-and-evaluation-framework-for-the-international-health-regulations-(2005)-main-trends-in-2018" TargetMode="External"/><Relationship Id="rId9" Type="http://schemas.openxmlformats.org/officeDocument/2006/relationships/hyperlink" Target="https://www.vishwakarma-awards.org/" TargetMode="External"/><Relationship Id="rId10" Type="http://schemas.openxmlformats.org/officeDocument/2006/relationships/hyperlink" Target="https://github.com/pupil-labs/pupil" TargetMode="External"/><Relationship Id="rId11" Type="http://schemas.openxmlformats.org/officeDocument/2006/relationships/hyperlink" Target="https://www.computationalimaging.org/publications/gazegpt-2024/" TargetMode="External"/><Relationship Id="rId12" Type="http://schemas.openxmlformats.org/officeDocument/2006/relationships/hyperlink" Target="https://www.laerdal.com/in/services-and-programs/educational-services/getting-started-with-simcapture/" TargetMode="External"/><Relationship Id="rId13" Type="http://schemas.openxmlformats.org/officeDocument/2006/relationships/hyperlink" Target="https://github.com/LucasThurnherr/Printable-3D-Gaze-Tracking-Glass-Frames-and-Software" TargetMode="External"/><Relationship Id="rId14"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8.png"/><Relationship Id="rId7" Type="http://schemas.openxmlformats.org/officeDocument/2006/relationships/image" Target="../media/image10.png"/><Relationship Id="rId8" Type="http://schemas.openxmlformats.org/officeDocument/2006/relationships/image" Target="../media/image13.png"/><Relationship Id="rId9" Type="http://schemas.openxmlformats.org/officeDocument/2006/relationships/image" Target="../media/image17.png"/><Relationship Id="rId10"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2"/>
            <a:ext cx="12192000" cy="6858000"/>
          </a:xfrm>
          <a:prstGeom prst="rect">
            <a:avLst/>
          </a:prstGeom>
          <a:noFill/>
          <a:ln>
            <a:noFill/>
          </a:ln>
        </p:spPr>
      </p:pic>
      <p:sp>
        <p:nvSpPr>
          <p:cNvPr id="85" name="Google Shape;85;p13"/>
          <p:cNvSpPr txBox="1"/>
          <p:nvPr/>
        </p:nvSpPr>
        <p:spPr>
          <a:xfrm>
            <a:off x="2320528" y="3182619"/>
            <a:ext cx="7551000" cy="577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750" b="1">
                <a:solidFill>
                  <a:srgbClr val="0F172A"/>
                </a:solidFill>
                <a:latin typeface="Poppins"/>
                <a:ea typeface="Poppins"/>
                <a:cs typeface="Poppins"/>
                <a:sym typeface="Poppins"/>
              </a:rPr>
              <a:t>Vishwakarma Application ID</a:t>
            </a:r>
            <a:endParaRPr/>
          </a:p>
        </p:txBody>
      </p:sp>
      <p:pic>
        <p:nvPicPr>
          <p:cNvPr id="87" name="Google Shape;87;p13" descr="image.png"/>
          <p:cNvPicPr preferRelativeResize="0"/>
          <p:nvPr/>
        </p:nvPicPr>
        <p:blipFill rotWithShape="1">
          <a:blip r:embed="rId4">
            <a:alphaModFix/>
          </a:blip>
          <a:srcRect/>
          <a:stretch/>
        </p:blipFill>
        <p:spPr>
          <a:xfrm>
            <a:off x="3170213" y="2268205"/>
            <a:ext cx="5851614" cy="577200"/>
          </a:xfrm>
          <a:prstGeom prst="rect">
            <a:avLst/>
          </a:prstGeom>
          <a:noFill/>
          <a:ln>
            <a:noFill/>
          </a:ln>
        </p:spPr>
      </p:pic>
      <p:pic>
        <p:nvPicPr>
          <p:cNvPr id="88" name="Google Shape;88;p13" title="MBF_Logo_2020.png"/>
          <p:cNvPicPr preferRelativeResize="0"/>
          <p:nvPr/>
        </p:nvPicPr>
        <p:blipFill>
          <a:blip r:embed="rId5">
            <a:alphaModFix/>
          </a:blip>
          <a:stretch>
            <a:fillRect/>
          </a:stretch>
        </p:blipFill>
        <p:spPr>
          <a:xfrm>
            <a:off x="10700669" y="80825"/>
            <a:ext cx="1491330" cy="784825"/>
          </a:xfrm>
          <a:prstGeom prst="rect">
            <a:avLst/>
          </a:prstGeom>
          <a:noFill/>
          <a:ln>
            <a:noFill/>
          </a:ln>
        </p:spPr>
      </p:pic>
      <p:pic>
        <p:nvPicPr>
          <p:cNvPr id="89" name="Google Shape;89;p13" title="VK colored transparent logo.png"/>
          <p:cNvPicPr preferRelativeResize="0"/>
          <p:nvPr/>
        </p:nvPicPr>
        <p:blipFill rotWithShape="1">
          <a:blip r:embed="rId6">
            <a:alphaModFix/>
          </a:blip>
          <a:srcRect l="14673" t="33074" r="15820" b="44466"/>
          <a:stretch/>
        </p:blipFill>
        <p:spPr>
          <a:xfrm>
            <a:off x="0" y="80825"/>
            <a:ext cx="2428825" cy="784825"/>
          </a:xfrm>
          <a:prstGeom prst="rect">
            <a:avLst/>
          </a:prstGeom>
          <a:noFill/>
          <a:ln>
            <a:noFill/>
          </a:ln>
        </p:spPr>
      </p:pic>
      <p:sp>
        <p:nvSpPr>
          <p:cNvPr id="90" name="Application ID"/>
          <p:cNvSpPr txBox="1"/>
          <p:nvPr/>
        </p:nvSpPr>
        <p:spPr>
          <a:xfrm>
            <a:off x="2011680" y="3977640"/>
            <a:ext cx="8165592" cy="457200"/>
          </a:xfrm>
          <a:prstGeom prst="rect">
            <a:avLst/>
          </a:prstGeom>
          <a:noFill/>
        </p:spPr>
        <p:txBody>
          <a:bodyPr wrap="square" lIns="0" tIns="0" rIns="0" bIns="0" anchor="ctr">
            <a:noAutofit/>
          </a:bodyPr>
          <a:lstStyle/>
          <a:p>
            <a:pPr marL="0" indent="0" algn="ctr">
              <a:lnSpc>
                <a:spcPct val="110000"/>
              </a:lnSpc>
              <a:spcBef>
                <a:spcPts val="0"/>
              </a:spcBef>
              <a:spcAft>
                <a:spcPts val="0"/>
              </a:spcAft>
              <a:buNone/>
            </a:pPr>
            <a:r>
              <a:rPr sz="2600" b="1" i="0" dirty="0">
                <a:solidFill>
                  <a:srgbClr val="0369A1"/>
                </a:solidFill>
                <a:latin typeface="Poppins SemiBold"/>
              </a:rPr>
              <a:t>VK26-AU-HCI-0032</a:t>
            </a:r>
          </a:p>
        </p:txBody>
      </p:sp>
      <p:sp>
        <p:nvSpPr>
          <p:cNvPr id="91" name="Project name"/>
          <p:cNvSpPr txBox="1"/>
          <p:nvPr/>
        </p:nvSpPr>
        <p:spPr>
          <a:xfrm>
            <a:off x="2011680" y="4617720"/>
            <a:ext cx="8165592" cy="274320"/>
          </a:xfrm>
          <a:prstGeom prst="rect">
            <a:avLst/>
          </a:prstGeom>
          <a:noFill/>
        </p:spPr>
        <p:txBody>
          <a:bodyPr wrap="square" lIns="0" tIns="0" rIns="0" bIns="0" anchor="t">
            <a:noAutofit/>
          </a:bodyPr>
          <a:lstStyle/>
          <a:p>
            <a:pPr marL="0" indent="0" algn="ctr">
              <a:lnSpc>
                <a:spcPct val="120000"/>
              </a:lnSpc>
              <a:spcBef>
                <a:spcPts val="0"/>
              </a:spcBef>
              <a:spcAft>
                <a:spcPts val="0"/>
              </a:spcAft>
              <a:buNone/>
            </a:pPr>
            <a:r>
              <a:rPr sz="1400" b="1" i="0" dirty="0">
                <a:solidFill>
                  <a:srgbClr val="0F172A"/>
                </a:solidFill>
                <a:latin typeface="DM Sans"/>
              </a:rPr>
              <a:t>GIG Assistance and Training Glasses</a:t>
            </a:r>
          </a:p>
        </p:txBody>
      </p:sp>
      <p:sp>
        <p:nvSpPr>
          <p:cNvPr id="92" name="Theme"/>
          <p:cNvSpPr txBox="1"/>
          <p:nvPr/>
        </p:nvSpPr>
        <p:spPr>
          <a:xfrm>
            <a:off x="2011680" y="4956048"/>
            <a:ext cx="8165592" cy="274320"/>
          </a:xfrm>
          <a:prstGeom prst="rect">
            <a:avLst/>
          </a:prstGeom>
          <a:noFill/>
        </p:spPr>
        <p:txBody>
          <a:bodyPr wrap="square" lIns="0" tIns="0" rIns="0" bIns="0" anchor="t">
            <a:noAutofit/>
          </a:bodyPr>
          <a:lstStyle/>
          <a:p>
            <a:pPr marL="0" indent="0" algn="ctr">
              <a:lnSpc>
                <a:spcPct val="120000"/>
              </a:lnSpc>
              <a:spcBef>
                <a:spcPts val="0"/>
              </a:spcBef>
              <a:spcAft>
                <a:spcPts val="0"/>
              </a:spcAft>
              <a:buNone/>
            </a:pPr>
            <a:r>
              <a:rPr sz="1100" b="0" i="0">
                <a:solidFill>
                  <a:srgbClr val="64748B"/>
                </a:solidFill>
                <a:latin typeface="DM Sans"/>
              </a:rPr>
              <a:t>Stage 2 Design Specification  ·  HCI 2.0: Designing Interaction Beyond Chat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3"/>
          <a:stretch>
            <a:fillRect/>
          </a:stretch>
        </p:blipFill>
        <p:spPr>
          <a:xfrm>
            <a:off x="0" y="237744"/>
            <a:ext cx="12191695" cy="6858000"/>
          </a:xfrm>
          <a:prstGeom prst="rect">
            <a:avLst/>
          </a:prstGeom>
        </p:spPr>
      </p:pic>
      <p:pic>
        <p:nvPicPr>
          <p:cNvPr id="3" name="Logo Vishwakarma" descr="image.png"/>
          <p:cNvPicPr>
            <a:picLocks noChangeAspect="1"/>
          </p:cNvPicPr>
          <p:nvPr/>
        </p:nvPicPr>
        <p:blipFill>
          <a:blip r:embed="rId4"/>
          <a:srcRect l="14673" t="33074" r="15820" b="44466"/>
          <a:stretch>
            <a:fillRect/>
          </a:stretch>
        </p:blipFill>
        <p:spPr>
          <a:xfrm>
            <a:off x="0" y="6281928"/>
            <a:ext cx="1783080" cy="576072"/>
          </a:xfrm>
          <a:prstGeom prst="rect">
            <a:avLst/>
          </a:prstGeom>
        </p:spPr>
      </p:pic>
      <p:pic>
        <p:nvPicPr>
          <p:cNvPr id="4" name="Logo Maker Bhavan" descr="image.png"/>
          <p:cNvPicPr>
            <a:picLocks noChangeAspect="1"/>
          </p:cNvPicPr>
          <p:nvPr/>
        </p:nvPicPr>
        <p:blipFill>
          <a:blip r:embed="rId5"/>
          <a:stretch>
            <a:fillRect/>
          </a:stretch>
        </p:blipFill>
        <p:spPr>
          <a:xfrm>
            <a:off x="11091672" y="6281928"/>
            <a:ext cx="1097280" cy="576072"/>
          </a:xfrm>
          <a:prstGeom prst="rect">
            <a:avLst/>
          </a:prstGeom>
        </p:spPr>
      </p:pic>
      <p:sp>
        <p:nvSpPr>
          <p:cNvPr id="5" name="Title"/>
          <p:cNvSpPr txBox="1"/>
          <p:nvPr/>
        </p:nvSpPr>
        <p:spPr>
          <a:xfrm>
            <a:off x="530352" y="438912"/>
            <a:ext cx="11128248" cy="310896"/>
          </a:xfrm>
          <a:prstGeom prst="rect">
            <a:avLst/>
          </a:prstGeom>
          <a:noFill/>
        </p:spPr>
        <p:txBody>
          <a:bodyPr wrap="square" lIns="0" tIns="0" rIns="0" bIns="0" anchor="ctr">
            <a:noAutofit/>
          </a:bodyPr>
          <a:lstStyle/>
          <a:p>
            <a:pPr marL="0" indent="0" algn="l">
              <a:lnSpc>
                <a:spcPct val="120000"/>
              </a:lnSpc>
              <a:spcBef>
                <a:spcPts val="0"/>
              </a:spcBef>
              <a:spcAft>
                <a:spcPts val="0"/>
              </a:spcAft>
              <a:buNone/>
            </a:pPr>
            <a:r>
              <a:rPr sz="2025" b="1" i="0">
                <a:solidFill>
                  <a:srgbClr val="0F172A"/>
                </a:solidFill>
                <a:latin typeface="Poppins SemiBold"/>
              </a:rPr>
              <a:t>Project Overview: GIG Assistance and Training Glasses</a:t>
            </a:r>
          </a:p>
        </p:txBody>
      </p:sp>
      <p:sp>
        <p:nvSpPr>
          <p:cNvPr id="6" name="Footer"/>
          <p:cNvSpPr txBox="1"/>
          <p:nvPr/>
        </p:nvSpPr>
        <p:spPr>
          <a:xfrm>
            <a:off x="3840480" y="6455664"/>
            <a:ext cx="4507992" cy="164592"/>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861" b="0" i="0">
                <a:solidFill>
                  <a:srgbClr val="64748B"/>
                </a:solidFill>
                <a:latin typeface="DM Sans"/>
              </a:rPr>
              <a:t>VK26-AU-HCI-0032  ·  HCI 2.0  ·  2 / 16</a:t>
            </a:r>
          </a:p>
        </p:txBody>
      </p:sp>
      <p:pic>
        <p:nvPicPr>
          <p:cNvPr id="7" name="Tile" descr="image.png"/>
          <p:cNvPicPr>
            <a:picLocks noChangeAspect="1"/>
          </p:cNvPicPr>
          <p:nvPr/>
        </p:nvPicPr>
        <p:blipFill>
          <a:blip r:embed="rId6"/>
          <a:stretch>
            <a:fillRect/>
          </a:stretch>
        </p:blipFill>
        <p:spPr>
          <a:xfrm>
            <a:off x="530352" y="960120"/>
            <a:ext cx="2670048" cy="649224"/>
          </a:xfrm>
          <a:prstGeom prst="rect">
            <a:avLst/>
          </a:prstGeom>
        </p:spPr>
      </p:pic>
      <p:sp>
        <p:nvSpPr>
          <p:cNvPr id="8" name="TextBox 7"/>
          <p:cNvSpPr txBox="1"/>
          <p:nvPr/>
        </p:nvSpPr>
        <p:spPr>
          <a:xfrm>
            <a:off x="585216" y="1078992"/>
            <a:ext cx="2560320" cy="228600"/>
          </a:xfrm>
          <a:prstGeom prst="rect">
            <a:avLst/>
          </a:prstGeom>
          <a:noFill/>
        </p:spPr>
        <p:txBody>
          <a:bodyPr wrap="square" lIns="0" tIns="0" rIns="0" bIns="0" anchor="t">
            <a:noAutofit/>
          </a:bodyPr>
          <a:lstStyle/>
          <a:p>
            <a:pPr marL="0" indent="0" algn="ctr">
              <a:lnSpc>
                <a:spcPct val="110000"/>
              </a:lnSpc>
              <a:spcBef>
                <a:spcPts val="0"/>
              </a:spcBef>
              <a:spcAft>
                <a:spcPts val="0"/>
              </a:spcAft>
              <a:buNone/>
            </a:pPr>
            <a:r>
              <a:rPr sz="1650" b="1" i="0">
                <a:solidFill>
                  <a:srgbClr val="0369A1"/>
                </a:solidFill>
                <a:latin typeface="Poppins"/>
              </a:rPr>
              <a:t>Look</a:t>
            </a:r>
          </a:p>
        </p:txBody>
      </p:sp>
      <p:sp>
        <p:nvSpPr>
          <p:cNvPr id="9" name="TextBox 8"/>
          <p:cNvSpPr txBox="1"/>
          <p:nvPr/>
        </p:nvSpPr>
        <p:spPr>
          <a:xfrm>
            <a:off x="585216" y="1335024"/>
            <a:ext cx="2560320" cy="146304"/>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861" b="0" i="0">
                <a:solidFill>
                  <a:srgbClr val="64748B"/>
                </a:solidFill>
                <a:latin typeface="DM Sans Medium"/>
              </a:rPr>
              <a:t>GAZE PROPOSES A CANDIDATE ITEM</a:t>
            </a:r>
          </a:p>
        </p:txBody>
      </p:sp>
      <p:pic>
        <p:nvPicPr>
          <p:cNvPr id="10" name="Tile" descr="image.png"/>
          <p:cNvPicPr>
            <a:picLocks noChangeAspect="1"/>
          </p:cNvPicPr>
          <p:nvPr/>
        </p:nvPicPr>
        <p:blipFill>
          <a:blip r:embed="rId6"/>
          <a:stretch>
            <a:fillRect/>
          </a:stretch>
        </p:blipFill>
        <p:spPr>
          <a:xfrm>
            <a:off x="3355848" y="960120"/>
            <a:ext cx="2670048" cy="649224"/>
          </a:xfrm>
          <a:prstGeom prst="rect">
            <a:avLst/>
          </a:prstGeom>
        </p:spPr>
      </p:pic>
      <p:sp>
        <p:nvSpPr>
          <p:cNvPr id="11" name="TextBox 10"/>
          <p:cNvSpPr txBox="1"/>
          <p:nvPr/>
        </p:nvSpPr>
        <p:spPr>
          <a:xfrm>
            <a:off x="3410712" y="1078992"/>
            <a:ext cx="2560320" cy="228600"/>
          </a:xfrm>
          <a:prstGeom prst="rect">
            <a:avLst/>
          </a:prstGeom>
          <a:noFill/>
        </p:spPr>
        <p:txBody>
          <a:bodyPr wrap="square" lIns="0" tIns="0" rIns="0" bIns="0" anchor="t">
            <a:noAutofit/>
          </a:bodyPr>
          <a:lstStyle/>
          <a:p>
            <a:pPr marL="0" indent="0" algn="ctr">
              <a:lnSpc>
                <a:spcPct val="110000"/>
              </a:lnSpc>
              <a:spcBef>
                <a:spcPts val="0"/>
              </a:spcBef>
              <a:spcAft>
                <a:spcPts val="0"/>
              </a:spcAft>
              <a:buNone/>
            </a:pPr>
            <a:r>
              <a:rPr sz="1650" b="1" i="0">
                <a:solidFill>
                  <a:srgbClr val="0369A1"/>
                </a:solidFill>
                <a:latin typeface="Poppins"/>
              </a:rPr>
              <a:t>Confirm</a:t>
            </a:r>
          </a:p>
        </p:txBody>
      </p:sp>
      <p:sp>
        <p:nvSpPr>
          <p:cNvPr id="12" name="TextBox 11"/>
          <p:cNvSpPr txBox="1"/>
          <p:nvPr/>
        </p:nvSpPr>
        <p:spPr>
          <a:xfrm>
            <a:off x="3410712" y="1335024"/>
            <a:ext cx="2560320" cy="146304"/>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861" b="0" i="0">
                <a:solidFill>
                  <a:srgbClr val="64748B"/>
                </a:solidFill>
                <a:latin typeface="DM Sans Medium"/>
              </a:rPr>
              <a:t>A PHYSICAL CONTROL DECIDES</a:t>
            </a:r>
          </a:p>
        </p:txBody>
      </p:sp>
      <p:pic>
        <p:nvPicPr>
          <p:cNvPr id="13" name="Tile" descr="image.png"/>
          <p:cNvPicPr>
            <a:picLocks noChangeAspect="1"/>
          </p:cNvPicPr>
          <p:nvPr/>
        </p:nvPicPr>
        <p:blipFill>
          <a:blip r:embed="rId6"/>
          <a:stretch>
            <a:fillRect/>
          </a:stretch>
        </p:blipFill>
        <p:spPr>
          <a:xfrm>
            <a:off x="6172200" y="960120"/>
            <a:ext cx="2670048" cy="649224"/>
          </a:xfrm>
          <a:prstGeom prst="rect">
            <a:avLst/>
          </a:prstGeom>
        </p:spPr>
      </p:pic>
      <p:sp>
        <p:nvSpPr>
          <p:cNvPr id="14" name="TextBox 13"/>
          <p:cNvSpPr txBox="1"/>
          <p:nvPr/>
        </p:nvSpPr>
        <p:spPr>
          <a:xfrm>
            <a:off x="6227064" y="1078992"/>
            <a:ext cx="2560320" cy="228600"/>
          </a:xfrm>
          <a:prstGeom prst="rect">
            <a:avLst/>
          </a:prstGeom>
          <a:noFill/>
        </p:spPr>
        <p:txBody>
          <a:bodyPr wrap="square" lIns="0" tIns="0" rIns="0" bIns="0" anchor="t">
            <a:noAutofit/>
          </a:bodyPr>
          <a:lstStyle/>
          <a:p>
            <a:pPr marL="0" indent="0" algn="ctr">
              <a:lnSpc>
                <a:spcPct val="110000"/>
              </a:lnSpc>
              <a:spcBef>
                <a:spcPts val="0"/>
              </a:spcBef>
              <a:spcAft>
                <a:spcPts val="0"/>
              </a:spcAft>
              <a:buNone/>
            </a:pPr>
            <a:r>
              <a:rPr sz="1650" b="1" i="0">
                <a:solidFill>
                  <a:srgbClr val="0369A1"/>
                </a:solidFill>
                <a:latin typeface="Poppins"/>
              </a:rPr>
              <a:t>Follow</a:t>
            </a:r>
          </a:p>
        </p:txBody>
      </p:sp>
      <p:sp>
        <p:nvSpPr>
          <p:cNvPr id="15" name="TextBox 14"/>
          <p:cNvSpPr txBox="1"/>
          <p:nvPr/>
        </p:nvSpPr>
        <p:spPr>
          <a:xfrm>
            <a:off x="6227064" y="1335024"/>
            <a:ext cx="2560320" cy="146304"/>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861" b="0" i="0">
                <a:solidFill>
                  <a:srgbClr val="64748B"/>
                </a:solidFill>
                <a:latin typeface="DM Sans Medium"/>
              </a:rPr>
              <a:t>APPROVED SHORT INSTRUCTION</a:t>
            </a:r>
          </a:p>
        </p:txBody>
      </p:sp>
      <p:pic>
        <p:nvPicPr>
          <p:cNvPr id="16" name="Tile" descr="image.png"/>
          <p:cNvPicPr>
            <a:picLocks noChangeAspect="1"/>
          </p:cNvPicPr>
          <p:nvPr/>
        </p:nvPicPr>
        <p:blipFill>
          <a:blip r:embed="rId6"/>
          <a:stretch>
            <a:fillRect/>
          </a:stretch>
        </p:blipFill>
        <p:spPr>
          <a:xfrm>
            <a:off x="8988552" y="960120"/>
            <a:ext cx="2670048" cy="649224"/>
          </a:xfrm>
          <a:prstGeom prst="rect">
            <a:avLst/>
          </a:prstGeom>
        </p:spPr>
      </p:pic>
      <p:sp>
        <p:nvSpPr>
          <p:cNvPr id="17" name="TextBox 16"/>
          <p:cNvSpPr txBox="1"/>
          <p:nvPr/>
        </p:nvSpPr>
        <p:spPr>
          <a:xfrm>
            <a:off x="9043416" y="1078992"/>
            <a:ext cx="2560320" cy="228600"/>
          </a:xfrm>
          <a:prstGeom prst="rect">
            <a:avLst/>
          </a:prstGeom>
          <a:noFill/>
        </p:spPr>
        <p:txBody>
          <a:bodyPr wrap="square" lIns="0" tIns="0" rIns="0" bIns="0" anchor="t">
            <a:noAutofit/>
          </a:bodyPr>
          <a:lstStyle/>
          <a:p>
            <a:pPr marL="0" indent="0" algn="ctr">
              <a:lnSpc>
                <a:spcPct val="110000"/>
              </a:lnSpc>
              <a:spcBef>
                <a:spcPts val="0"/>
              </a:spcBef>
              <a:spcAft>
                <a:spcPts val="0"/>
              </a:spcAft>
              <a:buNone/>
            </a:pPr>
            <a:r>
              <a:rPr sz="1650" b="1" i="0">
                <a:solidFill>
                  <a:srgbClr val="0369A1"/>
                </a:solidFill>
                <a:latin typeface="Poppins"/>
              </a:rPr>
              <a:t>Replay</a:t>
            </a:r>
          </a:p>
        </p:txBody>
      </p:sp>
      <p:sp>
        <p:nvSpPr>
          <p:cNvPr id="18" name="TextBox 17"/>
          <p:cNvSpPr txBox="1"/>
          <p:nvPr/>
        </p:nvSpPr>
        <p:spPr>
          <a:xfrm>
            <a:off x="9043416" y="1335024"/>
            <a:ext cx="2560320" cy="146304"/>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861" b="0" i="0">
                <a:solidFill>
                  <a:srgbClr val="64748B"/>
                </a:solidFill>
                <a:latin typeface="DM Sans Medium"/>
              </a:rPr>
              <a:t>LINKED EVENT WITH AN INSTRUCTOR</a:t>
            </a:r>
          </a:p>
        </p:txBody>
      </p:sp>
      <p:sp>
        <p:nvSpPr>
          <p:cNvPr id="19" name="Card (green)"/>
          <p:cNvSpPr/>
          <p:nvPr/>
        </p:nvSpPr>
        <p:spPr>
          <a:xfrm>
            <a:off x="530352" y="1737360"/>
            <a:ext cx="5431536" cy="3803904"/>
          </a:xfrm>
          <a:prstGeom prst="roundRect">
            <a:avLst>
              <a:gd name="adj" fmla="val 1923"/>
            </a:avLst>
          </a:prstGeom>
          <a:solidFill>
            <a:srgbClr val="F0FDF4"/>
          </a:solidFill>
          <a:ln w="9525">
            <a:solidFill>
              <a:srgbClr val="BBF7D0"/>
            </a:solidFill>
          </a:ln>
        </p:spPr>
        <p:txBody>
          <a:bodyPr rtlCol="0" anchor="ctr"/>
          <a:lstStyle/>
          <a:p>
            <a:pPr algn="ctr"/>
            <a:endParaRPr/>
          </a:p>
        </p:txBody>
      </p:sp>
      <p:pic>
        <p:nvPicPr>
          <p:cNvPr id="20" name="Icon" descr="image.png"/>
          <p:cNvPicPr>
            <a:picLocks noChangeAspect="1"/>
          </p:cNvPicPr>
          <p:nvPr/>
        </p:nvPicPr>
        <p:blipFill>
          <a:blip r:embed="rId7"/>
          <a:stretch>
            <a:fillRect/>
          </a:stretch>
        </p:blipFill>
        <p:spPr>
          <a:xfrm>
            <a:off x="749808" y="1956816"/>
            <a:ext cx="155448" cy="155448"/>
          </a:xfrm>
          <a:prstGeom prst="rect">
            <a:avLst/>
          </a:prstGeom>
        </p:spPr>
      </p:pic>
      <p:sp>
        <p:nvSpPr>
          <p:cNvPr id="21" name="Card header"/>
          <p:cNvSpPr txBox="1"/>
          <p:nvPr/>
        </p:nvSpPr>
        <p:spPr>
          <a:xfrm>
            <a:off x="1005840" y="1938528"/>
            <a:ext cx="4572000" cy="192024"/>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25" b="1" i="0">
                <a:solidFill>
                  <a:srgbClr val="0F172A"/>
                </a:solidFill>
                <a:latin typeface="DM Sans"/>
              </a:rPr>
              <a:t>One responder-training record</a:t>
            </a:r>
          </a:p>
        </p:txBody>
      </p:sp>
      <p:sp>
        <p:nvSpPr>
          <p:cNvPr id="22" name="Overview text"/>
          <p:cNvSpPr txBox="1"/>
          <p:nvPr/>
        </p:nvSpPr>
        <p:spPr>
          <a:xfrm>
            <a:off x="941832" y="2267712"/>
            <a:ext cx="4800600" cy="3108960"/>
          </a:xfrm>
          <a:prstGeom prst="rect">
            <a:avLst/>
          </a:prstGeom>
          <a:noFill/>
        </p:spPr>
        <p:txBody>
          <a:bodyPr wrap="square" lIns="0" tIns="0" rIns="0" bIns="0" anchor="t">
            <a:noAutofit/>
          </a:bodyPr>
          <a:lstStyle/>
          <a:p>
            <a:pPr marL="173736" indent="-173736" algn="l">
              <a:lnSpc>
                <a:spcPct val="145000"/>
              </a:lnSpc>
              <a:spcBef>
                <a:spcPts val="0"/>
              </a:spcBef>
              <a:spcAft>
                <a:spcPts val="500"/>
              </a:spcAft>
              <a:buClr>
                <a:srgbClr val="059669"/>
              </a:buClr>
              <a:buFont typeface="DM Sans"/>
              <a:buChar char="▪"/>
            </a:pPr>
            <a:r>
              <a:rPr sz="1011" b="1" i="0">
                <a:solidFill>
                  <a:srgbClr val="334155"/>
                </a:solidFill>
                <a:latin typeface="DM Sans"/>
              </a:rPr>
              <a:t>Core idea: </a:t>
            </a:r>
            <a:r>
              <a:rPr sz="1011" b="0" i="0">
                <a:solidFill>
                  <a:srgbClr val="334155"/>
                </a:solidFill>
                <a:latin typeface="DM Sans"/>
              </a:rPr>
              <a:t>The item, its approved check and the moment it happened, connected in one responder-training record.</a:t>
            </a:r>
          </a:p>
          <a:p>
            <a:pPr marL="173736" indent="-173736" algn="l">
              <a:lnSpc>
                <a:spcPct val="145000"/>
              </a:lnSpc>
              <a:spcBef>
                <a:spcPts val="0"/>
              </a:spcBef>
              <a:spcAft>
                <a:spcPts val="500"/>
              </a:spcAft>
              <a:buClr>
                <a:srgbClr val="059669"/>
              </a:buClr>
              <a:buFont typeface="DM Sans"/>
              <a:buChar char="▪"/>
            </a:pPr>
            <a:r>
              <a:rPr sz="1011" b="1" i="0">
                <a:solidFill>
                  <a:srgbClr val="334155"/>
                </a:solidFill>
                <a:latin typeface="DM Sans"/>
              </a:rPr>
              <a:t>Interaction: </a:t>
            </a:r>
            <a:r>
              <a:rPr sz="1011" b="0" i="0">
                <a:solidFill>
                  <a:srgbClr val="334155"/>
                </a:solidFill>
                <a:latin typeface="DM Sans"/>
              </a:rPr>
              <a:t>Look at a relief-kit item. Inspect its highlight. Confirm it with a physical control. Follow the approved instruction. Replay the confirmed event with an instructor.</a:t>
            </a:r>
          </a:p>
          <a:p>
            <a:pPr marL="173736" indent="-173736" algn="l">
              <a:lnSpc>
                <a:spcPct val="145000"/>
              </a:lnSpc>
              <a:spcBef>
                <a:spcPts val="0"/>
              </a:spcBef>
              <a:spcAft>
                <a:spcPts val="500"/>
              </a:spcAft>
              <a:buClr>
                <a:srgbClr val="059669"/>
              </a:buClr>
              <a:buFont typeface="DM Sans"/>
              <a:buChar char="▪"/>
            </a:pPr>
            <a:r>
              <a:rPr sz="1011" b="1" i="0">
                <a:solidFill>
                  <a:srgbClr val="334155"/>
                </a:solidFill>
                <a:latin typeface="DM Sans"/>
              </a:rPr>
              <a:t>Theme: </a:t>
            </a:r>
            <a:r>
              <a:rPr sz="1011" b="0" i="0">
                <a:solidFill>
                  <a:srgbClr val="334155"/>
                </a:solidFill>
                <a:latin typeface="DM Sans"/>
              </a:rPr>
              <a:t>HCI 2.0: Designing Interaction Beyond Chat. Positioning: Spatial Computing and Intent-Driven Physical Interfaces, with tangible, haptic and multimodal interaction.</a:t>
            </a:r>
          </a:p>
          <a:p>
            <a:pPr marL="173736" indent="-173736" algn="l">
              <a:lnSpc>
                <a:spcPct val="145000"/>
              </a:lnSpc>
              <a:spcBef>
                <a:spcPts val="0"/>
              </a:spcBef>
              <a:spcAft>
                <a:spcPts val="500"/>
              </a:spcAft>
              <a:buClr>
                <a:srgbClr val="059669"/>
              </a:buClr>
              <a:buFont typeface="DM Sans"/>
              <a:buChar char="▪"/>
            </a:pPr>
            <a:r>
              <a:rPr sz="1011" b="1" i="0">
                <a:solidFill>
                  <a:srgbClr val="334155"/>
                </a:solidFill>
                <a:latin typeface="DM Sans"/>
              </a:rPr>
              <a:t>First use case: </a:t>
            </a:r>
            <a:r>
              <a:rPr sz="1011" b="0" i="0">
                <a:solidFill>
                  <a:srgbClr val="334155"/>
                </a:solidFill>
                <a:latin typeface="DM Sans"/>
              </a:rPr>
              <a:t>A supervised relief/response-kit preparation and handover exercise.</a:t>
            </a:r>
          </a:p>
          <a:p>
            <a:pPr marL="173736" indent="-173736" algn="l">
              <a:lnSpc>
                <a:spcPct val="145000"/>
              </a:lnSpc>
              <a:spcBef>
                <a:spcPts val="0"/>
              </a:spcBef>
              <a:spcAft>
                <a:spcPts val="500"/>
              </a:spcAft>
              <a:buClr>
                <a:srgbClr val="059669"/>
              </a:buClr>
              <a:buFont typeface="DM Sans"/>
              <a:buChar char="▪"/>
            </a:pPr>
            <a:r>
              <a:rPr sz="1011" b="1" i="0">
                <a:solidFill>
                  <a:srgbClr val="334155"/>
                </a:solidFill>
                <a:latin typeface="DM Sans"/>
              </a:rPr>
              <a:t>Value to test: </a:t>
            </a:r>
            <a:r>
              <a:rPr sz="1011" b="0" i="0">
                <a:solidFill>
                  <a:srgbClr val="334155"/>
                </a:solidFill>
                <a:latin typeface="DM Sans"/>
              </a:rPr>
              <a:t>Fewer wrong-item or omitted checks and faster, more precise debriefing, without added distraction or task time. Field use needs separate safety, privacy, environmental and operational validation.</a:t>
            </a:r>
          </a:p>
        </p:txBody>
      </p:sp>
      <p:pic>
        <p:nvPicPr>
          <p:cNvPr id="23" name="Product concept (AI-generated)" descr="AI-generated illustrative concept of training glasses with scene camera, eye sensor, small display, temple controls and a cable to a pocket compute unit"/>
          <p:cNvPicPr>
            <a:picLocks noChangeAspect="1"/>
          </p:cNvPicPr>
          <p:nvPr/>
        </p:nvPicPr>
        <p:blipFill>
          <a:blip r:embed="rId8"/>
          <a:stretch>
            <a:fillRect/>
          </a:stretch>
        </p:blipFill>
        <p:spPr>
          <a:xfrm>
            <a:off x="6227064" y="1737360"/>
            <a:ext cx="5431536" cy="3054096"/>
          </a:xfrm>
          <a:prstGeom prst="roundRect">
            <a:avLst>
              <a:gd name="adj" fmla="val 2095"/>
            </a:avLst>
          </a:prstGeom>
          <a:ln w="9525">
            <a:solidFill>
              <a:srgbClr val="CBD5E1"/>
            </a:solidFill>
          </a:ln>
        </p:spPr>
      </p:pic>
      <p:sp>
        <p:nvSpPr>
          <p:cNvPr id="24" name="Caption"/>
          <p:cNvSpPr txBox="1"/>
          <p:nvPr/>
        </p:nvSpPr>
        <p:spPr>
          <a:xfrm>
            <a:off x="6227064" y="4837176"/>
            <a:ext cx="5431536" cy="155448"/>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lang="en-US" sz="861" b="0" i="1" dirty="0">
                <a:solidFill>
                  <a:srgbClr val="64748B"/>
                </a:solidFill>
                <a:latin typeface="DM Sans"/>
              </a:rPr>
              <a:t>AI Generated </a:t>
            </a:r>
            <a:r>
              <a:rPr sz="861" b="0" i="1" dirty="0">
                <a:solidFill>
                  <a:srgbClr val="64748B"/>
                </a:solidFill>
                <a:latin typeface="DM Sans"/>
              </a:rPr>
              <a:t>Illustrative product concept; no fabricated glasses are claimed.</a:t>
            </a:r>
          </a:p>
        </p:txBody>
      </p:sp>
      <p:sp>
        <p:nvSpPr>
          <p:cNvPr id="25" name="Card (gray)"/>
          <p:cNvSpPr/>
          <p:nvPr/>
        </p:nvSpPr>
        <p:spPr>
          <a:xfrm>
            <a:off x="6227064" y="5102352"/>
            <a:ext cx="5431536" cy="438912"/>
          </a:xfrm>
          <a:prstGeom prst="roundRect">
            <a:avLst>
              <a:gd name="adj" fmla="val 16666"/>
            </a:avLst>
          </a:prstGeom>
          <a:solidFill>
            <a:srgbClr val="F8FAFC"/>
          </a:solidFill>
          <a:ln w="9525">
            <a:solidFill>
              <a:srgbClr val="E2E8F0"/>
            </a:solidFill>
          </a:ln>
        </p:spPr>
        <p:txBody>
          <a:bodyPr rtlCol="0" anchor="ctr"/>
          <a:lstStyle/>
          <a:p>
            <a:pPr algn="ctr"/>
            <a:endParaRPr/>
          </a:p>
        </p:txBody>
      </p:sp>
      <p:sp>
        <p:nvSpPr>
          <p:cNvPr id="26" name="TextBox 25"/>
          <p:cNvSpPr txBox="1"/>
          <p:nvPr/>
        </p:nvSpPr>
        <p:spPr>
          <a:xfrm>
            <a:off x="6400800" y="5102352"/>
            <a:ext cx="5120640" cy="438912"/>
          </a:xfrm>
          <a:prstGeom prst="rect">
            <a:avLst/>
          </a:prstGeom>
          <a:noFill/>
        </p:spPr>
        <p:txBody>
          <a:bodyPr wrap="square" lIns="0" tIns="0" rIns="0" bIns="0" anchor="ctr">
            <a:noAutofit/>
          </a:bodyPr>
          <a:lstStyle/>
          <a:p>
            <a:pPr marL="0" indent="0" algn="l">
              <a:lnSpc>
                <a:spcPct val="130000"/>
              </a:lnSpc>
              <a:spcBef>
                <a:spcPts val="0"/>
              </a:spcBef>
              <a:spcAft>
                <a:spcPts val="0"/>
              </a:spcAft>
              <a:buNone/>
            </a:pPr>
            <a:r>
              <a:rPr sz="936" b="1" i="0">
                <a:solidFill>
                  <a:srgbClr val="334155"/>
                </a:solidFill>
                <a:latin typeface="DM Sans"/>
              </a:rPr>
              <a:t>Design Development Stage. </a:t>
            </a:r>
            <a:r>
              <a:rPr sz="936" b="0" i="0">
                <a:solidFill>
                  <a:srgbClr val="334155"/>
                </a:solidFill>
                <a:latin typeface="DM Sans"/>
              </a:rPr>
              <a:t>No built glasses, field data, pilot results or partner access are claimed.</a:t>
            </a:r>
          </a:p>
        </p:txBody>
      </p:sp>
      <p:pic>
        <p:nvPicPr>
          <p:cNvPr id="27" name="Note bar" descr="image.png"/>
          <p:cNvPicPr>
            <a:picLocks noChangeAspect="1"/>
          </p:cNvPicPr>
          <p:nvPr/>
        </p:nvPicPr>
        <p:blipFill>
          <a:blip r:embed="rId9"/>
          <a:stretch>
            <a:fillRect/>
          </a:stretch>
        </p:blipFill>
        <p:spPr>
          <a:xfrm>
            <a:off x="530352" y="5715000"/>
            <a:ext cx="11128248" cy="365760"/>
          </a:xfrm>
          <a:prstGeom prst="rect">
            <a:avLst/>
          </a:prstGeom>
        </p:spPr>
      </p:pic>
      <p:sp>
        <p:nvSpPr>
          <p:cNvPr id="28" name="Note text"/>
          <p:cNvSpPr txBox="1"/>
          <p:nvPr/>
        </p:nvSpPr>
        <p:spPr>
          <a:xfrm>
            <a:off x="722376" y="5797296"/>
            <a:ext cx="10789920" cy="274320"/>
          </a:xfrm>
          <a:prstGeom prst="rect">
            <a:avLst/>
          </a:prstGeom>
          <a:noFill/>
        </p:spPr>
        <p:txBody>
          <a:bodyPr wrap="square" lIns="0" tIns="0" rIns="0" bIns="0" anchor="t">
            <a:noAutofit/>
          </a:bodyPr>
          <a:lstStyle/>
          <a:p>
            <a:pPr marL="0" indent="0" algn="l">
              <a:lnSpc>
                <a:spcPct val="145000"/>
              </a:lnSpc>
              <a:spcBef>
                <a:spcPts val="0"/>
              </a:spcBef>
              <a:spcAft>
                <a:spcPts val="0"/>
              </a:spcAft>
              <a:buNone/>
            </a:pPr>
            <a:r>
              <a:rPr sz="936" b="1" i="0">
                <a:solidFill>
                  <a:srgbClr val="0F172A"/>
                </a:solidFill>
                <a:latin typeface="DM Sans"/>
              </a:rPr>
              <a:t>VK26-AU-HCI-0032</a:t>
            </a:r>
            <a:r>
              <a:rPr sz="936" b="0" i="0">
                <a:solidFill>
                  <a:srgbClr val="334155"/>
                </a:solidFill>
                <a:latin typeface="DM Sans"/>
              </a:rPr>
              <a:t>  ·  HCI 2.0  ·  Design Development Stage.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3"/>
          <a:stretch>
            <a:fillRect/>
          </a:stretch>
        </p:blipFill>
        <p:spPr>
          <a:xfrm>
            <a:off x="305" y="237744"/>
            <a:ext cx="12191695" cy="6858000"/>
          </a:xfrm>
          <a:prstGeom prst="rect">
            <a:avLst/>
          </a:prstGeom>
        </p:spPr>
      </p:pic>
      <p:pic>
        <p:nvPicPr>
          <p:cNvPr id="3" name="Logo Vishwakarma" descr="image.png"/>
          <p:cNvPicPr>
            <a:picLocks noChangeAspect="1"/>
          </p:cNvPicPr>
          <p:nvPr/>
        </p:nvPicPr>
        <p:blipFill>
          <a:blip r:embed="rId4"/>
          <a:srcRect l="14673" t="33074" r="15820" b="44466"/>
          <a:stretch>
            <a:fillRect/>
          </a:stretch>
        </p:blipFill>
        <p:spPr>
          <a:xfrm>
            <a:off x="0" y="6281928"/>
            <a:ext cx="1783080" cy="576072"/>
          </a:xfrm>
          <a:prstGeom prst="rect">
            <a:avLst/>
          </a:prstGeom>
        </p:spPr>
      </p:pic>
      <p:pic>
        <p:nvPicPr>
          <p:cNvPr id="4" name="Logo Maker Bhavan" descr="image.png"/>
          <p:cNvPicPr>
            <a:picLocks noChangeAspect="1"/>
          </p:cNvPicPr>
          <p:nvPr/>
        </p:nvPicPr>
        <p:blipFill>
          <a:blip r:embed="rId5"/>
          <a:stretch>
            <a:fillRect/>
          </a:stretch>
        </p:blipFill>
        <p:spPr>
          <a:xfrm>
            <a:off x="11091672" y="6281928"/>
            <a:ext cx="1097280" cy="576072"/>
          </a:xfrm>
          <a:prstGeom prst="rect">
            <a:avLst/>
          </a:prstGeom>
        </p:spPr>
      </p:pic>
      <p:sp>
        <p:nvSpPr>
          <p:cNvPr id="5" name="Title"/>
          <p:cNvSpPr txBox="1"/>
          <p:nvPr/>
        </p:nvSpPr>
        <p:spPr>
          <a:xfrm>
            <a:off x="530352" y="438912"/>
            <a:ext cx="11128248" cy="310896"/>
          </a:xfrm>
          <a:prstGeom prst="rect">
            <a:avLst/>
          </a:prstGeom>
          <a:noFill/>
        </p:spPr>
        <p:txBody>
          <a:bodyPr wrap="square" lIns="0" tIns="0" rIns="0" bIns="0" anchor="ctr">
            <a:noAutofit/>
          </a:bodyPr>
          <a:lstStyle/>
          <a:p>
            <a:pPr marL="0" indent="0" algn="l">
              <a:lnSpc>
                <a:spcPct val="120000"/>
              </a:lnSpc>
              <a:spcBef>
                <a:spcPts val="0"/>
              </a:spcBef>
              <a:spcAft>
                <a:spcPts val="0"/>
              </a:spcAft>
              <a:buNone/>
            </a:pPr>
            <a:r>
              <a:rPr sz="2025" b="1" i="0">
                <a:solidFill>
                  <a:srgbClr val="0F172A"/>
                </a:solidFill>
                <a:latin typeface="Poppins SemiBold"/>
              </a:rPr>
              <a:t>Problem Context: A Real Training Task With a Missing Thread</a:t>
            </a:r>
          </a:p>
        </p:txBody>
      </p:sp>
      <p:sp>
        <p:nvSpPr>
          <p:cNvPr id="6" name="Footer"/>
          <p:cNvSpPr txBox="1"/>
          <p:nvPr/>
        </p:nvSpPr>
        <p:spPr>
          <a:xfrm>
            <a:off x="3840480" y="6455664"/>
            <a:ext cx="4507992" cy="164592"/>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861" b="0" i="0">
                <a:solidFill>
                  <a:srgbClr val="64748B"/>
                </a:solidFill>
                <a:latin typeface="DM Sans"/>
              </a:rPr>
              <a:t>VK26-AU-HCI-0032  ·  HCI 2.0  ·  3 / 16</a:t>
            </a:r>
          </a:p>
        </p:txBody>
      </p:sp>
      <p:pic>
        <p:nvPicPr>
          <p:cNvPr id="7" name="Tile" descr="image.png"/>
          <p:cNvPicPr>
            <a:picLocks noChangeAspect="1"/>
          </p:cNvPicPr>
          <p:nvPr/>
        </p:nvPicPr>
        <p:blipFill>
          <a:blip r:embed="rId6"/>
          <a:stretch>
            <a:fillRect/>
          </a:stretch>
        </p:blipFill>
        <p:spPr>
          <a:xfrm>
            <a:off x="530352" y="960120"/>
            <a:ext cx="2670048" cy="649224"/>
          </a:xfrm>
          <a:prstGeom prst="rect">
            <a:avLst/>
          </a:prstGeom>
        </p:spPr>
      </p:pic>
      <p:sp>
        <p:nvSpPr>
          <p:cNvPr id="8" name="TextBox 7"/>
          <p:cNvSpPr txBox="1"/>
          <p:nvPr/>
        </p:nvSpPr>
        <p:spPr>
          <a:xfrm>
            <a:off x="585216" y="1078992"/>
            <a:ext cx="2560320" cy="228600"/>
          </a:xfrm>
          <a:prstGeom prst="rect">
            <a:avLst/>
          </a:prstGeom>
          <a:noFill/>
        </p:spPr>
        <p:txBody>
          <a:bodyPr wrap="square" lIns="0" tIns="0" rIns="0" bIns="0" anchor="t">
            <a:noAutofit/>
          </a:bodyPr>
          <a:lstStyle/>
          <a:p>
            <a:pPr marL="0" indent="0" algn="ctr">
              <a:lnSpc>
                <a:spcPct val="110000"/>
              </a:lnSpc>
              <a:spcBef>
                <a:spcPts val="0"/>
              </a:spcBef>
              <a:spcAft>
                <a:spcPts val="0"/>
              </a:spcAft>
              <a:buNone/>
            </a:pPr>
            <a:r>
              <a:rPr sz="1650" b="1" i="0">
                <a:solidFill>
                  <a:srgbClr val="0369A1"/>
                </a:solidFill>
                <a:latin typeface="Poppins"/>
              </a:rPr>
              <a:t>691</a:t>
            </a:r>
          </a:p>
        </p:txBody>
      </p:sp>
      <p:sp>
        <p:nvSpPr>
          <p:cNvPr id="9" name="TextBox 8"/>
          <p:cNvSpPr txBox="1"/>
          <p:nvPr/>
        </p:nvSpPr>
        <p:spPr>
          <a:xfrm>
            <a:off x="585216" y="1335024"/>
            <a:ext cx="2560320" cy="146304"/>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861" b="0" i="0">
                <a:solidFill>
                  <a:srgbClr val="64748B"/>
                </a:solidFill>
                <a:latin typeface="DM Sans Medium"/>
              </a:rPr>
              <a:t>NDRF MOCK EXERCISES, 2024 [S1]</a:t>
            </a:r>
          </a:p>
        </p:txBody>
      </p:sp>
      <p:pic>
        <p:nvPicPr>
          <p:cNvPr id="10" name="Tile" descr="image.png"/>
          <p:cNvPicPr>
            <a:picLocks noChangeAspect="1"/>
          </p:cNvPicPr>
          <p:nvPr/>
        </p:nvPicPr>
        <p:blipFill>
          <a:blip r:embed="rId6"/>
          <a:stretch>
            <a:fillRect/>
          </a:stretch>
        </p:blipFill>
        <p:spPr>
          <a:xfrm>
            <a:off x="3355848" y="960120"/>
            <a:ext cx="2670048" cy="649224"/>
          </a:xfrm>
          <a:prstGeom prst="rect">
            <a:avLst/>
          </a:prstGeom>
        </p:spPr>
      </p:pic>
      <p:sp>
        <p:nvSpPr>
          <p:cNvPr id="11" name="TextBox 10"/>
          <p:cNvSpPr txBox="1"/>
          <p:nvPr/>
        </p:nvSpPr>
        <p:spPr>
          <a:xfrm>
            <a:off x="3410712" y="1078992"/>
            <a:ext cx="2560320" cy="228600"/>
          </a:xfrm>
          <a:prstGeom prst="rect">
            <a:avLst/>
          </a:prstGeom>
          <a:noFill/>
        </p:spPr>
        <p:txBody>
          <a:bodyPr wrap="square" lIns="0" tIns="0" rIns="0" bIns="0" anchor="t">
            <a:noAutofit/>
          </a:bodyPr>
          <a:lstStyle/>
          <a:p>
            <a:pPr marL="0" indent="0" algn="ctr">
              <a:lnSpc>
                <a:spcPct val="110000"/>
              </a:lnSpc>
              <a:spcBef>
                <a:spcPts val="0"/>
              </a:spcBef>
              <a:spcAft>
                <a:spcPts val="0"/>
              </a:spcAft>
              <a:buNone/>
            </a:pPr>
            <a:r>
              <a:rPr sz="1650" b="1" i="0">
                <a:solidFill>
                  <a:srgbClr val="0369A1"/>
                </a:solidFill>
                <a:latin typeface="Poppins"/>
              </a:rPr>
              <a:t>4 of 17</a:t>
            </a:r>
          </a:p>
        </p:txBody>
      </p:sp>
      <p:sp>
        <p:nvSpPr>
          <p:cNvPr id="12" name="TextBox 11"/>
          <p:cNvSpPr txBox="1"/>
          <p:nvPr/>
        </p:nvSpPr>
        <p:spPr>
          <a:xfrm>
            <a:off x="3410712" y="1335024"/>
            <a:ext cx="2560320" cy="146304"/>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861" b="0" i="0">
                <a:solidFill>
                  <a:srgbClr val="64748B"/>
                </a:solidFill>
                <a:latin typeface="DM Sans Medium"/>
              </a:rPr>
              <a:t>WHO: UNFAMILIAR PROCEDURES [S3]</a:t>
            </a:r>
          </a:p>
        </p:txBody>
      </p:sp>
      <p:pic>
        <p:nvPicPr>
          <p:cNvPr id="13" name="Tile" descr="image.png"/>
          <p:cNvPicPr>
            <a:picLocks noChangeAspect="1"/>
          </p:cNvPicPr>
          <p:nvPr/>
        </p:nvPicPr>
        <p:blipFill>
          <a:blip r:embed="rId6"/>
          <a:stretch>
            <a:fillRect/>
          </a:stretch>
        </p:blipFill>
        <p:spPr>
          <a:xfrm>
            <a:off x="6172200" y="960120"/>
            <a:ext cx="2670048" cy="649224"/>
          </a:xfrm>
          <a:prstGeom prst="rect">
            <a:avLst/>
          </a:prstGeom>
        </p:spPr>
      </p:pic>
      <p:sp>
        <p:nvSpPr>
          <p:cNvPr id="14" name="TextBox 13"/>
          <p:cNvSpPr txBox="1"/>
          <p:nvPr/>
        </p:nvSpPr>
        <p:spPr>
          <a:xfrm>
            <a:off x="6227064" y="1078992"/>
            <a:ext cx="2560320" cy="228600"/>
          </a:xfrm>
          <a:prstGeom prst="rect">
            <a:avLst/>
          </a:prstGeom>
          <a:noFill/>
        </p:spPr>
        <p:txBody>
          <a:bodyPr wrap="square" lIns="0" tIns="0" rIns="0" bIns="0" anchor="t">
            <a:noAutofit/>
          </a:bodyPr>
          <a:lstStyle/>
          <a:p>
            <a:pPr marL="0" indent="0" algn="ctr">
              <a:lnSpc>
                <a:spcPct val="110000"/>
              </a:lnSpc>
              <a:spcBef>
                <a:spcPts val="0"/>
              </a:spcBef>
              <a:spcAft>
                <a:spcPts val="0"/>
              </a:spcAft>
              <a:buNone/>
            </a:pPr>
            <a:r>
              <a:rPr sz="1650" b="1" i="0">
                <a:solidFill>
                  <a:srgbClr val="0369A1"/>
                </a:solidFill>
                <a:latin typeface="Poppins"/>
              </a:rPr>
              <a:t>4 of 17</a:t>
            </a:r>
          </a:p>
        </p:txBody>
      </p:sp>
      <p:sp>
        <p:nvSpPr>
          <p:cNvPr id="15" name="TextBox 14"/>
          <p:cNvSpPr txBox="1"/>
          <p:nvPr/>
        </p:nvSpPr>
        <p:spPr>
          <a:xfrm>
            <a:off x="6227064" y="1335024"/>
            <a:ext cx="2560320" cy="146304"/>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861" b="0" i="0">
                <a:solidFill>
                  <a:srgbClr val="64748B"/>
                </a:solidFill>
                <a:latin typeface="DM Sans Medium"/>
              </a:rPr>
              <a:t>WHO: COORDINATION DIFFICULTY [S3]</a:t>
            </a:r>
          </a:p>
        </p:txBody>
      </p:sp>
      <p:pic>
        <p:nvPicPr>
          <p:cNvPr id="16" name="Tile" descr="image.png"/>
          <p:cNvPicPr>
            <a:picLocks noChangeAspect="1"/>
          </p:cNvPicPr>
          <p:nvPr/>
        </p:nvPicPr>
        <p:blipFill>
          <a:blip r:embed="rId6"/>
          <a:stretch>
            <a:fillRect/>
          </a:stretch>
        </p:blipFill>
        <p:spPr>
          <a:xfrm>
            <a:off x="8988552" y="960120"/>
            <a:ext cx="2670048" cy="649224"/>
          </a:xfrm>
          <a:prstGeom prst="rect">
            <a:avLst/>
          </a:prstGeom>
        </p:spPr>
      </p:pic>
      <p:sp>
        <p:nvSpPr>
          <p:cNvPr id="17" name="TextBox 16"/>
          <p:cNvSpPr txBox="1"/>
          <p:nvPr/>
        </p:nvSpPr>
        <p:spPr>
          <a:xfrm>
            <a:off x="9043416" y="1078992"/>
            <a:ext cx="2560320" cy="228600"/>
          </a:xfrm>
          <a:prstGeom prst="rect">
            <a:avLst/>
          </a:prstGeom>
          <a:noFill/>
        </p:spPr>
        <p:txBody>
          <a:bodyPr wrap="square" lIns="0" tIns="0" rIns="0" bIns="0" anchor="t">
            <a:noAutofit/>
          </a:bodyPr>
          <a:lstStyle/>
          <a:p>
            <a:pPr marL="0" indent="0" algn="ctr">
              <a:lnSpc>
                <a:spcPct val="110000"/>
              </a:lnSpc>
              <a:spcBef>
                <a:spcPts val="0"/>
              </a:spcBef>
              <a:spcAft>
                <a:spcPts val="0"/>
              </a:spcAft>
              <a:buNone/>
            </a:pPr>
            <a:r>
              <a:rPr sz="1650" b="1" i="0">
                <a:solidFill>
                  <a:srgbClr val="0369A1"/>
                </a:solidFill>
                <a:latin typeface="Poppins"/>
              </a:rPr>
              <a:t>Not measured</a:t>
            </a:r>
          </a:p>
        </p:txBody>
      </p:sp>
      <p:sp>
        <p:nvSpPr>
          <p:cNvPr id="18" name="TextBox 17"/>
          <p:cNvSpPr txBox="1"/>
          <p:nvPr/>
        </p:nvSpPr>
        <p:spPr>
          <a:xfrm>
            <a:off x="9043416" y="1335024"/>
            <a:ext cx="2560320" cy="146304"/>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861" b="0" i="0">
                <a:solidFill>
                  <a:srgbClr val="64748B"/>
                </a:solidFill>
                <a:latin typeface="DM Sans Medium"/>
              </a:rPr>
              <a:t>GIG-SPECIFIC ERROR RATE</a:t>
            </a:r>
          </a:p>
        </p:txBody>
      </p:sp>
      <p:pic>
        <p:nvPicPr>
          <p:cNvPr id="19" name="Training scenario (AI-generated)" descr="AI-generated illustration of a trainee wearing subtle smart glasses preparing an open relief kit while an instructor observes"/>
          <p:cNvPicPr>
            <a:picLocks noChangeAspect="1"/>
          </p:cNvPicPr>
          <p:nvPr/>
        </p:nvPicPr>
        <p:blipFill>
          <a:blip r:embed="rId7"/>
          <a:srcRect t="4250" b="16150"/>
          <a:stretch>
            <a:fillRect/>
          </a:stretch>
        </p:blipFill>
        <p:spPr>
          <a:xfrm>
            <a:off x="530352" y="1737360"/>
            <a:ext cx="5431536" cy="2432304"/>
          </a:xfrm>
          <a:prstGeom prst="roundRect">
            <a:avLst>
              <a:gd name="adj" fmla="val 2631"/>
            </a:avLst>
          </a:prstGeom>
          <a:ln w="9525">
            <a:solidFill>
              <a:srgbClr val="CBD5E1"/>
            </a:solidFill>
          </a:ln>
        </p:spPr>
      </p:pic>
      <p:sp>
        <p:nvSpPr>
          <p:cNvPr id="20" name="Caption"/>
          <p:cNvSpPr txBox="1"/>
          <p:nvPr/>
        </p:nvSpPr>
        <p:spPr>
          <a:xfrm>
            <a:off x="530352" y="4215384"/>
            <a:ext cx="5431536" cy="155448"/>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lang="en-US" sz="861" b="0" i="1" dirty="0">
                <a:solidFill>
                  <a:srgbClr val="64748B"/>
                </a:solidFill>
                <a:latin typeface="DM Sans"/>
              </a:rPr>
              <a:t>AI Generated </a:t>
            </a:r>
            <a:r>
              <a:rPr sz="861" b="0" i="1" dirty="0">
                <a:solidFill>
                  <a:srgbClr val="64748B"/>
                </a:solidFill>
                <a:latin typeface="DM Sans"/>
              </a:rPr>
              <a:t>Illustrative supervised training scenario; not an NDRF photograph.</a:t>
            </a:r>
          </a:p>
        </p:txBody>
      </p:sp>
      <p:sp>
        <p:nvSpPr>
          <p:cNvPr id="21" name="Card (gray)"/>
          <p:cNvSpPr/>
          <p:nvPr/>
        </p:nvSpPr>
        <p:spPr>
          <a:xfrm>
            <a:off x="530352" y="4498848"/>
            <a:ext cx="5431536" cy="1042416"/>
          </a:xfrm>
          <a:prstGeom prst="roundRect">
            <a:avLst>
              <a:gd name="adj" fmla="val 7017"/>
            </a:avLst>
          </a:prstGeom>
          <a:solidFill>
            <a:srgbClr val="F8FAFC"/>
          </a:solidFill>
          <a:ln w="9525">
            <a:solidFill>
              <a:srgbClr val="E2E8F0"/>
            </a:solidFill>
          </a:ln>
        </p:spPr>
        <p:txBody>
          <a:bodyPr rtlCol="0" anchor="ctr"/>
          <a:lstStyle/>
          <a:p>
            <a:pPr algn="ctr"/>
            <a:endParaRPr/>
          </a:p>
        </p:txBody>
      </p:sp>
      <p:sp>
        <p:nvSpPr>
          <p:cNvPr id="22" name="TextBox 21"/>
          <p:cNvSpPr txBox="1"/>
          <p:nvPr/>
        </p:nvSpPr>
        <p:spPr>
          <a:xfrm>
            <a:off x="713232" y="4590288"/>
            <a:ext cx="5074920" cy="896112"/>
          </a:xfrm>
          <a:prstGeom prst="rect">
            <a:avLst/>
          </a:prstGeom>
          <a:noFill/>
        </p:spPr>
        <p:txBody>
          <a:bodyPr wrap="square" lIns="0" tIns="0" rIns="0" bIns="0" anchor="t">
            <a:noAutofit/>
          </a:bodyPr>
          <a:lstStyle/>
          <a:p>
            <a:pPr marL="0" indent="0" algn="l">
              <a:lnSpc>
                <a:spcPct val="145000"/>
              </a:lnSpc>
              <a:spcBef>
                <a:spcPts val="0"/>
              </a:spcBef>
              <a:spcAft>
                <a:spcPts val="400"/>
              </a:spcAft>
              <a:buNone/>
            </a:pPr>
            <a:r>
              <a:rPr sz="936" b="1" i="0">
                <a:solidFill>
                  <a:srgbClr val="334155"/>
                </a:solidFill>
                <a:latin typeface="DM Sans"/>
              </a:rPr>
              <a:t>NDRF procedure [S2]: </a:t>
            </a:r>
            <a:r>
              <a:rPr sz="936" b="0" i="0">
                <a:solidFill>
                  <a:srgbClr val="334155"/>
                </a:solidFill>
                <a:latin typeface="DM Sans"/>
              </a:rPr>
              <a:t>equipment must be functional before exercises; photos and video are treated as useful for later evaluation.</a:t>
            </a:r>
          </a:p>
          <a:p>
            <a:pPr marL="0" indent="0" algn="l">
              <a:lnSpc>
                <a:spcPct val="145000"/>
              </a:lnSpc>
              <a:spcBef>
                <a:spcPts val="0"/>
              </a:spcBef>
              <a:spcAft>
                <a:spcPts val="0"/>
              </a:spcAft>
              <a:buNone/>
            </a:pPr>
            <a:r>
              <a:rPr sz="936" b="1" i="0">
                <a:solidFill>
                  <a:srgbClr val="334155"/>
                </a:solidFill>
                <a:latin typeface="DM Sans"/>
              </a:rPr>
              <a:t>WHO context [S3]: </a:t>
            </a:r>
            <a:r>
              <a:rPr sz="936" b="0" i="0">
                <a:solidFill>
                  <a:srgbClr val="334155"/>
                </a:solidFill>
                <a:latin typeface="DM Sans"/>
              </a:rPr>
              <a:t>a small international review of 17 simulation reports, mostly tabletop or public-health exercises outside India. Broader context only, not an NDRF statistic.</a:t>
            </a:r>
          </a:p>
        </p:txBody>
      </p:sp>
      <p:sp>
        <p:nvSpPr>
          <p:cNvPr id="23" name="Card (green)"/>
          <p:cNvSpPr/>
          <p:nvPr/>
        </p:nvSpPr>
        <p:spPr>
          <a:xfrm>
            <a:off x="6227064" y="1737360"/>
            <a:ext cx="5431536" cy="3803904"/>
          </a:xfrm>
          <a:prstGeom prst="roundRect">
            <a:avLst>
              <a:gd name="adj" fmla="val 1923"/>
            </a:avLst>
          </a:prstGeom>
          <a:solidFill>
            <a:srgbClr val="F0FDF4"/>
          </a:solidFill>
          <a:ln w="9525">
            <a:solidFill>
              <a:srgbClr val="BBF7D0"/>
            </a:solidFill>
          </a:ln>
        </p:spPr>
        <p:txBody>
          <a:bodyPr rtlCol="0" anchor="ctr"/>
          <a:lstStyle/>
          <a:p>
            <a:pPr algn="ctr"/>
            <a:endParaRPr/>
          </a:p>
        </p:txBody>
      </p:sp>
      <p:pic>
        <p:nvPicPr>
          <p:cNvPr id="24" name="Icon" descr="image.png"/>
          <p:cNvPicPr>
            <a:picLocks noChangeAspect="1"/>
          </p:cNvPicPr>
          <p:nvPr/>
        </p:nvPicPr>
        <p:blipFill>
          <a:blip r:embed="rId8"/>
          <a:stretch>
            <a:fillRect/>
          </a:stretch>
        </p:blipFill>
        <p:spPr>
          <a:xfrm>
            <a:off x="6446520" y="1956816"/>
            <a:ext cx="155448" cy="155448"/>
          </a:xfrm>
          <a:prstGeom prst="rect">
            <a:avLst/>
          </a:prstGeom>
        </p:spPr>
      </p:pic>
      <p:sp>
        <p:nvSpPr>
          <p:cNvPr id="25" name="Card header"/>
          <p:cNvSpPr txBox="1"/>
          <p:nvPr/>
        </p:nvSpPr>
        <p:spPr>
          <a:xfrm>
            <a:off x="6702552" y="1938528"/>
            <a:ext cx="4572000" cy="192024"/>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25" b="1" i="0">
                <a:solidFill>
                  <a:srgbClr val="0F172A"/>
                </a:solidFill>
                <a:latin typeface="DM Sans"/>
              </a:rPr>
              <a:t>Target Beneficiary &amp; Operational Pain</a:t>
            </a:r>
          </a:p>
        </p:txBody>
      </p:sp>
      <p:sp>
        <p:nvSpPr>
          <p:cNvPr id="26" name="Problem text"/>
          <p:cNvSpPr txBox="1"/>
          <p:nvPr/>
        </p:nvSpPr>
        <p:spPr>
          <a:xfrm>
            <a:off x="6638544" y="2267712"/>
            <a:ext cx="4800600" cy="3154680"/>
          </a:xfrm>
          <a:prstGeom prst="rect">
            <a:avLst/>
          </a:prstGeom>
          <a:noFill/>
        </p:spPr>
        <p:txBody>
          <a:bodyPr wrap="square" lIns="0" tIns="0" rIns="0" bIns="0" anchor="t">
            <a:noAutofit/>
          </a:bodyPr>
          <a:lstStyle/>
          <a:p>
            <a:pPr marL="173736" indent="-173736" algn="l">
              <a:lnSpc>
                <a:spcPct val="145000"/>
              </a:lnSpc>
              <a:spcBef>
                <a:spcPts val="0"/>
              </a:spcBef>
              <a:spcAft>
                <a:spcPts val="500"/>
              </a:spcAft>
              <a:buClr>
                <a:srgbClr val="059669"/>
              </a:buClr>
              <a:buFont typeface="DM Sans"/>
              <a:buChar char="▪"/>
            </a:pPr>
            <a:r>
              <a:rPr sz="1011" b="1" i="0">
                <a:solidFill>
                  <a:srgbClr val="334155"/>
                </a:solidFill>
                <a:latin typeface="DM Sans"/>
              </a:rPr>
              <a:t>Target beneficiary: </a:t>
            </a:r>
            <a:r>
              <a:rPr sz="1011" b="0" i="0">
                <a:solidFill>
                  <a:srgbClr val="334155"/>
                </a:solidFill>
                <a:latin typeface="DM Sans"/>
              </a:rPr>
              <a:t>Disaster-response trainees and instructors who prepare, check and hand over equipment in supervised exercises. First task: one relief/response kit.</a:t>
            </a:r>
          </a:p>
          <a:p>
            <a:pPr marL="173736" indent="-173736" algn="l">
              <a:lnSpc>
                <a:spcPct val="145000"/>
              </a:lnSpc>
              <a:spcBef>
                <a:spcPts val="0"/>
              </a:spcBef>
              <a:spcAft>
                <a:spcPts val="500"/>
              </a:spcAft>
              <a:buClr>
                <a:srgbClr val="059669"/>
              </a:buClr>
              <a:buFont typeface="DM Sans"/>
              <a:buChar char="▪"/>
            </a:pPr>
            <a:r>
              <a:rPr sz="1011" b="1" i="0">
                <a:solidFill>
                  <a:srgbClr val="334155"/>
                </a:solidFill>
                <a:latin typeface="DM Sans"/>
              </a:rPr>
              <a:t>Operational pain: </a:t>
            </a:r>
            <a:r>
              <a:rPr sz="1011" b="0" i="0">
                <a:solidFill>
                  <a:srgbClr val="334155"/>
                </a:solidFill>
                <a:latin typeface="DM Sans"/>
              </a:rPr>
              <a:t>The wearer keeps both hands on equipment, identifies the intended item, consults a separate checklist, confirms its condition and must remember the context for later review.</a:t>
            </a:r>
          </a:p>
          <a:p>
            <a:pPr marL="173736" indent="-173736" algn="l">
              <a:lnSpc>
                <a:spcPct val="145000"/>
              </a:lnSpc>
              <a:spcBef>
                <a:spcPts val="0"/>
              </a:spcBef>
              <a:spcAft>
                <a:spcPts val="500"/>
              </a:spcAft>
              <a:buClr>
                <a:srgbClr val="059669"/>
              </a:buClr>
              <a:buFont typeface="DM Sans"/>
              <a:buChar char="▪"/>
            </a:pPr>
            <a:r>
              <a:rPr sz="1011" b="1" i="0">
                <a:solidFill>
                  <a:srgbClr val="334155"/>
                </a:solidFill>
                <a:latin typeface="DM Sans"/>
              </a:rPr>
              <a:t>Missing thread: </a:t>
            </a:r>
            <a:r>
              <a:rPr sz="1011" b="0" i="0">
                <a:solidFill>
                  <a:srgbClr val="334155"/>
                </a:solidFill>
                <a:latin typeface="DM Sans"/>
              </a:rPr>
              <a:t>A marked checklist does not show which physical item the trainee meant or what occurred at that moment. Raw video shows the moment but may take time to locate.</a:t>
            </a:r>
          </a:p>
          <a:p>
            <a:pPr marL="173736" indent="-173736" algn="l">
              <a:lnSpc>
                <a:spcPct val="145000"/>
              </a:lnSpc>
              <a:spcBef>
                <a:spcPts val="0"/>
              </a:spcBef>
              <a:spcAft>
                <a:spcPts val="500"/>
              </a:spcAft>
              <a:buClr>
                <a:srgbClr val="059669"/>
              </a:buClr>
              <a:buFont typeface="DM Sans"/>
              <a:buChar char="▪"/>
            </a:pPr>
            <a:r>
              <a:rPr sz="1011" b="1" i="0">
                <a:solidFill>
                  <a:srgbClr val="334155"/>
                </a:solidFill>
                <a:latin typeface="DM Sans"/>
              </a:rPr>
              <a:t>Status: </a:t>
            </a:r>
            <a:r>
              <a:rPr sz="1011" b="0" i="0">
                <a:solidFill>
                  <a:srgbClr val="334155"/>
                </a:solidFill>
                <a:latin typeface="DM Sans"/>
              </a:rPr>
              <a:t>This is the design hypothesis to test, not a measured failure rate.</a:t>
            </a:r>
          </a:p>
        </p:txBody>
      </p:sp>
      <p:pic>
        <p:nvPicPr>
          <p:cNvPr id="27" name="Note bar" descr="image.png"/>
          <p:cNvPicPr>
            <a:picLocks noChangeAspect="1"/>
          </p:cNvPicPr>
          <p:nvPr/>
        </p:nvPicPr>
        <p:blipFill>
          <a:blip r:embed="rId9"/>
          <a:stretch>
            <a:fillRect/>
          </a:stretch>
        </p:blipFill>
        <p:spPr>
          <a:xfrm>
            <a:off x="530352" y="5715000"/>
            <a:ext cx="11128248" cy="365760"/>
          </a:xfrm>
          <a:prstGeom prst="rect">
            <a:avLst/>
          </a:prstGeom>
        </p:spPr>
      </p:pic>
      <p:sp>
        <p:nvSpPr>
          <p:cNvPr id="28" name="Note text"/>
          <p:cNvSpPr txBox="1"/>
          <p:nvPr/>
        </p:nvSpPr>
        <p:spPr>
          <a:xfrm>
            <a:off x="722376" y="5797296"/>
            <a:ext cx="10789920" cy="274320"/>
          </a:xfrm>
          <a:prstGeom prst="rect">
            <a:avLst/>
          </a:prstGeom>
          <a:noFill/>
        </p:spPr>
        <p:txBody>
          <a:bodyPr wrap="square" lIns="0" tIns="0" rIns="0" bIns="0" anchor="t">
            <a:noAutofit/>
          </a:bodyPr>
          <a:lstStyle/>
          <a:p>
            <a:pPr marL="0" indent="0" algn="l">
              <a:lnSpc>
                <a:spcPct val="145000"/>
              </a:lnSpc>
              <a:spcBef>
                <a:spcPts val="0"/>
              </a:spcBef>
              <a:spcAft>
                <a:spcPts val="0"/>
              </a:spcAft>
              <a:buNone/>
            </a:pPr>
            <a:r>
              <a:rPr sz="936" b="1" i="0">
                <a:solidFill>
                  <a:srgbClr val="0F172A"/>
                </a:solidFill>
                <a:latin typeface="DM Sans"/>
              </a:rPr>
              <a:t>Evidence limit:</a:t>
            </a:r>
            <a:r>
              <a:rPr sz="936" b="0" i="0">
                <a:solidFill>
                  <a:srgbClr val="334155"/>
                </a:solidFill>
                <a:latin typeface="DM Sans"/>
              </a:rPr>
              <a:t> The sources support the need for training and documentation. They give no GIG-specific error rate, and no NDRF affiliation or partner access is claimed.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3"/>
          <a:stretch>
            <a:fillRect/>
          </a:stretch>
        </p:blipFill>
        <p:spPr>
          <a:xfrm>
            <a:off x="0" y="0"/>
            <a:ext cx="12191695" cy="6858000"/>
          </a:xfrm>
          <a:prstGeom prst="rect">
            <a:avLst/>
          </a:prstGeom>
        </p:spPr>
      </p:pic>
      <p:pic>
        <p:nvPicPr>
          <p:cNvPr id="3" name="Logo Vishwakarma" descr="image.png"/>
          <p:cNvPicPr>
            <a:picLocks noChangeAspect="1"/>
          </p:cNvPicPr>
          <p:nvPr/>
        </p:nvPicPr>
        <p:blipFill>
          <a:blip r:embed="rId4"/>
          <a:srcRect l="14673" t="33074" r="15820" b="44466"/>
          <a:stretch>
            <a:fillRect/>
          </a:stretch>
        </p:blipFill>
        <p:spPr>
          <a:xfrm>
            <a:off x="0" y="6281928"/>
            <a:ext cx="1783080" cy="576072"/>
          </a:xfrm>
          <a:prstGeom prst="rect">
            <a:avLst/>
          </a:prstGeom>
        </p:spPr>
      </p:pic>
      <p:pic>
        <p:nvPicPr>
          <p:cNvPr id="4" name="Logo Maker Bhavan" descr="image.png"/>
          <p:cNvPicPr>
            <a:picLocks noChangeAspect="1"/>
          </p:cNvPicPr>
          <p:nvPr/>
        </p:nvPicPr>
        <p:blipFill>
          <a:blip r:embed="rId5"/>
          <a:stretch>
            <a:fillRect/>
          </a:stretch>
        </p:blipFill>
        <p:spPr>
          <a:xfrm>
            <a:off x="11091672" y="6281928"/>
            <a:ext cx="1097280" cy="576072"/>
          </a:xfrm>
          <a:prstGeom prst="rect">
            <a:avLst/>
          </a:prstGeom>
        </p:spPr>
      </p:pic>
      <p:sp>
        <p:nvSpPr>
          <p:cNvPr id="5" name="Title"/>
          <p:cNvSpPr txBox="1"/>
          <p:nvPr/>
        </p:nvSpPr>
        <p:spPr>
          <a:xfrm>
            <a:off x="530352" y="438912"/>
            <a:ext cx="11128248" cy="310896"/>
          </a:xfrm>
          <a:prstGeom prst="rect">
            <a:avLst/>
          </a:prstGeom>
          <a:noFill/>
        </p:spPr>
        <p:txBody>
          <a:bodyPr wrap="square" lIns="0" tIns="0" rIns="0" bIns="0" anchor="ctr">
            <a:noAutofit/>
          </a:bodyPr>
          <a:lstStyle/>
          <a:p>
            <a:pPr marL="0" indent="0" algn="l">
              <a:lnSpc>
                <a:spcPct val="120000"/>
              </a:lnSpc>
              <a:spcBef>
                <a:spcPts val="0"/>
              </a:spcBef>
              <a:spcAft>
                <a:spcPts val="0"/>
              </a:spcAft>
              <a:buNone/>
            </a:pPr>
            <a:r>
              <a:rPr sz="2025" b="1" i="0">
                <a:solidFill>
                  <a:srgbClr val="0F172A"/>
                </a:solidFill>
                <a:latin typeface="Poppins SemiBold"/>
              </a:rPr>
              <a:t>User Journey: Before and With GIG</a:t>
            </a:r>
          </a:p>
        </p:txBody>
      </p:sp>
      <p:sp>
        <p:nvSpPr>
          <p:cNvPr id="6" name="Footer"/>
          <p:cNvSpPr txBox="1"/>
          <p:nvPr/>
        </p:nvSpPr>
        <p:spPr>
          <a:xfrm>
            <a:off x="3840480" y="6455664"/>
            <a:ext cx="4507992" cy="164592"/>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861" b="0" i="0">
                <a:solidFill>
                  <a:srgbClr val="64748B"/>
                </a:solidFill>
                <a:latin typeface="DM Sans"/>
              </a:rPr>
              <a:t>VK26-AU-HCI-0032  ·  HCI 2.0  ·  4 / 16</a:t>
            </a:r>
          </a:p>
        </p:txBody>
      </p:sp>
      <p:sp>
        <p:nvSpPr>
          <p:cNvPr id="7" name="Card (gray)"/>
          <p:cNvSpPr/>
          <p:nvPr/>
        </p:nvSpPr>
        <p:spPr>
          <a:xfrm>
            <a:off x="530352" y="960120"/>
            <a:ext cx="11128248" cy="1417320"/>
          </a:xfrm>
          <a:prstGeom prst="roundRect">
            <a:avLst>
              <a:gd name="adj" fmla="val 5161"/>
            </a:avLst>
          </a:prstGeom>
          <a:solidFill>
            <a:srgbClr val="F8FAFC"/>
          </a:solidFill>
          <a:ln w="9525">
            <a:solidFill>
              <a:srgbClr val="E2E8F0"/>
            </a:solidFill>
          </a:ln>
        </p:spPr>
        <p:txBody>
          <a:bodyPr rtlCol="0" anchor="ctr"/>
          <a:lstStyle/>
          <a:p>
            <a:pPr algn="ctr"/>
            <a:endParaRPr/>
          </a:p>
        </p:txBody>
      </p:sp>
      <p:pic>
        <p:nvPicPr>
          <p:cNvPr id="8" name="Icon" descr="image.png"/>
          <p:cNvPicPr>
            <a:picLocks noChangeAspect="1"/>
          </p:cNvPicPr>
          <p:nvPr/>
        </p:nvPicPr>
        <p:blipFill>
          <a:blip r:embed="rId6"/>
          <a:stretch>
            <a:fillRect/>
          </a:stretch>
        </p:blipFill>
        <p:spPr>
          <a:xfrm>
            <a:off x="749808" y="1179576"/>
            <a:ext cx="155448" cy="155448"/>
          </a:xfrm>
          <a:prstGeom prst="rect">
            <a:avLst/>
          </a:prstGeom>
        </p:spPr>
      </p:pic>
      <p:sp>
        <p:nvSpPr>
          <p:cNvPr id="9" name="Card header"/>
          <p:cNvSpPr txBox="1"/>
          <p:nvPr/>
        </p:nvSpPr>
        <p:spPr>
          <a:xfrm>
            <a:off x="1005840" y="1161288"/>
            <a:ext cx="7315200" cy="192024"/>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25" b="1" i="0">
                <a:solidFill>
                  <a:srgbClr val="0F172A"/>
                </a:solidFill>
                <a:latin typeface="DM Sans"/>
              </a:rPr>
              <a:t>Before: find, look away, check, mark, hand over, reconstruct</a:t>
            </a:r>
          </a:p>
        </p:txBody>
      </p:sp>
      <p:sp>
        <p:nvSpPr>
          <p:cNvPr id="10" name="Rounded Rectangle 9"/>
          <p:cNvSpPr/>
          <p:nvPr/>
        </p:nvSpPr>
        <p:spPr>
          <a:xfrm>
            <a:off x="713232" y="1481328"/>
            <a:ext cx="1603248" cy="749808"/>
          </a:xfrm>
          <a:prstGeom prst="roundRect">
            <a:avLst>
              <a:gd name="adj" fmla="val 8536"/>
            </a:avLst>
          </a:prstGeom>
          <a:solidFill>
            <a:srgbClr val="FFFFFF"/>
          </a:solidFill>
          <a:ln w="12700">
            <a:solidFill>
              <a:srgbClr val="CBD5E1"/>
            </a:solidFill>
          </a:ln>
        </p:spPr>
        <p:txBody>
          <a:bodyPr wrap="square" lIns="54864" tIns="27432" rIns="54864" bIns="27432" rtlCol="0" anchor="ctr"/>
          <a:lstStyle/>
          <a:p>
            <a:pPr marL="0" indent="0" algn="ctr">
              <a:lnSpc>
                <a:spcPct val="115000"/>
              </a:lnSpc>
              <a:spcBef>
                <a:spcPts val="0"/>
              </a:spcBef>
              <a:spcAft>
                <a:spcPts val="0"/>
              </a:spcAft>
              <a:buNone/>
            </a:pPr>
            <a:r>
              <a:rPr sz="936" b="0" i="0">
                <a:solidFill>
                  <a:srgbClr val="334155"/>
                </a:solidFill>
                <a:latin typeface="DM Sans"/>
              </a:rPr>
              <a:t>Find the item</a:t>
            </a:r>
          </a:p>
        </p:txBody>
      </p:sp>
      <p:cxnSp>
        <p:nvCxnSpPr>
          <p:cNvPr id="11" name="Connector 10"/>
          <p:cNvCxnSpPr/>
          <p:nvPr/>
        </p:nvCxnSpPr>
        <p:spPr>
          <a:xfrm>
            <a:off x="2343912" y="1856232"/>
            <a:ext cx="173736" cy="0"/>
          </a:xfrm>
          <a:prstGeom prst="line">
            <a:avLst/>
          </a:prstGeom>
          <a:ln w="15875">
            <a:solidFill>
              <a:srgbClr val="64748B"/>
            </a:solidFill>
            <a:tailEnd type="triangle" w="med" len="med"/>
          </a:ln>
        </p:spPr>
      </p:cxnSp>
      <p:sp>
        <p:nvSpPr>
          <p:cNvPr id="12" name="Rounded Rectangle 11"/>
          <p:cNvSpPr/>
          <p:nvPr/>
        </p:nvSpPr>
        <p:spPr>
          <a:xfrm>
            <a:off x="2545080" y="1481328"/>
            <a:ext cx="1603248" cy="749808"/>
          </a:xfrm>
          <a:prstGeom prst="roundRect">
            <a:avLst>
              <a:gd name="adj" fmla="val 8536"/>
            </a:avLst>
          </a:prstGeom>
          <a:solidFill>
            <a:srgbClr val="FFFFFF"/>
          </a:solidFill>
          <a:ln w="12700">
            <a:solidFill>
              <a:srgbClr val="CBD5E1"/>
            </a:solidFill>
          </a:ln>
        </p:spPr>
        <p:txBody>
          <a:bodyPr wrap="square" lIns="54864" tIns="27432" rIns="54864" bIns="27432" rtlCol="0" anchor="ctr"/>
          <a:lstStyle/>
          <a:p>
            <a:pPr marL="0" indent="0" algn="ctr">
              <a:lnSpc>
                <a:spcPct val="115000"/>
              </a:lnSpc>
              <a:spcBef>
                <a:spcPts val="0"/>
              </a:spcBef>
              <a:spcAft>
                <a:spcPts val="0"/>
              </a:spcAft>
              <a:buNone/>
            </a:pPr>
            <a:r>
              <a:rPr sz="936" b="0" i="0">
                <a:solidFill>
                  <a:srgbClr val="334155"/>
                </a:solidFill>
                <a:latin typeface="DM Sans"/>
              </a:rPr>
              <a:t>Look away to paper or phone</a:t>
            </a:r>
          </a:p>
        </p:txBody>
      </p:sp>
      <p:cxnSp>
        <p:nvCxnSpPr>
          <p:cNvPr id="13" name="Connector 12"/>
          <p:cNvCxnSpPr/>
          <p:nvPr/>
        </p:nvCxnSpPr>
        <p:spPr>
          <a:xfrm>
            <a:off x="4175760" y="1856232"/>
            <a:ext cx="173736" cy="0"/>
          </a:xfrm>
          <a:prstGeom prst="line">
            <a:avLst/>
          </a:prstGeom>
          <a:ln w="15875">
            <a:solidFill>
              <a:srgbClr val="64748B"/>
            </a:solidFill>
            <a:tailEnd type="triangle" w="med" len="med"/>
          </a:ln>
        </p:spPr>
      </p:cxnSp>
      <p:sp>
        <p:nvSpPr>
          <p:cNvPr id="14" name="Rounded Rectangle 13"/>
          <p:cNvSpPr/>
          <p:nvPr/>
        </p:nvSpPr>
        <p:spPr>
          <a:xfrm>
            <a:off x="4376928" y="1481328"/>
            <a:ext cx="1603248" cy="749808"/>
          </a:xfrm>
          <a:prstGeom prst="roundRect">
            <a:avLst>
              <a:gd name="adj" fmla="val 8536"/>
            </a:avLst>
          </a:prstGeom>
          <a:solidFill>
            <a:srgbClr val="FFFFFF"/>
          </a:solidFill>
          <a:ln w="12700">
            <a:solidFill>
              <a:srgbClr val="CBD5E1"/>
            </a:solidFill>
          </a:ln>
        </p:spPr>
        <p:txBody>
          <a:bodyPr wrap="square" lIns="54864" tIns="27432" rIns="54864" bIns="27432" rtlCol="0" anchor="ctr"/>
          <a:lstStyle/>
          <a:p>
            <a:pPr marL="0" indent="0" algn="ctr">
              <a:lnSpc>
                <a:spcPct val="115000"/>
              </a:lnSpc>
              <a:spcBef>
                <a:spcPts val="0"/>
              </a:spcBef>
              <a:spcAft>
                <a:spcPts val="0"/>
              </a:spcAft>
              <a:buNone/>
            </a:pPr>
            <a:r>
              <a:rPr sz="936" b="0" i="0">
                <a:solidFill>
                  <a:srgbClr val="334155"/>
                </a:solidFill>
                <a:latin typeface="DM Sans"/>
              </a:rPr>
              <a:t>Perform the check</a:t>
            </a:r>
          </a:p>
        </p:txBody>
      </p:sp>
      <p:cxnSp>
        <p:nvCxnSpPr>
          <p:cNvPr id="15" name="Connector 14"/>
          <p:cNvCxnSpPr/>
          <p:nvPr/>
        </p:nvCxnSpPr>
        <p:spPr>
          <a:xfrm>
            <a:off x="6007608" y="1856232"/>
            <a:ext cx="173736" cy="0"/>
          </a:xfrm>
          <a:prstGeom prst="line">
            <a:avLst/>
          </a:prstGeom>
          <a:ln w="15875">
            <a:solidFill>
              <a:srgbClr val="64748B"/>
            </a:solidFill>
            <a:tailEnd type="triangle" w="med" len="med"/>
          </a:ln>
        </p:spPr>
      </p:cxnSp>
      <p:sp>
        <p:nvSpPr>
          <p:cNvPr id="16" name="Rounded Rectangle 15"/>
          <p:cNvSpPr/>
          <p:nvPr/>
        </p:nvSpPr>
        <p:spPr>
          <a:xfrm>
            <a:off x="6208776" y="1481328"/>
            <a:ext cx="1603248" cy="749808"/>
          </a:xfrm>
          <a:prstGeom prst="roundRect">
            <a:avLst>
              <a:gd name="adj" fmla="val 8536"/>
            </a:avLst>
          </a:prstGeom>
          <a:solidFill>
            <a:srgbClr val="FFFFFF"/>
          </a:solidFill>
          <a:ln w="12700">
            <a:solidFill>
              <a:srgbClr val="CBD5E1"/>
            </a:solidFill>
          </a:ln>
        </p:spPr>
        <p:txBody>
          <a:bodyPr wrap="square" lIns="54864" tIns="27432" rIns="54864" bIns="27432" rtlCol="0" anchor="ctr"/>
          <a:lstStyle/>
          <a:p>
            <a:pPr marL="0" indent="0" algn="ctr">
              <a:lnSpc>
                <a:spcPct val="115000"/>
              </a:lnSpc>
              <a:spcBef>
                <a:spcPts val="0"/>
              </a:spcBef>
              <a:spcAft>
                <a:spcPts val="0"/>
              </a:spcAft>
              <a:buNone/>
            </a:pPr>
            <a:r>
              <a:rPr sz="936" b="0" i="0">
                <a:solidFill>
                  <a:srgbClr val="334155"/>
                </a:solidFill>
                <a:latin typeface="DM Sans"/>
              </a:rPr>
              <a:t>Mark the list</a:t>
            </a:r>
          </a:p>
        </p:txBody>
      </p:sp>
      <p:cxnSp>
        <p:nvCxnSpPr>
          <p:cNvPr id="17" name="Connector 16"/>
          <p:cNvCxnSpPr/>
          <p:nvPr/>
        </p:nvCxnSpPr>
        <p:spPr>
          <a:xfrm>
            <a:off x="7839456" y="1856232"/>
            <a:ext cx="173736" cy="0"/>
          </a:xfrm>
          <a:prstGeom prst="line">
            <a:avLst/>
          </a:prstGeom>
          <a:ln w="15875">
            <a:solidFill>
              <a:srgbClr val="64748B"/>
            </a:solidFill>
            <a:tailEnd type="triangle" w="med" len="med"/>
          </a:ln>
        </p:spPr>
      </p:cxnSp>
      <p:sp>
        <p:nvSpPr>
          <p:cNvPr id="18" name="Rounded Rectangle 17"/>
          <p:cNvSpPr/>
          <p:nvPr/>
        </p:nvSpPr>
        <p:spPr>
          <a:xfrm>
            <a:off x="8040624" y="1481328"/>
            <a:ext cx="1603248" cy="749808"/>
          </a:xfrm>
          <a:prstGeom prst="roundRect">
            <a:avLst>
              <a:gd name="adj" fmla="val 8536"/>
            </a:avLst>
          </a:prstGeom>
          <a:solidFill>
            <a:srgbClr val="FFFFFF"/>
          </a:solidFill>
          <a:ln w="12700">
            <a:solidFill>
              <a:srgbClr val="CBD5E1"/>
            </a:solidFill>
          </a:ln>
        </p:spPr>
        <p:txBody>
          <a:bodyPr wrap="square" lIns="54864" tIns="27432" rIns="54864" bIns="27432" rtlCol="0" anchor="ctr"/>
          <a:lstStyle/>
          <a:p>
            <a:pPr marL="0" indent="0" algn="ctr">
              <a:lnSpc>
                <a:spcPct val="115000"/>
              </a:lnSpc>
              <a:spcBef>
                <a:spcPts val="0"/>
              </a:spcBef>
              <a:spcAft>
                <a:spcPts val="0"/>
              </a:spcAft>
              <a:buNone/>
            </a:pPr>
            <a:r>
              <a:rPr sz="936" b="0" i="0">
                <a:solidFill>
                  <a:srgbClr val="334155"/>
                </a:solidFill>
                <a:latin typeface="DM Sans"/>
              </a:rPr>
              <a:t>Hand over</a:t>
            </a:r>
          </a:p>
        </p:txBody>
      </p:sp>
      <p:cxnSp>
        <p:nvCxnSpPr>
          <p:cNvPr id="19" name="Connector 18"/>
          <p:cNvCxnSpPr/>
          <p:nvPr/>
        </p:nvCxnSpPr>
        <p:spPr>
          <a:xfrm>
            <a:off x="9671304" y="1856232"/>
            <a:ext cx="173736" cy="0"/>
          </a:xfrm>
          <a:prstGeom prst="line">
            <a:avLst/>
          </a:prstGeom>
          <a:ln w="15875">
            <a:solidFill>
              <a:srgbClr val="64748B"/>
            </a:solidFill>
            <a:tailEnd type="triangle" w="med" len="med"/>
          </a:ln>
        </p:spPr>
      </p:cxnSp>
      <p:sp>
        <p:nvSpPr>
          <p:cNvPr id="20" name="Rounded Rectangle 19"/>
          <p:cNvSpPr/>
          <p:nvPr/>
        </p:nvSpPr>
        <p:spPr>
          <a:xfrm>
            <a:off x="9872472" y="1481328"/>
            <a:ext cx="1603248" cy="749808"/>
          </a:xfrm>
          <a:prstGeom prst="roundRect">
            <a:avLst>
              <a:gd name="adj" fmla="val 8536"/>
            </a:avLst>
          </a:prstGeom>
          <a:solidFill>
            <a:srgbClr val="FFFFFF"/>
          </a:solidFill>
          <a:ln w="12700">
            <a:solidFill>
              <a:srgbClr val="CBD5E1"/>
            </a:solidFill>
          </a:ln>
        </p:spPr>
        <p:txBody>
          <a:bodyPr wrap="square" lIns="54864" tIns="27432" rIns="54864" bIns="27432" rtlCol="0" anchor="ctr"/>
          <a:lstStyle/>
          <a:p>
            <a:pPr marL="0" indent="0" algn="ctr">
              <a:lnSpc>
                <a:spcPct val="115000"/>
              </a:lnSpc>
              <a:spcBef>
                <a:spcPts val="0"/>
              </a:spcBef>
              <a:spcAft>
                <a:spcPts val="0"/>
              </a:spcAft>
              <a:buNone/>
            </a:pPr>
            <a:r>
              <a:rPr sz="936" b="0" i="0">
                <a:solidFill>
                  <a:srgbClr val="334155"/>
                </a:solidFill>
                <a:latin typeface="DM Sans"/>
              </a:rPr>
              <a:t>Reconstruct the moment from memory or search an unindexed recording</a:t>
            </a:r>
          </a:p>
        </p:txBody>
      </p:sp>
      <p:sp>
        <p:nvSpPr>
          <p:cNvPr id="21" name="Card (green)"/>
          <p:cNvSpPr/>
          <p:nvPr/>
        </p:nvSpPr>
        <p:spPr>
          <a:xfrm>
            <a:off x="530352" y="2487168"/>
            <a:ext cx="11128248" cy="1463040"/>
          </a:xfrm>
          <a:prstGeom prst="roundRect">
            <a:avLst>
              <a:gd name="adj" fmla="val 5000"/>
            </a:avLst>
          </a:prstGeom>
          <a:solidFill>
            <a:srgbClr val="F0FDF4"/>
          </a:solidFill>
          <a:ln w="9525">
            <a:solidFill>
              <a:srgbClr val="BBF7D0"/>
            </a:solidFill>
          </a:ln>
        </p:spPr>
        <p:txBody>
          <a:bodyPr rtlCol="0" anchor="ctr"/>
          <a:lstStyle/>
          <a:p>
            <a:pPr algn="ctr"/>
            <a:endParaRPr/>
          </a:p>
        </p:txBody>
      </p:sp>
      <p:pic>
        <p:nvPicPr>
          <p:cNvPr id="22" name="Icon" descr="image.png"/>
          <p:cNvPicPr>
            <a:picLocks noChangeAspect="1"/>
          </p:cNvPicPr>
          <p:nvPr/>
        </p:nvPicPr>
        <p:blipFill>
          <a:blip r:embed="rId7"/>
          <a:stretch>
            <a:fillRect/>
          </a:stretch>
        </p:blipFill>
        <p:spPr>
          <a:xfrm>
            <a:off x="749808" y="2706624"/>
            <a:ext cx="155448" cy="155448"/>
          </a:xfrm>
          <a:prstGeom prst="rect">
            <a:avLst/>
          </a:prstGeom>
        </p:spPr>
      </p:pic>
      <p:sp>
        <p:nvSpPr>
          <p:cNvPr id="23" name="Card header"/>
          <p:cNvSpPr txBox="1"/>
          <p:nvPr/>
        </p:nvSpPr>
        <p:spPr>
          <a:xfrm>
            <a:off x="1005840" y="2688336"/>
            <a:ext cx="7315200" cy="192024"/>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25" b="1" i="0">
                <a:solidFill>
                  <a:srgbClr val="0F172A"/>
                </a:solidFill>
                <a:latin typeface="DM Sans"/>
              </a:rPr>
              <a:t>With GIG: the person decides at each green step</a:t>
            </a:r>
          </a:p>
        </p:txBody>
      </p:sp>
      <p:sp>
        <p:nvSpPr>
          <p:cNvPr id="24" name="Rounded Rectangle 23"/>
          <p:cNvSpPr/>
          <p:nvPr/>
        </p:nvSpPr>
        <p:spPr>
          <a:xfrm>
            <a:off x="713232" y="3017520"/>
            <a:ext cx="1341555" cy="749808"/>
          </a:xfrm>
          <a:prstGeom prst="roundRect">
            <a:avLst>
              <a:gd name="adj" fmla="val 8536"/>
            </a:avLst>
          </a:prstGeom>
          <a:solidFill>
            <a:srgbClr val="FFFFFF"/>
          </a:solidFill>
          <a:ln w="12700">
            <a:solidFill>
              <a:srgbClr val="CBD5E1"/>
            </a:solidFill>
          </a:ln>
        </p:spPr>
        <p:txBody>
          <a:bodyPr wrap="square" lIns="54864" tIns="27432" rIns="54864" bIns="27432" rtlCol="0" anchor="ctr"/>
          <a:lstStyle/>
          <a:p>
            <a:pPr marL="0" indent="0" algn="ctr">
              <a:lnSpc>
                <a:spcPct val="115000"/>
              </a:lnSpc>
              <a:spcBef>
                <a:spcPts val="0"/>
              </a:spcBef>
              <a:spcAft>
                <a:spcPts val="0"/>
              </a:spcAft>
              <a:buNone/>
            </a:pPr>
            <a:r>
              <a:rPr sz="936" b="0" i="0">
                <a:solidFill>
                  <a:srgbClr val="334155"/>
                </a:solidFill>
                <a:latin typeface="DM Sans"/>
              </a:rPr>
              <a:t>Look at the item</a:t>
            </a:r>
          </a:p>
        </p:txBody>
      </p:sp>
      <p:cxnSp>
        <p:nvCxnSpPr>
          <p:cNvPr id="25" name="Connector 24"/>
          <p:cNvCxnSpPr/>
          <p:nvPr/>
        </p:nvCxnSpPr>
        <p:spPr>
          <a:xfrm>
            <a:off x="2082219" y="3392424"/>
            <a:ext cx="173736" cy="0"/>
          </a:xfrm>
          <a:prstGeom prst="line">
            <a:avLst/>
          </a:prstGeom>
          <a:ln w="15875">
            <a:solidFill>
              <a:srgbClr val="64748B"/>
            </a:solidFill>
            <a:tailEnd type="triangle" w="med" len="med"/>
          </a:ln>
        </p:spPr>
      </p:cxnSp>
      <p:sp>
        <p:nvSpPr>
          <p:cNvPr id="26" name="Rounded Rectangle 25"/>
          <p:cNvSpPr/>
          <p:nvPr/>
        </p:nvSpPr>
        <p:spPr>
          <a:xfrm>
            <a:off x="2283387" y="3017520"/>
            <a:ext cx="1341555" cy="749808"/>
          </a:xfrm>
          <a:prstGeom prst="roundRect">
            <a:avLst>
              <a:gd name="adj" fmla="val 8536"/>
            </a:avLst>
          </a:prstGeom>
          <a:solidFill>
            <a:srgbClr val="FFFFFF"/>
          </a:solidFill>
          <a:ln w="12700">
            <a:solidFill>
              <a:srgbClr val="CBD5E1"/>
            </a:solidFill>
          </a:ln>
        </p:spPr>
        <p:txBody>
          <a:bodyPr wrap="square" lIns="54864" tIns="27432" rIns="54864" bIns="27432" rtlCol="0" anchor="ctr"/>
          <a:lstStyle/>
          <a:p>
            <a:pPr marL="0" indent="0" algn="ctr">
              <a:lnSpc>
                <a:spcPct val="115000"/>
              </a:lnSpc>
              <a:spcBef>
                <a:spcPts val="0"/>
              </a:spcBef>
              <a:spcAft>
                <a:spcPts val="0"/>
              </a:spcAft>
              <a:buNone/>
            </a:pPr>
            <a:r>
              <a:rPr sz="936" b="0" i="0">
                <a:solidFill>
                  <a:srgbClr val="334155"/>
                </a:solidFill>
                <a:latin typeface="DM Sans"/>
              </a:rPr>
              <a:t>Inspect the candidate highlight</a:t>
            </a:r>
          </a:p>
        </p:txBody>
      </p:sp>
      <p:cxnSp>
        <p:nvCxnSpPr>
          <p:cNvPr id="27" name="Connector 26"/>
          <p:cNvCxnSpPr/>
          <p:nvPr/>
        </p:nvCxnSpPr>
        <p:spPr>
          <a:xfrm>
            <a:off x="3652375" y="3392424"/>
            <a:ext cx="173736" cy="0"/>
          </a:xfrm>
          <a:prstGeom prst="line">
            <a:avLst/>
          </a:prstGeom>
          <a:ln w="15875">
            <a:solidFill>
              <a:srgbClr val="64748B"/>
            </a:solidFill>
            <a:tailEnd type="triangle" w="med" len="med"/>
          </a:ln>
        </p:spPr>
      </p:cxnSp>
      <p:sp>
        <p:nvSpPr>
          <p:cNvPr id="28" name="Rounded Rectangle 27"/>
          <p:cNvSpPr/>
          <p:nvPr/>
        </p:nvSpPr>
        <p:spPr>
          <a:xfrm>
            <a:off x="3853543" y="3017520"/>
            <a:ext cx="1341555" cy="749808"/>
          </a:xfrm>
          <a:prstGeom prst="roundRect">
            <a:avLst>
              <a:gd name="adj" fmla="val 8536"/>
            </a:avLst>
          </a:prstGeom>
          <a:solidFill>
            <a:srgbClr val="FFFFFF"/>
          </a:solidFill>
          <a:ln w="25400">
            <a:solidFill>
              <a:srgbClr val="059669"/>
            </a:solidFill>
          </a:ln>
        </p:spPr>
        <p:txBody>
          <a:bodyPr wrap="square" lIns="54864" tIns="27432" rIns="54864" bIns="27432" rtlCol="0" anchor="ctr"/>
          <a:lstStyle/>
          <a:p>
            <a:pPr marL="0" indent="0" algn="ctr">
              <a:lnSpc>
                <a:spcPct val="115000"/>
              </a:lnSpc>
              <a:spcBef>
                <a:spcPts val="0"/>
              </a:spcBef>
              <a:spcAft>
                <a:spcPts val="0"/>
              </a:spcAft>
              <a:buNone/>
            </a:pPr>
            <a:r>
              <a:rPr sz="936" b="0" i="0">
                <a:solidFill>
                  <a:srgbClr val="334155"/>
                </a:solidFill>
                <a:latin typeface="DM Sans"/>
              </a:rPr>
              <a:t>Press confirm</a:t>
            </a:r>
          </a:p>
        </p:txBody>
      </p:sp>
      <p:cxnSp>
        <p:nvCxnSpPr>
          <p:cNvPr id="29" name="Connector 28"/>
          <p:cNvCxnSpPr/>
          <p:nvPr/>
        </p:nvCxnSpPr>
        <p:spPr>
          <a:xfrm>
            <a:off x="5222530" y="3392424"/>
            <a:ext cx="173736" cy="0"/>
          </a:xfrm>
          <a:prstGeom prst="line">
            <a:avLst/>
          </a:prstGeom>
          <a:ln w="15875">
            <a:solidFill>
              <a:srgbClr val="64748B"/>
            </a:solidFill>
            <a:tailEnd type="triangle" w="med" len="med"/>
          </a:ln>
        </p:spPr>
      </p:cxnSp>
      <p:sp>
        <p:nvSpPr>
          <p:cNvPr id="30" name="Rounded Rectangle 29"/>
          <p:cNvSpPr/>
          <p:nvPr/>
        </p:nvSpPr>
        <p:spPr>
          <a:xfrm>
            <a:off x="5423698" y="3017520"/>
            <a:ext cx="1341555" cy="749808"/>
          </a:xfrm>
          <a:prstGeom prst="roundRect">
            <a:avLst>
              <a:gd name="adj" fmla="val 8536"/>
            </a:avLst>
          </a:prstGeom>
          <a:solidFill>
            <a:srgbClr val="FFFFFF"/>
          </a:solidFill>
          <a:ln w="12700">
            <a:solidFill>
              <a:srgbClr val="CBD5E1"/>
            </a:solidFill>
          </a:ln>
        </p:spPr>
        <p:txBody>
          <a:bodyPr wrap="square" lIns="54864" tIns="27432" rIns="54864" bIns="27432" rtlCol="0" anchor="ctr"/>
          <a:lstStyle/>
          <a:p>
            <a:pPr marL="0" indent="0" algn="ctr">
              <a:lnSpc>
                <a:spcPct val="115000"/>
              </a:lnSpc>
              <a:spcBef>
                <a:spcPts val="0"/>
              </a:spcBef>
              <a:spcAft>
                <a:spcPts val="0"/>
              </a:spcAft>
              <a:buNone/>
            </a:pPr>
            <a:r>
              <a:rPr sz="936" b="0" i="0">
                <a:solidFill>
                  <a:srgbClr val="334155"/>
                </a:solidFill>
                <a:latin typeface="DM Sans"/>
              </a:rPr>
              <a:t>Read a short approved prompt</a:t>
            </a:r>
          </a:p>
        </p:txBody>
      </p:sp>
      <p:cxnSp>
        <p:nvCxnSpPr>
          <p:cNvPr id="31" name="Connector 30"/>
          <p:cNvCxnSpPr/>
          <p:nvPr/>
        </p:nvCxnSpPr>
        <p:spPr>
          <a:xfrm>
            <a:off x="6792686" y="3392424"/>
            <a:ext cx="173736" cy="0"/>
          </a:xfrm>
          <a:prstGeom prst="line">
            <a:avLst/>
          </a:prstGeom>
          <a:ln w="15875">
            <a:solidFill>
              <a:srgbClr val="64748B"/>
            </a:solidFill>
            <a:tailEnd type="triangle" w="med" len="med"/>
          </a:ln>
        </p:spPr>
      </p:cxnSp>
      <p:sp>
        <p:nvSpPr>
          <p:cNvPr id="32" name="Rounded Rectangle 31"/>
          <p:cNvSpPr/>
          <p:nvPr/>
        </p:nvSpPr>
        <p:spPr>
          <a:xfrm>
            <a:off x="6993854" y="3017520"/>
            <a:ext cx="1341555" cy="749808"/>
          </a:xfrm>
          <a:prstGeom prst="roundRect">
            <a:avLst>
              <a:gd name="adj" fmla="val 8536"/>
            </a:avLst>
          </a:prstGeom>
          <a:solidFill>
            <a:srgbClr val="FFFFFF"/>
          </a:solidFill>
          <a:ln w="25400">
            <a:solidFill>
              <a:srgbClr val="059669"/>
            </a:solidFill>
          </a:ln>
        </p:spPr>
        <p:txBody>
          <a:bodyPr wrap="square" lIns="54864" tIns="27432" rIns="54864" bIns="27432" rtlCol="0" anchor="ctr"/>
          <a:lstStyle/>
          <a:p>
            <a:pPr marL="0" indent="0" algn="ctr">
              <a:lnSpc>
                <a:spcPct val="115000"/>
              </a:lnSpc>
              <a:spcBef>
                <a:spcPts val="0"/>
              </a:spcBef>
              <a:spcAft>
                <a:spcPts val="0"/>
              </a:spcAft>
              <a:buNone/>
            </a:pPr>
            <a:r>
              <a:rPr sz="936" b="0" i="0">
                <a:solidFill>
                  <a:srgbClr val="334155"/>
                </a:solidFill>
                <a:latin typeface="DM Sans"/>
              </a:rPr>
              <a:t>Explicitly mark the performed check</a:t>
            </a:r>
          </a:p>
        </p:txBody>
      </p:sp>
      <p:cxnSp>
        <p:nvCxnSpPr>
          <p:cNvPr id="33" name="Connector 32"/>
          <p:cNvCxnSpPr/>
          <p:nvPr/>
        </p:nvCxnSpPr>
        <p:spPr>
          <a:xfrm>
            <a:off x="8362841" y="3392424"/>
            <a:ext cx="173736" cy="0"/>
          </a:xfrm>
          <a:prstGeom prst="line">
            <a:avLst/>
          </a:prstGeom>
          <a:ln w="15875">
            <a:solidFill>
              <a:srgbClr val="64748B"/>
            </a:solidFill>
            <a:tailEnd type="triangle" w="med" len="med"/>
          </a:ln>
        </p:spPr>
      </p:cxnSp>
      <p:sp>
        <p:nvSpPr>
          <p:cNvPr id="34" name="Rounded Rectangle 33"/>
          <p:cNvSpPr/>
          <p:nvPr/>
        </p:nvSpPr>
        <p:spPr>
          <a:xfrm>
            <a:off x="8564009" y="3017520"/>
            <a:ext cx="1341555" cy="749808"/>
          </a:xfrm>
          <a:prstGeom prst="roundRect">
            <a:avLst>
              <a:gd name="adj" fmla="val 8536"/>
            </a:avLst>
          </a:prstGeom>
          <a:solidFill>
            <a:srgbClr val="FFFFFF"/>
          </a:solidFill>
          <a:ln w="12700">
            <a:solidFill>
              <a:srgbClr val="CBD5E1"/>
            </a:solidFill>
          </a:ln>
        </p:spPr>
        <p:txBody>
          <a:bodyPr wrap="square" lIns="54864" tIns="27432" rIns="54864" bIns="27432" rtlCol="0" anchor="ctr"/>
          <a:lstStyle/>
          <a:p>
            <a:pPr marL="0" indent="0" algn="ctr">
              <a:lnSpc>
                <a:spcPct val="115000"/>
              </a:lnSpc>
              <a:spcBef>
                <a:spcPts val="0"/>
              </a:spcBef>
              <a:spcAft>
                <a:spcPts val="0"/>
              </a:spcAft>
              <a:buNone/>
            </a:pPr>
            <a:r>
              <a:rPr sz="936" b="0" i="0">
                <a:solidFill>
                  <a:srgbClr val="334155"/>
                </a:solidFill>
                <a:latin typeface="DM Sans"/>
              </a:rPr>
              <a:t>Hand over</a:t>
            </a:r>
          </a:p>
        </p:txBody>
      </p:sp>
      <p:cxnSp>
        <p:nvCxnSpPr>
          <p:cNvPr id="35" name="Connector 34"/>
          <p:cNvCxnSpPr/>
          <p:nvPr/>
        </p:nvCxnSpPr>
        <p:spPr>
          <a:xfrm>
            <a:off x="9932997" y="3392424"/>
            <a:ext cx="173736" cy="0"/>
          </a:xfrm>
          <a:prstGeom prst="line">
            <a:avLst/>
          </a:prstGeom>
          <a:ln w="15875">
            <a:solidFill>
              <a:srgbClr val="64748B"/>
            </a:solidFill>
            <a:tailEnd type="triangle" w="med" len="med"/>
          </a:ln>
        </p:spPr>
      </p:cxnSp>
      <p:sp>
        <p:nvSpPr>
          <p:cNvPr id="36" name="Rounded Rectangle 35"/>
          <p:cNvSpPr/>
          <p:nvPr/>
        </p:nvSpPr>
        <p:spPr>
          <a:xfrm>
            <a:off x="10134165" y="3017520"/>
            <a:ext cx="1341555" cy="749808"/>
          </a:xfrm>
          <a:prstGeom prst="roundRect">
            <a:avLst>
              <a:gd name="adj" fmla="val 8536"/>
            </a:avLst>
          </a:prstGeom>
          <a:solidFill>
            <a:srgbClr val="FFFFFF"/>
          </a:solidFill>
          <a:ln w="12700">
            <a:solidFill>
              <a:srgbClr val="CBD5E1"/>
            </a:solidFill>
          </a:ln>
        </p:spPr>
        <p:txBody>
          <a:bodyPr wrap="square" lIns="54864" tIns="27432" rIns="54864" bIns="27432" rtlCol="0" anchor="ctr"/>
          <a:lstStyle/>
          <a:p>
            <a:pPr marL="0" indent="0" algn="ctr">
              <a:lnSpc>
                <a:spcPct val="115000"/>
              </a:lnSpc>
              <a:spcBef>
                <a:spcPts val="0"/>
              </a:spcBef>
              <a:spcAft>
                <a:spcPts val="0"/>
              </a:spcAft>
              <a:buNone/>
            </a:pPr>
            <a:r>
              <a:rPr sz="936" b="0" i="0">
                <a:solidFill>
                  <a:srgbClr val="334155"/>
                </a:solidFill>
                <a:latin typeface="DM Sans"/>
              </a:rPr>
              <a:t>Open the linked event during debrief</a:t>
            </a:r>
          </a:p>
        </p:txBody>
      </p:sp>
      <p:sp>
        <p:nvSpPr>
          <p:cNvPr id="37" name="Card (gray)"/>
          <p:cNvSpPr/>
          <p:nvPr/>
        </p:nvSpPr>
        <p:spPr>
          <a:xfrm>
            <a:off x="530352" y="4069080"/>
            <a:ext cx="3566160" cy="1645920"/>
          </a:xfrm>
          <a:prstGeom prst="roundRect">
            <a:avLst>
              <a:gd name="adj" fmla="val 4444"/>
            </a:avLst>
          </a:prstGeom>
          <a:solidFill>
            <a:srgbClr val="F8FAFC"/>
          </a:solidFill>
          <a:ln w="9525">
            <a:solidFill>
              <a:srgbClr val="E2E8F0"/>
            </a:solidFill>
          </a:ln>
        </p:spPr>
        <p:txBody>
          <a:bodyPr rtlCol="0" anchor="ctr"/>
          <a:lstStyle/>
          <a:p>
            <a:pPr algn="ctr"/>
            <a:endParaRPr/>
          </a:p>
        </p:txBody>
      </p:sp>
      <p:sp>
        <p:nvSpPr>
          <p:cNvPr id="38" name="TextBox 37"/>
          <p:cNvSpPr txBox="1"/>
          <p:nvPr/>
        </p:nvSpPr>
        <p:spPr>
          <a:xfrm>
            <a:off x="749808" y="4224528"/>
            <a:ext cx="3127248" cy="1371600"/>
          </a:xfrm>
          <a:prstGeom prst="rect">
            <a:avLst/>
          </a:prstGeom>
          <a:noFill/>
        </p:spPr>
        <p:txBody>
          <a:bodyPr wrap="square" lIns="0" tIns="0" rIns="0" bIns="0" anchor="t">
            <a:noAutofit/>
          </a:bodyPr>
          <a:lstStyle/>
          <a:p>
            <a:pPr marL="0" indent="0" algn="l">
              <a:lnSpc>
                <a:spcPct val="100000"/>
              </a:lnSpc>
              <a:spcBef>
                <a:spcPts val="0"/>
              </a:spcBef>
              <a:spcAft>
                <a:spcPts val="700"/>
              </a:spcAft>
              <a:buNone/>
            </a:pPr>
            <a:r>
              <a:rPr sz="1125" b="1" i="0">
                <a:solidFill>
                  <a:srgbClr val="0F172A"/>
                </a:solidFill>
                <a:latin typeface="DM Sans"/>
              </a:rPr>
              <a:t>What changes</a:t>
            </a:r>
          </a:p>
          <a:p>
            <a:pPr marL="0" indent="0" algn="l">
              <a:lnSpc>
                <a:spcPct val="140000"/>
              </a:lnSpc>
              <a:spcBef>
                <a:spcPts val="0"/>
              </a:spcBef>
              <a:spcAft>
                <a:spcPts val="0"/>
              </a:spcAft>
              <a:buNone/>
            </a:pPr>
            <a:r>
              <a:rPr sz="936" b="0" i="0">
                <a:solidFill>
                  <a:srgbClr val="334155"/>
                </a:solidFill>
                <a:latin typeface="DM Sans"/>
              </a:rPr>
              <a:t>The item identity, prompt, human confirmation and evidence share one session record. </a:t>
            </a:r>
            <a:r>
              <a:rPr sz="936" b="1" i="0">
                <a:solidFill>
                  <a:srgbClr val="334155"/>
                </a:solidFill>
                <a:latin typeface="DM Sans"/>
              </a:rPr>
              <a:t>Gaze proposes; the person decides.</a:t>
            </a:r>
          </a:p>
        </p:txBody>
      </p:sp>
      <p:sp>
        <p:nvSpPr>
          <p:cNvPr id="39" name="Card (gray)"/>
          <p:cNvSpPr/>
          <p:nvPr/>
        </p:nvSpPr>
        <p:spPr>
          <a:xfrm>
            <a:off x="4315968" y="4069080"/>
            <a:ext cx="3566160" cy="1645920"/>
          </a:xfrm>
          <a:prstGeom prst="roundRect">
            <a:avLst>
              <a:gd name="adj" fmla="val 4444"/>
            </a:avLst>
          </a:prstGeom>
          <a:solidFill>
            <a:srgbClr val="F8FAFC"/>
          </a:solidFill>
          <a:ln w="9525">
            <a:solidFill>
              <a:srgbClr val="E2E8F0"/>
            </a:solidFill>
          </a:ln>
        </p:spPr>
        <p:txBody>
          <a:bodyPr rtlCol="0" anchor="ctr"/>
          <a:lstStyle/>
          <a:p>
            <a:pPr algn="ctr"/>
            <a:endParaRPr/>
          </a:p>
        </p:txBody>
      </p:sp>
      <p:sp>
        <p:nvSpPr>
          <p:cNvPr id="40" name="TextBox 39"/>
          <p:cNvSpPr txBox="1"/>
          <p:nvPr/>
        </p:nvSpPr>
        <p:spPr>
          <a:xfrm>
            <a:off x="4535424" y="4224528"/>
            <a:ext cx="3127248" cy="1371600"/>
          </a:xfrm>
          <a:prstGeom prst="rect">
            <a:avLst/>
          </a:prstGeom>
          <a:noFill/>
        </p:spPr>
        <p:txBody>
          <a:bodyPr wrap="square" lIns="0" tIns="0" rIns="0" bIns="0" anchor="t">
            <a:noAutofit/>
          </a:bodyPr>
          <a:lstStyle/>
          <a:p>
            <a:pPr marL="0" indent="0" algn="l">
              <a:lnSpc>
                <a:spcPct val="100000"/>
              </a:lnSpc>
              <a:spcBef>
                <a:spcPts val="0"/>
              </a:spcBef>
              <a:spcAft>
                <a:spcPts val="600"/>
              </a:spcAft>
              <a:buNone/>
            </a:pPr>
            <a:r>
              <a:rPr sz="1125" b="1" i="0">
                <a:solidFill>
                  <a:srgbClr val="0F172A"/>
                </a:solidFill>
                <a:latin typeface="DM Sans"/>
              </a:rPr>
              <a:t>Measures, not results</a:t>
            </a:r>
          </a:p>
          <a:p>
            <a:pPr marL="173736" indent="-173736" algn="l">
              <a:lnSpc>
                <a:spcPct val="135000"/>
              </a:lnSpc>
              <a:spcBef>
                <a:spcPts val="0"/>
              </a:spcBef>
              <a:spcAft>
                <a:spcPts val="100"/>
              </a:spcAft>
              <a:buClr>
                <a:srgbClr val="059669"/>
              </a:buClr>
              <a:buFont typeface="DM Sans"/>
              <a:buChar char="▪"/>
            </a:pPr>
            <a:r>
              <a:rPr sz="936" b="0" i="0">
                <a:solidFill>
                  <a:srgbClr val="334155"/>
                </a:solidFill>
                <a:latin typeface="DM Sans"/>
              </a:rPr>
              <a:t>Wrong-item selections</a:t>
            </a:r>
          </a:p>
          <a:p>
            <a:pPr marL="173736" indent="-173736" algn="l">
              <a:lnSpc>
                <a:spcPct val="135000"/>
              </a:lnSpc>
              <a:spcBef>
                <a:spcPts val="0"/>
              </a:spcBef>
              <a:spcAft>
                <a:spcPts val="100"/>
              </a:spcAft>
              <a:buClr>
                <a:srgbClr val="059669"/>
              </a:buClr>
              <a:buFont typeface="DM Sans"/>
              <a:buChar char="▪"/>
            </a:pPr>
            <a:r>
              <a:rPr sz="936" b="0" i="0">
                <a:solidFill>
                  <a:srgbClr val="334155"/>
                </a:solidFill>
                <a:latin typeface="DM Sans"/>
              </a:rPr>
              <a:t>Omitted checks</a:t>
            </a:r>
          </a:p>
          <a:p>
            <a:pPr marL="173736" indent="-173736" algn="l">
              <a:lnSpc>
                <a:spcPct val="135000"/>
              </a:lnSpc>
              <a:spcBef>
                <a:spcPts val="0"/>
              </a:spcBef>
              <a:spcAft>
                <a:spcPts val="100"/>
              </a:spcAft>
              <a:buClr>
                <a:srgbClr val="059669"/>
              </a:buClr>
              <a:buFont typeface="DM Sans"/>
              <a:buChar char="▪"/>
            </a:pPr>
            <a:r>
              <a:rPr sz="936" b="0" i="0">
                <a:solidFill>
                  <a:srgbClr val="334155"/>
                </a:solidFill>
                <a:latin typeface="DM Sans"/>
              </a:rPr>
              <a:t>Task completion time</a:t>
            </a:r>
          </a:p>
          <a:p>
            <a:pPr marL="173736" indent="-173736" algn="l">
              <a:lnSpc>
                <a:spcPct val="135000"/>
              </a:lnSpc>
              <a:spcBef>
                <a:spcPts val="0"/>
              </a:spcBef>
              <a:spcAft>
                <a:spcPts val="100"/>
              </a:spcAft>
              <a:buClr>
                <a:srgbClr val="059669"/>
              </a:buClr>
              <a:buFont typeface="DM Sans"/>
              <a:buChar char="▪"/>
            </a:pPr>
            <a:r>
              <a:rPr sz="936" b="0" i="0">
                <a:solidFill>
                  <a:srgbClr val="334155"/>
                </a:solidFill>
                <a:latin typeface="DM Sans"/>
              </a:rPr>
              <a:t>Interruptions</a:t>
            </a:r>
          </a:p>
          <a:p>
            <a:pPr marL="173736" indent="-173736" algn="l">
              <a:lnSpc>
                <a:spcPct val="135000"/>
              </a:lnSpc>
              <a:spcBef>
                <a:spcPts val="0"/>
              </a:spcBef>
              <a:spcAft>
                <a:spcPts val="100"/>
              </a:spcAft>
              <a:buClr>
                <a:srgbClr val="059669"/>
              </a:buClr>
              <a:buFont typeface="DM Sans"/>
              <a:buChar char="▪"/>
            </a:pPr>
            <a:r>
              <a:rPr sz="936" b="0" i="0">
                <a:solidFill>
                  <a:srgbClr val="334155"/>
                </a:solidFill>
                <a:latin typeface="DM Sans"/>
              </a:rPr>
              <a:t>Time to retrieve a review moment</a:t>
            </a:r>
          </a:p>
        </p:txBody>
      </p:sp>
      <p:sp>
        <p:nvSpPr>
          <p:cNvPr id="41" name="Card (gray)"/>
          <p:cNvSpPr/>
          <p:nvPr/>
        </p:nvSpPr>
        <p:spPr>
          <a:xfrm>
            <a:off x="8092440" y="4069080"/>
            <a:ext cx="3566160" cy="1645920"/>
          </a:xfrm>
          <a:prstGeom prst="roundRect">
            <a:avLst>
              <a:gd name="adj" fmla="val 4444"/>
            </a:avLst>
          </a:prstGeom>
          <a:solidFill>
            <a:srgbClr val="F8FAFC"/>
          </a:solidFill>
          <a:ln w="9525">
            <a:solidFill>
              <a:srgbClr val="E2E8F0"/>
            </a:solidFill>
          </a:ln>
        </p:spPr>
        <p:txBody>
          <a:bodyPr rtlCol="0" anchor="ctr"/>
          <a:lstStyle/>
          <a:p>
            <a:pPr algn="ctr"/>
            <a:endParaRPr/>
          </a:p>
        </p:txBody>
      </p:sp>
      <p:pic>
        <p:nvPicPr>
          <p:cNvPr id="42" name="Wearer view (AI-generated)" descr="AI-generated illustration of a first-person view into a relief kit with the first-aid pouch given an amber candidate highlight and Confirm item and Cancel buttons"/>
          <p:cNvPicPr>
            <a:picLocks noChangeAspect="1"/>
          </p:cNvPicPr>
          <p:nvPr/>
        </p:nvPicPr>
        <p:blipFill>
          <a:blip r:embed="rId8"/>
          <a:srcRect t="25500" b="6160"/>
          <a:stretch>
            <a:fillRect/>
          </a:stretch>
        </p:blipFill>
        <p:spPr>
          <a:xfrm>
            <a:off x="8183880" y="4160520"/>
            <a:ext cx="3383280" cy="1298448"/>
          </a:xfrm>
          <a:prstGeom prst="roundRect">
            <a:avLst>
              <a:gd name="adj" fmla="val 4929"/>
            </a:avLst>
          </a:prstGeom>
          <a:ln w="9525">
            <a:solidFill>
              <a:srgbClr val="CBD5E1"/>
            </a:solidFill>
          </a:ln>
        </p:spPr>
      </p:pic>
      <p:sp>
        <p:nvSpPr>
          <p:cNvPr id="43" name="Caption"/>
          <p:cNvSpPr txBox="1"/>
          <p:nvPr/>
        </p:nvSpPr>
        <p:spPr>
          <a:xfrm>
            <a:off x="8183880" y="5495544"/>
            <a:ext cx="3383280" cy="155448"/>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sz="861" b="0" i="1" dirty="0">
                <a:solidFill>
                  <a:srgbClr val="64748B"/>
                </a:solidFill>
                <a:latin typeface="DM Sans"/>
              </a:rPr>
              <a:t>Concept of candidate-item highlight before confirmation.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3"/>
          <a:stretch>
            <a:fillRect/>
          </a:stretch>
        </p:blipFill>
        <p:spPr>
          <a:xfrm>
            <a:off x="0" y="0"/>
            <a:ext cx="12191695" cy="6858000"/>
          </a:xfrm>
          <a:prstGeom prst="rect">
            <a:avLst/>
          </a:prstGeom>
        </p:spPr>
      </p:pic>
      <p:pic>
        <p:nvPicPr>
          <p:cNvPr id="3" name="Logo Vishwakarma" descr="image.png"/>
          <p:cNvPicPr>
            <a:picLocks noChangeAspect="1"/>
          </p:cNvPicPr>
          <p:nvPr/>
        </p:nvPicPr>
        <p:blipFill>
          <a:blip r:embed="rId4"/>
          <a:srcRect l="14673" t="33074" r="15820" b="44466"/>
          <a:stretch>
            <a:fillRect/>
          </a:stretch>
        </p:blipFill>
        <p:spPr>
          <a:xfrm>
            <a:off x="0" y="6281928"/>
            <a:ext cx="1783080" cy="576072"/>
          </a:xfrm>
          <a:prstGeom prst="rect">
            <a:avLst/>
          </a:prstGeom>
        </p:spPr>
      </p:pic>
      <p:pic>
        <p:nvPicPr>
          <p:cNvPr id="4" name="Logo Maker Bhavan" descr="image.png"/>
          <p:cNvPicPr>
            <a:picLocks noChangeAspect="1"/>
          </p:cNvPicPr>
          <p:nvPr/>
        </p:nvPicPr>
        <p:blipFill>
          <a:blip r:embed="rId5"/>
          <a:stretch>
            <a:fillRect/>
          </a:stretch>
        </p:blipFill>
        <p:spPr>
          <a:xfrm>
            <a:off x="11091672" y="6281928"/>
            <a:ext cx="1097280" cy="576072"/>
          </a:xfrm>
          <a:prstGeom prst="rect">
            <a:avLst/>
          </a:prstGeom>
        </p:spPr>
      </p:pic>
      <p:sp>
        <p:nvSpPr>
          <p:cNvPr id="5" name="Title"/>
          <p:cNvSpPr txBox="1"/>
          <p:nvPr/>
        </p:nvSpPr>
        <p:spPr>
          <a:xfrm>
            <a:off x="530352" y="438912"/>
            <a:ext cx="11128248" cy="310896"/>
          </a:xfrm>
          <a:prstGeom prst="rect">
            <a:avLst/>
          </a:prstGeom>
          <a:noFill/>
        </p:spPr>
        <p:txBody>
          <a:bodyPr wrap="square" lIns="0" tIns="0" rIns="0" bIns="0" anchor="ctr">
            <a:noAutofit/>
          </a:bodyPr>
          <a:lstStyle/>
          <a:p>
            <a:pPr marL="0" indent="0" algn="l">
              <a:lnSpc>
                <a:spcPct val="120000"/>
              </a:lnSpc>
              <a:spcBef>
                <a:spcPts val="0"/>
              </a:spcBef>
              <a:spcAft>
                <a:spcPts val="0"/>
              </a:spcAft>
              <a:buNone/>
            </a:pPr>
            <a:r>
              <a:rPr sz="2025" b="1" i="0">
                <a:solidFill>
                  <a:srgbClr val="0F172A"/>
                </a:solidFill>
                <a:latin typeface="Poppins SemiBold"/>
              </a:rPr>
              <a:t>Solution and System Architecture</a:t>
            </a:r>
          </a:p>
        </p:txBody>
      </p:sp>
      <p:sp>
        <p:nvSpPr>
          <p:cNvPr id="6" name="Footer"/>
          <p:cNvSpPr txBox="1"/>
          <p:nvPr/>
        </p:nvSpPr>
        <p:spPr>
          <a:xfrm>
            <a:off x="3840480" y="6455664"/>
            <a:ext cx="4507992" cy="164592"/>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861" b="0" i="0">
                <a:solidFill>
                  <a:srgbClr val="64748B"/>
                </a:solidFill>
                <a:latin typeface="DM Sans"/>
              </a:rPr>
              <a:t>VK26-AU-HCI-0032  ·  HCI 2.0  ·  5 / 16</a:t>
            </a:r>
          </a:p>
        </p:txBody>
      </p:sp>
      <p:sp>
        <p:nvSpPr>
          <p:cNvPr id="7" name="Card (green)"/>
          <p:cNvSpPr/>
          <p:nvPr/>
        </p:nvSpPr>
        <p:spPr>
          <a:xfrm>
            <a:off x="530352" y="960120"/>
            <a:ext cx="11128248" cy="2423160"/>
          </a:xfrm>
          <a:prstGeom prst="roundRect">
            <a:avLst>
              <a:gd name="adj" fmla="val 3018"/>
            </a:avLst>
          </a:prstGeom>
          <a:solidFill>
            <a:srgbClr val="F0FDF4"/>
          </a:solidFill>
          <a:ln w="9525">
            <a:solidFill>
              <a:srgbClr val="BBF7D0"/>
            </a:solidFill>
          </a:ln>
        </p:spPr>
        <p:txBody>
          <a:bodyPr rtlCol="0" anchor="ctr"/>
          <a:lstStyle/>
          <a:p>
            <a:pPr algn="ctr"/>
            <a:endParaRPr/>
          </a:p>
        </p:txBody>
      </p:sp>
      <p:pic>
        <p:nvPicPr>
          <p:cNvPr id="8" name="Icon" descr="image.png"/>
          <p:cNvPicPr>
            <a:picLocks noChangeAspect="1"/>
          </p:cNvPicPr>
          <p:nvPr/>
        </p:nvPicPr>
        <p:blipFill>
          <a:blip r:embed="rId6"/>
          <a:stretch>
            <a:fillRect/>
          </a:stretch>
        </p:blipFill>
        <p:spPr>
          <a:xfrm>
            <a:off x="749808" y="1179576"/>
            <a:ext cx="155448" cy="155448"/>
          </a:xfrm>
          <a:prstGeom prst="rect">
            <a:avLst/>
          </a:prstGeom>
        </p:spPr>
      </p:pic>
      <p:sp>
        <p:nvSpPr>
          <p:cNvPr id="9" name="Card header"/>
          <p:cNvSpPr txBox="1"/>
          <p:nvPr/>
        </p:nvSpPr>
        <p:spPr>
          <a:xfrm>
            <a:off x="1005840" y="1161288"/>
            <a:ext cx="5486400" cy="192024"/>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25" b="1" i="0">
                <a:solidFill>
                  <a:srgbClr val="0F172A"/>
                </a:solidFill>
                <a:latin typeface="DM Sans"/>
              </a:rPr>
              <a:t>System block diagram</a:t>
            </a:r>
          </a:p>
        </p:txBody>
      </p:sp>
      <p:sp>
        <p:nvSpPr>
          <p:cNvPr id="10" name="Rounded Rectangle 9"/>
          <p:cNvSpPr/>
          <p:nvPr/>
        </p:nvSpPr>
        <p:spPr>
          <a:xfrm>
            <a:off x="731520" y="1664208"/>
            <a:ext cx="1325880" cy="457200"/>
          </a:xfrm>
          <a:prstGeom prst="roundRect">
            <a:avLst>
              <a:gd name="adj" fmla="val 14000"/>
            </a:avLst>
          </a:prstGeom>
          <a:solidFill>
            <a:srgbClr val="FFFFFF"/>
          </a:solidFill>
          <a:ln w="12700">
            <a:solidFill>
              <a:srgbClr val="CBD5E1"/>
            </a:solidFill>
          </a:ln>
        </p:spPr>
        <p:txBody>
          <a:bodyPr wrap="square" lIns="54864" tIns="27432" rIns="54864" bIns="27432" rtlCol="0" anchor="ctr"/>
          <a:lstStyle/>
          <a:p>
            <a:pPr marL="0" indent="0" algn="ctr">
              <a:lnSpc>
                <a:spcPct val="115000"/>
              </a:lnSpc>
              <a:spcBef>
                <a:spcPts val="0"/>
              </a:spcBef>
              <a:spcAft>
                <a:spcPts val="0"/>
              </a:spcAft>
              <a:buNone/>
            </a:pPr>
            <a:r>
              <a:rPr sz="861" b="0" i="0">
                <a:solidFill>
                  <a:srgbClr val="334155"/>
                </a:solidFill>
                <a:latin typeface="DM Sans"/>
              </a:rPr>
              <a:t>Eye-facing tracker</a:t>
            </a:r>
          </a:p>
        </p:txBody>
      </p:sp>
      <p:sp>
        <p:nvSpPr>
          <p:cNvPr id="11" name="Rounded Rectangle 10"/>
          <p:cNvSpPr/>
          <p:nvPr/>
        </p:nvSpPr>
        <p:spPr>
          <a:xfrm>
            <a:off x="731520" y="2304288"/>
            <a:ext cx="1325880" cy="457200"/>
          </a:xfrm>
          <a:prstGeom prst="roundRect">
            <a:avLst>
              <a:gd name="adj" fmla="val 14000"/>
            </a:avLst>
          </a:prstGeom>
          <a:solidFill>
            <a:srgbClr val="FFFFFF"/>
          </a:solidFill>
          <a:ln w="12700">
            <a:solidFill>
              <a:srgbClr val="CBD5E1"/>
            </a:solidFill>
          </a:ln>
        </p:spPr>
        <p:txBody>
          <a:bodyPr wrap="square" lIns="54864" tIns="27432" rIns="54864" bIns="27432" rtlCol="0" anchor="ctr"/>
          <a:lstStyle/>
          <a:p>
            <a:pPr marL="0" indent="0" algn="ctr">
              <a:lnSpc>
                <a:spcPct val="115000"/>
              </a:lnSpc>
              <a:spcBef>
                <a:spcPts val="0"/>
              </a:spcBef>
              <a:spcAft>
                <a:spcPts val="0"/>
              </a:spcAft>
              <a:buNone/>
            </a:pPr>
            <a:r>
              <a:rPr sz="861" b="0" i="0">
                <a:solidFill>
                  <a:srgbClr val="334155"/>
                </a:solidFill>
                <a:latin typeface="DM Sans"/>
              </a:rPr>
              <a:t>Outward scene camera</a:t>
            </a:r>
          </a:p>
        </p:txBody>
      </p:sp>
      <p:sp>
        <p:nvSpPr>
          <p:cNvPr id="12" name="Rounded Rectangle 11"/>
          <p:cNvSpPr/>
          <p:nvPr/>
        </p:nvSpPr>
        <p:spPr>
          <a:xfrm>
            <a:off x="2377440" y="1865376"/>
            <a:ext cx="1188720" cy="694944"/>
          </a:xfrm>
          <a:prstGeom prst="roundRect">
            <a:avLst>
              <a:gd name="adj" fmla="val 9210"/>
            </a:avLst>
          </a:prstGeom>
          <a:solidFill>
            <a:srgbClr val="FFFFFF"/>
          </a:solidFill>
          <a:ln w="12700">
            <a:solidFill>
              <a:srgbClr val="CBD5E1"/>
            </a:solidFill>
          </a:ln>
        </p:spPr>
        <p:txBody>
          <a:bodyPr wrap="square" lIns="54864" tIns="27432" rIns="54864" bIns="27432" rtlCol="0" anchor="ctr"/>
          <a:lstStyle/>
          <a:p>
            <a:pPr marL="0" indent="0" algn="ctr">
              <a:lnSpc>
                <a:spcPct val="115000"/>
              </a:lnSpc>
              <a:spcBef>
                <a:spcPts val="0"/>
              </a:spcBef>
              <a:spcAft>
                <a:spcPts val="0"/>
              </a:spcAft>
              <a:buNone/>
            </a:pPr>
            <a:r>
              <a:rPr sz="861" b="0" i="0">
                <a:solidFill>
                  <a:srgbClr val="334155"/>
                </a:solidFill>
                <a:latin typeface="DM Sans"/>
              </a:rPr>
              <a:t>Calibrate gaze into scene view</a:t>
            </a:r>
          </a:p>
        </p:txBody>
      </p:sp>
      <p:cxnSp>
        <p:nvCxnSpPr>
          <p:cNvPr id="13" name="Connector 12"/>
          <p:cNvCxnSpPr/>
          <p:nvPr/>
        </p:nvCxnSpPr>
        <p:spPr>
          <a:xfrm>
            <a:off x="2075688" y="1892808"/>
            <a:ext cx="283464" cy="182880"/>
          </a:xfrm>
          <a:prstGeom prst="line">
            <a:avLst/>
          </a:prstGeom>
          <a:ln w="15875">
            <a:solidFill>
              <a:srgbClr val="64748B"/>
            </a:solidFill>
            <a:tailEnd type="triangle" w="med" len="med"/>
          </a:ln>
        </p:spPr>
      </p:cxnSp>
      <p:cxnSp>
        <p:nvCxnSpPr>
          <p:cNvPr id="14" name="Connector 13"/>
          <p:cNvCxnSpPr/>
          <p:nvPr/>
        </p:nvCxnSpPr>
        <p:spPr>
          <a:xfrm flipV="1">
            <a:off x="2075688" y="2350008"/>
            <a:ext cx="283464" cy="182880"/>
          </a:xfrm>
          <a:prstGeom prst="line">
            <a:avLst/>
          </a:prstGeom>
          <a:ln w="15875">
            <a:solidFill>
              <a:srgbClr val="64748B"/>
            </a:solidFill>
            <a:tailEnd type="triangle" w="med" len="med"/>
          </a:ln>
        </p:spPr>
      </p:cxnSp>
      <p:sp>
        <p:nvSpPr>
          <p:cNvPr id="15" name="Diamond 14"/>
          <p:cNvSpPr/>
          <p:nvPr/>
        </p:nvSpPr>
        <p:spPr>
          <a:xfrm>
            <a:off x="3703320" y="1709928"/>
            <a:ext cx="1463040" cy="1005840"/>
          </a:xfrm>
          <a:prstGeom prst="diamond">
            <a:avLst/>
          </a:prstGeom>
          <a:solidFill>
            <a:srgbClr val="FFFFFF"/>
          </a:solidFill>
          <a:ln w="19050">
            <a:solidFill>
              <a:srgbClr val="059669"/>
            </a:solidFill>
          </a:ln>
        </p:spPr>
        <p:txBody>
          <a:bodyPr wrap="square" lIns="0" tIns="27432" rIns="0" bIns="27432" rtlCol="0" anchor="ctr"/>
          <a:lstStyle/>
          <a:p>
            <a:pPr marL="0" indent="0" algn="ctr">
              <a:lnSpc>
                <a:spcPct val="115000"/>
              </a:lnSpc>
              <a:spcBef>
                <a:spcPts val="0"/>
              </a:spcBef>
              <a:spcAft>
                <a:spcPts val="0"/>
              </a:spcAft>
              <a:buNone/>
            </a:pPr>
            <a:r>
              <a:rPr sz="800" b="1" i="0">
                <a:solidFill>
                  <a:srgbClr val="0F172A"/>
                </a:solidFill>
                <a:latin typeface="DM Sans"/>
              </a:rPr>
              <a:t>Quality gate</a:t>
            </a:r>
          </a:p>
        </p:txBody>
      </p:sp>
      <p:cxnSp>
        <p:nvCxnSpPr>
          <p:cNvPr id="16" name="Connector 15"/>
          <p:cNvCxnSpPr/>
          <p:nvPr/>
        </p:nvCxnSpPr>
        <p:spPr>
          <a:xfrm>
            <a:off x="3584448" y="2212848"/>
            <a:ext cx="137160" cy="0"/>
          </a:xfrm>
          <a:prstGeom prst="line">
            <a:avLst/>
          </a:prstGeom>
          <a:ln w="15875">
            <a:solidFill>
              <a:srgbClr val="64748B"/>
            </a:solidFill>
            <a:tailEnd type="triangle" w="med" len="med"/>
          </a:ln>
        </p:spPr>
      </p:cxnSp>
      <p:sp>
        <p:nvSpPr>
          <p:cNvPr id="17" name="Rounded Rectangle 16"/>
          <p:cNvSpPr/>
          <p:nvPr/>
        </p:nvSpPr>
        <p:spPr>
          <a:xfrm>
            <a:off x="5303520" y="1865376"/>
            <a:ext cx="1371600" cy="694944"/>
          </a:xfrm>
          <a:prstGeom prst="roundRect">
            <a:avLst>
              <a:gd name="adj" fmla="val 9210"/>
            </a:avLst>
          </a:prstGeom>
          <a:solidFill>
            <a:srgbClr val="FFFFFF"/>
          </a:solidFill>
          <a:ln w="12700">
            <a:solidFill>
              <a:srgbClr val="CBD5E1"/>
            </a:solidFill>
          </a:ln>
        </p:spPr>
        <p:txBody>
          <a:bodyPr wrap="square" lIns="54864" tIns="27432" rIns="54864" bIns="27432" rtlCol="0" anchor="ctr"/>
          <a:lstStyle/>
          <a:p>
            <a:pPr marL="0" indent="0" algn="ctr">
              <a:lnSpc>
                <a:spcPct val="115000"/>
              </a:lnSpc>
              <a:spcBef>
                <a:spcPts val="0"/>
              </a:spcBef>
              <a:spcAft>
                <a:spcPts val="0"/>
              </a:spcAft>
              <a:buNone/>
            </a:pPr>
            <a:r>
              <a:rPr sz="861" b="0" i="0">
                <a:solidFill>
                  <a:srgbClr val="334155"/>
                </a:solidFill>
                <a:latin typeface="DM Sans"/>
              </a:rPr>
              <a:t>Candidate item, confidence, restrained highlight</a:t>
            </a:r>
          </a:p>
        </p:txBody>
      </p:sp>
      <p:cxnSp>
        <p:nvCxnSpPr>
          <p:cNvPr id="18" name="Connector 17"/>
          <p:cNvCxnSpPr/>
          <p:nvPr/>
        </p:nvCxnSpPr>
        <p:spPr>
          <a:xfrm>
            <a:off x="5184648" y="2212848"/>
            <a:ext cx="100584" cy="0"/>
          </a:xfrm>
          <a:prstGeom prst="line">
            <a:avLst/>
          </a:prstGeom>
          <a:ln w="15875">
            <a:solidFill>
              <a:srgbClr val="64748B"/>
            </a:solidFill>
            <a:tailEnd type="triangle" w="med" len="med"/>
          </a:ln>
        </p:spPr>
      </p:cxnSp>
      <p:sp>
        <p:nvSpPr>
          <p:cNvPr id="19" name="Diamond 18"/>
          <p:cNvSpPr/>
          <p:nvPr/>
        </p:nvSpPr>
        <p:spPr>
          <a:xfrm>
            <a:off x="6812280" y="1709928"/>
            <a:ext cx="1463040" cy="1005840"/>
          </a:xfrm>
          <a:prstGeom prst="diamond">
            <a:avLst/>
          </a:prstGeom>
          <a:solidFill>
            <a:srgbClr val="FFFFFF"/>
          </a:solidFill>
          <a:ln w="19050">
            <a:solidFill>
              <a:srgbClr val="059669"/>
            </a:solidFill>
          </a:ln>
        </p:spPr>
        <p:txBody>
          <a:bodyPr wrap="square" lIns="0" tIns="27432" rIns="0" bIns="27432" rtlCol="0" anchor="ctr"/>
          <a:lstStyle/>
          <a:p>
            <a:pPr marL="0" indent="0" algn="ctr">
              <a:lnSpc>
                <a:spcPct val="115000"/>
              </a:lnSpc>
              <a:spcBef>
                <a:spcPts val="0"/>
              </a:spcBef>
              <a:spcAft>
                <a:spcPts val="0"/>
              </a:spcAft>
              <a:buNone/>
            </a:pPr>
            <a:r>
              <a:rPr sz="800" b="1" i="0">
                <a:solidFill>
                  <a:srgbClr val="0F172A"/>
                </a:solidFill>
                <a:latin typeface="DM Sans"/>
              </a:rPr>
              <a:t>Human confirmation</a:t>
            </a:r>
          </a:p>
        </p:txBody>
      </p:sp>
      <p:cxnSp>
        <p:nvCxnSpPr>
          <p:cNvPr id="20" name="Connector 19"/>
          <p:cNvCxnSpPr/>
          <p:nvPr/>
        </p:nvCxnSpPr>
        <p:spPr>
          <a:xfrm>
            <a:off x="6693408" y="2212848"/>
            <a:ext cx="137160" cy="0"/>
          </a:xfrm>
          <a:prstGeom prst="line">
            <a:avLst/>
          </a:prstGeom>
          <a:ln w="15875">
            <a:solidFill>
              <a:srgbClr val="64748B"/>
            </a:solidFill>
            <a:tailEnd type="triangle" w="med" len="med"/>
          </a:ln>
        </p:spPr>
      </p:cxnSp>
      <p:sp>
        <p:nvSpPr>
          <p:cNvPr id="21" name="Rounded Rectangle 20"/>
          <p:cNvSpPr/>
          <p:nvPr/>
        </p:nvSpPr>
        <p:spPr>
          <a:xfrm>
            <a:off x="8412480" y="1865376"/>
            <a:ext cx="1188720" cy="694944"/>
          </a:xfrm>
          <a:prstGeom prst="roundRect">
            <a:avLst>
              <a:gd name="adj" fmla="val 9210"/>
            </a:avLst>
          </a:prstGeom>
          <a:solidFill>
            <a:srgbClr val="FFFFFF"/>
          </a:solidFill>
          <a:ln w="12700">
            <a:solidFill>
              <a:srgbClr val="CBD5E1"/>
            </a:solidFill>
          </a:ln>
        </p:spPr>
        <p:txBody>
          <a:bodyPr wrap="square" lIns="54864" tIns="27432" rIns="54864" bIns="27432" rtlCol="0" anchor="ctr"/>
          <a:lstStyle/>
          <a:p>
            <a:pPr marL="0" indent="0" algn="ctr">
              <a:lnSpc>
                <a:spcPct val="115000"/>
              </a:lnSpc>
              <a:spcBef>
                <a:spcPts val="0"/>
              </a:spcBef>
              <a:spcAft>
                <a:spcPts val="0"/>
              </a:spcAft>
              <a:buNone/>
            </a:pPr>
            <a:r>
              <a:rPr sz="861" b="0" i="0">
                <a:solidFill>
                  <a:srgbClr val="334155"/>
                </a:solidFill>
                <a:latin typeface="DM Sans"/>
              </a:rPr>
              <a:t>Open the approved step</a:t>
            </a:r>
          </a:p>
        </p:txBody>
      </p:sp>
      <p:cxnSp>
        <p:nvCxnSpPr>
          <p:cNvPr id="22" name="Connector 21"/>
          <p:cNvCxnSpPr/>
          <p:nvPr/>
        </p:nvCxnSpPr>
        <p:spPr>
          <a:xfrm>
            <a:off x="8293608" y="2212848"/>
            <a:ext cx="100584" cy="0"/>
          </a:xfrm>
          <a:prstGeom prst="line">
            <a:avLst/>
          </a:prstGeom>
          <a:ln w="15875">
            <a:solidFill>
              <a:srgbClr val="64748B"/>
            </a:solidFill>
            <a:tailEnd type="triangle" w="med" len="med"/>
          </a:ln>
        </p:spPr>
      </p:cxnSp>
      <p:sp>
        <p:nvSpPr>
          <p:cNvPr id="23" name="Rounded Rectangle 22"/>
          <p:cNvSpPr/>
          <p:nvPr/>
        </p:nvSpPr>
        <p:spPr>
          <a:xfrm>
            <a:off x="9738360" y="1755648"/>
            <a:ext cx="1737360" cy="914400"/>
          </a:xfrm>
          <a:prstGeom prst="roundRect">
            <a:avLst>
              <a:gd name="adj" fmla="val 7000"/>
            </a:avLst>
          </a:prstGeom>
          <a:solidFill>
            <a:srgbClr val="FFFFFF"/>
          </a:solidFill>
          <a:ln w="12700">
            <a:solidFill>
              <a:srgbClr val="CBD5E1"/>
            </a:solidFill>
          </a:ln>
        </p:spPr>
        <p:txBody>
          <a:bodyPr wrap="square" lIns="54864" tIns="27432" rIns="54864" bIns="27432" rtlCol="0" anchor="ctr"/>
          <a:lstStyle/>
          <a:p>
            <a:pPr marL="0" indent="0" algn="ctr">
              <a:lnSpc>
                <a:spcPct val="115000"/>
              </a:lnSpc>
              <a:spcBef>
                <a:spcPts val="0"/>
              </a:spcBef>
              <a:spcAft>
                <a:spcPts val="0"/>
              </a:spcAft>
              <a:buNone/>
            </a:pPr>
            <a:r>
              <a:rPr sz="861" b="0" i="0">
                <a:solidFill>
                  <a:srgbClr val="334155"/>
                </a:solidFill>
                <a:latin typeface="DM Sans"/>
              </a:rPr>
              <a:t>Event record: source timestamps, item ID, prompt version, confirmation, event media</a:t>
            </a:r>
          </a:p>
        </p:txBody>
      </p:sp>
      <p:cxnSp>
        <p:nvCxnSpPr>
          <p:cNvPr id="24" name="Connector 23"/>
          <p:cNvCxnSpPr/>
          <p:nvPr/>
        </p:nvCxnSpPr>
        <p:spPr>
          <a:xfrm>
            <a:off x="9619488" y="2212848"/>
            <a:ext cx="100584" cy="0"/>
          </a:xfrm>
          <a:prstGeom prst="line">
            <a:avLst/>
          </a:prstGeom>
          <a:ln w="15875">
            <a:solidFill>
              <a:srgbClr val="64748B"/>
            </a:solidFill>
            <a:tailEnd type="triangle" w="med" len="med"/>
          </a:ln>
        </p:spPr>
      </p:cxnSp>
      <p:sp>
        <p:nvSpPr>
          <p:cNvPr id="25" name="TextBox 24"/>
          <p:cNvSpPr txBox="1"/>
          <p:nvPr/>
        </p:nvSpPr>
        <p:spPr>
          <a:xfrm>
            <a:off x="3566160" y="2852928"/>
            <a:ext cx="1737360" cy="274320"/>
          </a:xfrm>
          <a:prstGeom prst="rect">
            <a:avLst/>
          </a:prstGeom>
          <a:noFill/>
        </p:spPr>
        <p:txBody>
          <a:bodyPr wrap="square" lIns="0" tIns="0" rIns="0" bIns="0" anchor="t">
            <a:noAutofit/>
          </a:bodyPr>
          <a:lstStyle/>
          <a:p>
            <a:pPr marL="0" indent="0" algn="ctr">
              <a:lnSpc>
                <a:spcPct val="110000"/>
              </a:lnSpc>
              <a:spcBef>
                <a:spcPts val="0"/>
              </a:spcBef>
              <a:spcAft>
                <a:spcPts val="0"/>
              </a:spcAft>
              <a:buNone/>
            </a:pPr>
            <a:r>
              <a:rPr sz="861" b="0" i="1">
                <a:solidFill>
                  <a:srgbClr val="64748B"/>
                </a:solidFill>
                <a:latin typeface="DM Sans"/>
              </a:rPr>
              <a:t>Low quality: no candidate shown</a:t>
            </a:r>
          </a:p>
        </p:txBody>
      </p:sp>
      <p:sp>
        <p:nvSpPr>
          <p:cNvPr id="26" name="TextBox 25"/>
          <p:cNvSpPr txBox="1"/>
          <p:nvPr/>
        </p:nvSpPr>
        <p:spPr>
          <a:xfrm>
            <a:off x="6675120" y="2852928"/>
            <a:ext cx="1737360" cy="274320"/>
          </a:xfrm>
          <a:prstGeom prst="rect">
            <a:avLst/>
          </a:prstGeom>
          <a:noFill/>
        </p:spPr>
        <p:txBody>
          <a:bodyPr wrap="square" lIns="0" tIns="0" rIns="0" bIns="0" anchor="t">
            <a:noAutofit/>
          </a:bodyPr>
          <a:lstStyle/>
          <a:p>
            <a:pPr marL="0" indent="0" algn="ctr">
              <a:lnSpc>
                <a:spcPct val="110000"/>
              </a:lnSpc>
              <a:spcBef>
                <a:spcPts val="0"/>
              </a:spcBef>
              <a:spcAft>
                <a:spcPts val="0"/>
              </a:spcAft>
              <a:buNone/>
            </a:pPr>
            <a:r>
              <a:rPr sz="861" b="0" i="1">
                <a:solidFill>
                  <a:srgbClr val="64748B"/>
                </a:solidFill>
                <a:latin typeface="DM Sans"/>
              </a:rPr>
              <a:t>Cancel: nothing recorded</a:t>
            </a:r>
          </a:p>
        </p:txBody>
      </p:sp>
      <p:sp>
        <p:nvSpPr>
          <p:cNvPr id="27" name="TextBox 26"/>
          <p:cNvSpPr txBox="1"/>
          <p:nvPr/>
        </p:nvSpPr>
        <p:spPr>
          <a:xfrm>
            <a:off x="9052560" y="2852928"/>
            <a:ext cx="2423160" cy="274320"/>
          </a:xfrm>
          <a:prstGeom prst="rect">
            <a:avLst/>
          </a:prstGeom>
          <a:noFill/>
        </p:spPr>
        <p:txBody>
          <a:bodyPr wrap="square" lIns="0" tIns="0" rIns="0" bIns="0" anchor="t">
            <a:noAutofit/>
          </a:bodyPr>
          <a:lstStyle/>
          <a:p>
            <a:pPr marL="0" indent="0" algn="r">
              <a:lnSpc>
                <a:spcPct val="110000"/>
              </a:lnSpc>
              <a:spcBef>
                <a:spcPts val="0"/>
              </a:spcBef>
              <a:spcAft>
                <a:spcPts val="0"/>
              </a:spcAft>
              <a:buNone/>
            </a:pPr>
            <a:r>
              <a:rPr sz="861" b="0" i="1">
                <a:solidFill>
                  <a:srgbClr val="64748B"/>
                </a:solidFill>
                <a:latin typeface="DM Sans"/>
              </a:rPr>
              <a:t>Recording or tracking gaps are shown in review</a:t>
            </a:r>
          </a:p>
        </p:txBody>
      </p:sp>
      <p:sp>
        <p:nvSpPr>
          <p:cNvPr id="28" name="Card (gray)"/>
          <p:cNvSpPr/>
          <p:nvPr/>
        </p:nvSpPr>
        <p:spPr>
          <a:xfrm>
            <a:off x="530352" y="3493008"/>
            <a:ext cx="3566160" cy="2103120"/>
          </a:xfrm>
          <a:prstGeom prst="roundRect">
            <a:avLst>
              <a:gd name="adj" fmla="val 3478"/>
            </a:avLst>
          </a:prstGeom>
          <a:solidFill>
            <a:srgbClr val="F8FAFC"/>
          </a:solidFill>
          <a:ln w="9525">
            <a:solidFill>
              <a:srgbClr val="E2E8F0"/>
            </a:solidFill>
          </a:ln>
        </p:spPr>
        <p:txBody>
          <a:bodyPr rtlCol="0" anchor="ctr"/>
          <a:lstStyle/>
          <a:p>
            <a:pPr algn="ctr"/>
            <a:endParaRPr/>
          </a:p>
        </p:txBody>
      </p:sp>
      <p:pic>
        <p:nvPicPr>
          <p:cNvPr id="29" name="Icon" descr="image.png"/>
          <p:cNvPicPr>
            <a:picLocks noChangeAspect="1"/>
          </p:cNvPicPr>
          <p:nvPr/>
        </p:nvPicPr>
        <p:blipFill>
          <a:blip r:embed="rId7"/>
          <a:stretch>
            <a:fillRect/>
          </a:stretch>
        </p:blipFill>
        <p:spPr>
          <a:xfrm>
            <a:off x="749808" y="3712464"/>
            <a:ext cx="155448" cy="155448"/>
          </a:xfrm>
          <a:prstGeom prst="rect">
            <a:avLst/>
          </a:prstGeom>
        </p:spPr>
      </p:pic>
      <p:sp>
        <p:nvSpPr>
          <p:cNvPr id="30" name="Card header"/>
          <p:cNvSpPr txBox="1"/>
          <p:nvPr/>
        </p:nvSpPr>
        <p:spPr>
          <a:xfrm>
            <a:off x="1005840" y="3694176"/>
            <a:ext cx="2926080" cy="192024"/>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25" b="1" i="0">
                <a:solidFill>
                  <a:srgbClr val="0F172A"/>
                </a:solidFill>
                <a:latin typeface="DM Sans"/>
              </a:rPr>
              <a:t>Core hardware</a:t>
            </a:r>
          </a:p>
        </p:txBody>
      </p:sp>
      <p:sp>
        <p:nvSpPr>
          <p:cNvPr id="31" name="TextBox 30"/>
          <p:cNvSpPr txBox="1"/>
          <p:nvPr/>
        </p:nvSpPr>
        <p:spPr>
          <a:xfrm>
            <a:off x="749808" y="4005072"/>
            <a:ext cx="3127248" cy="1417320"/>
          </a:xfrm>
          <a:prstGeom prst="rect">
            <a:avLst/>
          </a:prstGeom>
          <a:noFill/>
        </p:spPr>
        <p:txBody>
          <a:bodyPr wrap="square" lIns="0" tIns="0" rIns="0" bIns="0" anchor="t">
            <a:noAutofit/>
          </a:bodyPr>
          <a:lstStyle/>
          <a:p>
            <a:pPr marL="0" indent="0" algn="l">
              <a:lnSpc>
                <a:spcPct val="145000"/>
              </a:lnSpc>
              <a:spcBef>
                <a:spcPts val="0"/>
              </a:spcBef>
              <a:spcAft>
                <a:spcPts val="500"/>
              </a:spcAft>
              <a:buNone/>
            </a:pPr>
            <a:r>
              <a:rPr sz="936" b="1" i="0">
                <a:solidFill>
                  <a:srgbClr val="334155"/>
                </a:solidFill>
                <a:latin typeface="DM Sans"/>
              </a:rPr>
              <a:t>Head-worn: </a:t>
            </a:r>
            <a:r>
              <a:rPr sz="936" b="0" i="0">
                <a:solidFill>
                  <a:srgbClr val="334155"/>
                </a:solidFill>
                <a:latin typeface="DM Sans"/>
              </a:rPr>
              <a:t>eye-facing tracker; outward scene camera; monocular near-eye display; tactile confirm and cancel controls; microphone and speaker for later expansion.</a:t>
            </a:r>
          </a:p>
          <a:p>
            <a:pPr marL="0" indent="0" algn="l">
              <a:lnSpc>
                <a:spcPct val="145000"/>
              </a:lnSpc>
              <a:spcBef>
                <a:spcPts val="0"/>
              </a:spcBef>
              <a:spcAft>
                <a:spcPts val="0"/>
              </a:spcAft>
              <a:buNone/>
            </a:pPr>
            <a:r>
              <a:rPr sz="936" b="1" i="0">
                <a:solidFill>
                  <a:srgbClr val="334155"/>
                </a:solidFill>
                <a:latin typeface="DM Sans"/>
              </a:rPr>
              <a:t>Body-worn: </a:t>
            </a:r>
            <a:r>
              <a:rPr sz="936" b="0" i="0">
                <a:solidFill>
                  <a:srgbClr val="334155"/>
                </a:solidFill>
                <a:latin typeface="DM Sans"/>
              </a:rPr>
              <a:t>local pocket compute and protected battery.</a:t>
            </a:r>
          </a:p>
        </p:txBody>
      </p:sp>
      <p:sp>
        <p:nvSpPr>
          <p:cNvPr id="32" name="Card (gray)"/>
          <p:cNvSpPr/>
          <p:nvPr/>
        </p:nvSpPr>
        <p:spPr>
          <a:xfrm>
            <a:off x="4315968" y="3493008"/>
            <a:ext cx="3566160" cy="2103120"/>
          </a:xfrm>
          <a:prstGeom prst="roundRect">
            <a:avLst>
              <a:gd name="adj" fmla="val 3478"/>
            </a:avLst>
          </a:prstGeom>
          <a:solidFill>
            <a:srgbClr val="F8FAFC"/>
          </a:solidFill>
          <a:ln w="9525">
            <a:solidFill>
              <a:srgbClr val="E2E8F0"/>
            </a:solidFill>
          </a:ln>
        </p:spPr>
        <p:txBody>
          <a:bodyPr rtlCol="0" anchor="ctr"/>
          <a:lstStyle/>
          <a:p>
            <a:pPr algn="ctr"/>
            <a:endParaRPr/>
          </a:p>
        </p:txBody>
      </p:sp>
      <p:pic>
        <p:nvPicPr>
          <p:cNvPr id="33" name="Icon" descr="image.png"/>
          <p:cNvPicPr>
            <a:picLocks noChangeAspect="1"/>
          </p:cNvPicPr>
          <p:nvPr/>
        </p:nvPicPr>
        <p:blipFill>
          <a:blip r:embed="rId6"/>
          <a:stretch>
            <a:fillRect/>
          </a:stretch>
        </p:blipFill>
        <p:spPr>
          <a:xfrm>
            <a:off x="4535424" y="3712464"/>
            <a:ext cx="155448" cy="155448"/>
          </a:xfrm>
          <a:prstGeom prst="rect">
            <a:avLst/>
          </a:prstGeom>
        </p:spPr>
      </p:pic>
      <p:sp>
        <p:nvSpPr>
          <p:cNvPr id="34" name="Card header"/>
          <p:cNvSpPr txBox="1"/>
          <p:nvPr/>
        </p:nvSpPr>
        <p:spPr>
          <a:xfrm>
            <a:off x="4791456" y="3694176"/>
            <a:ext cx="2926080" cy="192024"/>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25" b="1" i="0">
                <a:solidFill>
                  <a:srgbClr val="0F172A"/>
                </a:solidFill>
                <a:latin typeface="DM Sans"/>
              </a:rPr>
              <a:t>Core logic</a:t>
            </a:r>
          </a:p>
        </p:txBody>
      </p:sp>
      <p:sp>
        <p:nvSpPr>
          <p:cNvPr id="35" name="TextBox 34"/>
          <p:cNvSpPr txBox="1"/>
          <p:nvPr/>
        </p:nvSpPr>
        <p:spPr>
          <a:xfrm>
            <a:off x="4535424" y="4005072"/>
            <a:ext cx="3127248" cy="1417320"/>
          </a:xfrm>
          <a:prstGeom prst="rect">
            <a:avLst/>
          </a:prstGeom>
          <a:noFill/>
        </p:spPr>
        <p:txBody>
          <a:bodyPr wrap="square" lIns="0" tIns="0" rIns="0" bIns="0" anchor="t">
            <a:noAutofit/>
          </a:bodyPr>
          <a:lstStyle/>
          <a:p>
            <a:pPr marL="0" indent="0" algn="l">
              <a:lnSpc>
                <a:spcPct val="145000"/>
              </a:lnSpc>
              <a:spcBef>
                <a:spcPts val="0"/>
              </a:spcBef>
              <a:spcAft>
                <a:spcPts val="400"/>
              </a:spcAft>
              <a:buNone/>
            </a:pPr>
            <a:r>
              <a:rPr sz="936" b="1" i="0">
                <a:solidFill>
                  <a:srgbClr val="334155"/>
                </a:solidFill>
                <a:latin typeface="DM Sans"/>
              </a:rPr>
              <a:t>Calibrate </a:t>
            </a:r>
            <a:r>
              <a:rPr sz="936" b="0" i="0">
                <a:solidFill>
                  <a:srgbClr val="334155"/>
                </a:solidFill>
                <a:latin typeface="DM Sans"/>
              </a:rPr>
              <a:t>gaze into the scene view. Estimate the candidate item and confidence. Show a restrained highlight. Require physical confirmation. Open the approved step.</a:t>
            </a:r>
          </a:p>
          <a:p>
            <a:pPr marL="0" indent="0" algn="l">
              <a:lnSpc>
                <a:spcPct val="145000"/>
              </a:lnSpc>
              <a:spcBef>
                <a:spcPts val="0"/>
              </a:spcBef>
              <a:spcAft>
                <a:spcPts val="0"/>
              </a:spcAft>
              <a:buNone/>
            </a:pPr>
            <a:r>
              <a:rPr sz="936" b="1" i="0">
                <a:solidFill>
                  <a:srgbClr val="334155"/>
                </a:solidFill>
                <a:latin typeface="DM Sans"/>
              </a:rPr>
              <a:t>Record </a:t>
            </a:r>
            <a:r>
              <a:rPr sz="936" b="0" i="0">
                <a:solidFill>
                  <a:srgbClr val="334155"/>
                </a:solidFill>
                <a:latin typeface="DM Sans"/>
              </a:rPr>
              <a:t>source timestamps, item ID, prompt version, confirmation and event media. Display any recording or tracking gaps during review.</a:t>
            </a:r>
          </a:p>
        </p:txBody>
      </p:sp>
      <p:sp>
        <p:nvSpPr>
          <p:cNvPr id="36" name="Card (green)"/>
          <p:cNvSpPr/>
          <p:nvPr/>
        </p:nvSpPr>
        <p:spPr>
          <a:xfrm>
            <a:off x="8092440" y="3493008"/>
            <a:ext cx="3566160" cy="2103120"/>
          </a:xfrm>
          <a:prstGeom prst="roundRect">
            <a:avLst>
              <a:gd name="adj" fmla="val 3478"/>
            </a:avLst>
          </a:prstGeom>
          <a:solidFill>
            <a:srgbClr val="F0FDF4"/>
          </a:solidFill>
          <a:ln w="9525">
            <a:solidFill>
              <a:srgbClr val="BBF7D0"/>
            </a:solidFill>
          </a:ln>
        </p:spPr>
        <p:txBody>
          <a:bodyPr rtlCol="0" anchor="ctr"/>
          <a:lstStyle/>
          <a:p>
            <a:pPr algn="ctr"/>
            <a:endParaRPr/>
          </a:p>
        </p:txBody>
      </p:sp>
      <p:pic>
        <p:nvPicPr>
          <p:cNvPr id="37" name="Icon" descr="image.png"/>
          <p:cNvPicPr>
            <a:picLocks noChangeAspect="1"/>
          </p:cNvPicPr>
          <p:nvPr/>
        </p:nvPicPr>
        <p:blipFill>
          <a:blip r:embed="rId8"/>
          <a:stretch>
            <a:fillRect/>
          </a:stretch>
        </p:blipFill>
        <p:spPr>
          <a:xfrm>
            <a:off x="8311896" y="3712464"/>
            <a:ext cx="155448" cy="155448"/>
          </a:xfrm>
          <a:prstGeom prst="rect">
            <a:avLst/>
          </a:prstGeom>
        </p:spPr>
      </p:pic>
      <p:sp>
        <p:nvSpPr>
          <p:cNvPr id="38" name="Card header"/>
          <p:cNvSpPr txBox="1"/>
          <p:nvPr/>
        </p:nvSpPr>
        <p:spPr>
          <a:xfrm>
            <a:off x="8567928" y="3694176"/>
            <a:ext cx="2926080" cy="192024"/>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25" b="1" i="0">
                <a:solidFill>
                  <a:srgbClr val="0F172A"/>
                </a:solidFill>
                <a:latin typeface="DM Sans"/>
              </a:rPr>
              <a:t>Boundary</a:t>
            </a:r>
          </a:p>
        </p:txBody>
      </p:sp>
      <p:sp>
        <p:nvSpPr>
          <p:cNvPr id="39" name="TextBox 38"/>
          <p:cNvSpPr txBox="1"/>
          <p:nvPr/>
        </p:nvSpPr>
        <p:spPr>
          <a:xfrm>
            <a:off x="8311896" y="4005072"/>
            <a:ext cx="3127248" cy="1417320"/>
          </a:xfrm>
          <a:prstGeom prst="rect">
            <a:avLst/>
          </a:prstGeom>
          <a:noFill/>
        </p:spPr>
        <p:txBody>
          <a:bodyPr wrap="square" lIns="0" tIns="0" rIns="0" bIns="0" anchor="t">
            <a:noAutofit/>
          </a:bodyPr>
          <a:lstStyle/>
          <a:p>
            <a:pPr marL="0" indent="0" algn="l">
              <a:lnSpc>
                <a:spcPct val="145000"/>
              </a:lnSpc>
              <a:spcBef>
                <a:spcPts val="0"/>
              </a:spcBef>
              <a:spcAft>
                <a:spcPts val="600"/>
              </a:spcAft>
              <a:buNone/>
            </a:pPr>
            <a:r>
              <a:rPr sz="1011" b="1" i="0">
                <a:solidFill>
                  <a:srgbClr val="334155"/>
                </a:solidFill>
                <a:latin typeface="DM Sans"/>
              </a:rPr>
              <a:t>Gaze alone never completes a check.</a:t>
            </a:r>
          </a:p>
          <a:p>
            <a:pPr marL="0" indent="0" algn="l">
              <a:lnSpc>
                <a:spcPct val="145000"/>
              </a:lnSpc>
              <a:spcBef>
                <a:spcPts val="0"/>
              </a:spcBef>
              <a:spcAft>
                <a:spcPts val="0"/>
              </a:spcAft>
              <a:buNone/>
            </a:pPr>
            <a:r>
              <a:rPr sz="1011" b="0" i="0">
                <a:solidFill>
                  <a:srgbClr val="334155"/>
                </a:solidFill>
                <a:latin typeface="DM Sans"/>
              </a:rPr>
              <a:t>The system cannot certify equipment condition. The person inspecting the item remains responsible.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3"/>
          <a:stretch>
            <a:fillRect/>
          </a:stretch>
        </p:blipFill>
        <p:spPr>
          <a:xfrm>
            <a:off x="0" y="0"/>
            <a:ext cx="12191695" cy="6858000"/>
          </a:xfrm>
          <a:prstGeom prst="rect">
            <a:avLst/>
          </a:prstGeom>
        </p:spPr>
      </p:pic>
      <p:pic>
        <p:nvPicPr>
          <p:cNvPr id="3" name="Logo Vishwakarma" descr="image.png"/>
          <p:cNvPicPr>
            <a:picLocks noChangeAspect="1"/>
          </p:cNvPicPr>
          <p:nvPr/>
        </p:nvPicPr>
        <p:blipFill>
          <a:blip r:embed="rId4"/>
          <a:srcRect l="14673" t="33074" r="15820" b="44466"/>
          <a:stretch>
            <a:fillRect/>
          </a:stretch>
        </p:blipFill>
        <p:spPr>
          <a:xfrm>
            <a:off x="0" y="6281928"/>
            <a:ext cx="1783080" cy="576072"/>
          </a:xfrm>
          <a:prstGeom prst="rect">
            <a:avLst/>
          </a:prstGeom>
        </p:spPr>
      </p:pic>
      <p:pic>
        <p:nvPicPr>
          <p:cNvPr id="4" name="Logo Maker Bhavan" descr="image.png"/>
          <p:cNvPicPr>
            <a:picLocks noChangeAspect="1"/>
          </p:cNvPicPr>
          <p:nvPr/>
        </p:nvPicPr>
        <p:blipFill>
          <a:blip r:embed="rId5"/>
          <a:stretch>
            <a:fillRect/>
          </a:stretch>
        </p:blipFill>
        <p:spPr>
          <a:xfrm>
            <a:off x="11091672" y="6281928"/>
            <a:ext cx="1097280" cy="576072"/>
          </a:xfrm>
          <a:prstGeom prst="rect">
            <a:avLst/>
          </a:prstGeom>
        </p:spPr>
      </p:pic>
      <p:sp>
        <p:nvSpPr>
          <p:cNvPr id="5" name="Title"/>
          <p:cNvSpPr txBox="1"/>
          <p:nvPr/>
        </p:nvSpPr>
        <p:spPr>
          <a:xfrm>
            <a:off x="530352" y="438912"/>
            <a:ext cx="11128248" cy="310896"/>
          </a:xfrm>
          <a:prstGeom prst="rect">
            <a:avLst/>
          </a:prstGeom>
          <a:noFill/>
        </p:spPr>
        <p:txBody>
          <a:bodyPr wrap="square" lIns="0" tIns="0" rIns="0" bIns="0" anchor="ctr">
            <a:noAutofit/>
          </a:bodyPr>
          <a:lstStyle/>
          <a:p>
            <a:pPr marL="0" indent="0" algn="l">
              <a:lnSpc>
                <a:spcPct val="120000"/>
              </a:lnSpc>
              <a:spcBef>
                <a:spcPts val="0"/>
              </a:spcBef>
              <a:spcAft>
                <a:spcPts val="0"/>
              </a:spcAft>
              <a:buNone/>
            </a:pPr>
            <a:r>
              <a:rPr sz="2025" b="1" i="0">
                <a:solidFill>
                  <a:srgbClr val="0F172A"/>
                </a:solidFill>
                <a:latin typeface="Poppins SemiBold"/>
              </a:rPr>
              <a:t>First Prototype Interaction: One Complete Loop</a:t>
            </a:r>
          </a:p>
        </p:txBody>
      </p:sp>
      <p:sp>
        <p:nvSpPr>
          <p:cNvPr id="6" name="Footer"/>
          <p:cNvSpPr txBox="1"/>
          <p:nvPr/>
        </p:nvSpPr>
        <p:spPr>
          <a:xfrm>
            <a:off x="3840480" y="6455664"/>
            <a:ext cx="4507992" cy="164592"/>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861" b="0" i="0">
                <a:solidFill>
                  <a:srgbClr val="64748B"/>
                </a:solidFill>
                <a:latin typeface="DM Sans"/>
              </a:rPr>
              <a:t>VK26-AU-HCI-0032  ·  HCI 2.0  ·  6 / 16</a:t>
            </a:r>
          </a:p>
        </p:txBody>
      </p:sp>
      <p:pic>
        <p:nvPicPr>
          <p:cNvPr id="7" name="Wearer view (AI-generated)" descr="AI-generated illustration: first-person view into a relief-kit case, first-aid pouch highlighted in amber, Confirm item and Cancel buttons shown"/>
          <p:cNvPicPr>
            <a:picLocks noChangeAspect="1"/>
          </p:cNvPicPr>
          <p:nvPr/>
        </p:nvPicPr>
        <p:blipFill>
          <a:blip r:embed="rId6"/>
          <a:stretch>
            <a:fillRect/>
          </a:stretch>
        </p:blipFill>
        <p:spPr>
          <a:xfrm>
            <a:off x="530352" y="960120"/>
            <a:ext cx="5431536" cy="3054096"/>
          </a:xfrm>
          <a:prstGeom prst="roundRect">
            <a:avLst>
              <a:gd name="adj" fmla="val 2095"/>
            </a:avLst>
          </a:prstGeom>
          <a:ln w="9525">
            <a:solidFill>
              <a:srgbClr val="CBD5E1"/>
            </a:solidFill>
          </a:ln>
        </p:spPr>
      </p:pic>
      <p:sp>
        <p:nvSpPr>
          <p:cNvPr id="8" name="Caption"/>
          <p:cNvSpPr txBox="1"/>
          <p:nvPr/>
        </p:nvSpPr>
        <p:spPr>
          <a:xfrm>
            <a:off x="530352" y="4059936"/>
            <a:ext cx="5431536" cy="155448"/>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lang="en-US" sz="861" b="0" i="1" dirty="0">
                <a:solidFill>
                  <a:srgbClr val="64748B"/>
                </a:solidFill>
                <a:latin typeface="DM Sans"/>
              </a:rPr>
              <a:t>AI Generated </a:t>
            </a:r>
            <a:r>
              <a:rPr sz="861" b="0" i="1" dirty="0">
                <a:solidFill>
                  <a:srgbClr val="64748B"/>
                </a:solidFill>
                <a:latin typeface="DM Sans"/>
              </a:rPr>
              <a:t>Illustrative wearer view; highlight is a candidate, not a completed check.</a:t>
            </a:r>
          </a:p>
        </p:txBody>
      </p:sp>
      <p:sp>
        <p:nvSpPr>
          <p:cNvPr id="9" name="Card (gray)"/>
          <p:cNvSpPr/>
          <p:nvPr/>
        </p:nvSpPr>
        <p:spPr>
          <a:xfrm>
            <a:off x="530352" y="4370832"/>
            <a:ext cx="2651760" cy="1188720"/>
          </a:xfrm>
          <a:prstGeom prst="roundRect">
            <a:avLst>
              <a:gd name="adj" fmla="val 6153"/>
            </a:avLst>
          </a:prstGeom>
          <a:solidFill>
            <a:srgbClr val="F8FAFC"/>
          </a:solidFill>
          <a:ln w="9525">
            <a:solidFill>
              <a:srgbClr val="E2E8F0"/>
            </a:solidFill>
          </a:ln>
        </p:spPr>
        <p:txBody>
          <a:bodyPr rtlCol="0" anchor="ctr"/>
          <a:lstStyle/>
          <a:p>
            <a:pPr algn="ctr"/>
            <a:endParaRPr/>
          </a:p>
        </p:txBody>
      </p:sp>
      <p:sp>
        <p:nvSpPr>
          <p:cNvPr id="10" name="TextBox 9"/>
          <p:cNvSpPr txBox="1"/>
          <p:nvPr/>
        </p:nvSpPr>
        <p:spPr>
          <a:xfrm>
            <a:off x="694944" y="4480560"/>
            <a:ext cx="2331720" cy="1051560"/>
          </a:xfrm>
          <a:prstGeom prst="rect">
            <a:avLst/>
          </a:prstGeom>
          <a:noFill/>
        </p:spPr>
        <p:txBody>
          <a:bodyPr wrap="square" lIns="0" tIns="0" rIns="0" bIns="0" anchor="t">
            <a:noAutofit/>
          </a:bodyPr>
          <a:lstStyle/>
          <a:p>
            <a:pPr marL="0" indent="0" algn="l">
              <a:lnSpc>
                <a:spcPct val="100000"/>
              </a:lnSpc>
              <a:spcBef>
                <a:spcPts val="0"/>
              </a:spcBef>
              <a:spcAft>
                <a:spcPts val="500"/>
              </a:spcAft>
              <a:buNone/>
            </a:pPr>
            <a:r>
              <a:rPr sz="1125" b="1" i="0">
                <a:solidFill>
                  <a:srgbClr val="0F172A"/>
                </a:solidFill>
                <a:latin typeface="DM Sans"/>
              </a:rPr>
              <a:t>Demo item</a:t>
            </a:r>
          </a:p>
          <a:p>
            <a:pPr marL="0" indent="0" algn="l">
              <a:lnSpc>
                <a:spcPct val="130000"/>
              </a:lnSpc>
              <a:spcBef>
                <a:spcPts val="0"/>
              </a:spcBef>
              <a:spcAft>
                <a:spcPts val="0"/>
              </a:spcAft>
              <a:buNone/>
            </a:pPr>
            <a:r>
              <a:rPr sz="936" b="1" i="0">
                <a:solidFill>
                  <a:srgbClr val="334155"/>
                </a:solidFill>
                <a:latin typeface="DM Sans"/>
              </a:rPr>
              <a:t>First-aid pouch within a relief kit. </a:t>
            </a:r>
            <a:r>
              <a:rPr sz="936" b="0" i="0">
                <a:solidFill>
                  <a:srgbClr val="334155"/>
                </a:solidFill>
                <a:latin typeface="DM Sans"/>
              </a:rPr>
              <a:t>No live casualty, classified scene or unsupervised deployment in the first demonstration.</a:t>
            </a:r>
          </a:p>
        </p:txBody>
      </p:sp>
      <p:sp>
        <p:nvSpPr>
          <p:cNvPr id="11" name="Card (gray)"/>
          <p:cNvSpPr/>
          <p:nvPr/>
        </p:nvSpPr>
        <p:spPr>
          <a:xfrm>
            <a:off x="3310128" y="4370832"/>
            <a:ext cx="2651760" cy="1188720"/>
          </a:xfrm>
          <a:prstGeom prst="roundRect">
            <a:avLst>
              <a:gd name="adj" fmla="val 6153"/>
            </a:avLst>
          </a:prstGeom>
          <a:solidFill>
            <a:srgbClr val="F8FAFC"/>
          </a:solidFill>
          <a:ln w="9525">
            <a:solidFill>
              <a:srgbClr val="E2E8F0"/>
            </a:solidFill>
          </a:ln>
        </p:spPr>
        <p:txBody>
          <a:bodyPr rtlCol="0" anchor="ctr"/>
          <a:lstStyle/>
          <a:p>
            <a:pPr algn="ctr"/>
            <a:endParaRPr/>
          </a:p>
        </p:txBody>
      </p:sp>
      <p:pic>
        <p:nvPicPr>
          <p:cNvPr id="12" name="Debrief concept (AI-generated)" descr="AI-generated illustration of an instructor and trainee reviewing a paused first-person kit video with event markers on a laptop"/>
          <p:cNvPicPr>
            <a:picLocks noChangeAspect="1"/>
          </p:cNvPicPr>
          <p:nvPr/>
        </p:nvPicPr>
        <p:blipFill>
          <a:blip r:embed="rId7"/>
          <a:srcRect t="17000" b="25900"/>
          <a:stretch>
            <a:fillRect/>
          </a:stretch>
        </p:blipFill>
        <p:spPr>
          <a:xfrm>
            <a:off x="3383280" y="4443984"/>
            <a:ext cx="2505456" cy="804672"/>
          </a:xfrm>
          <a:prstGeom prst="roundRect">
            <a:avLst>
              <a:gd name="adj" fmla="val 7954"/>
            </a:avLst>
          </a:prstGeom>
          <a:ln w="9525">
            <a:solidFill>
              <a:srgbClr val="CBD5E1"/>
            </a:solidFill>
          </a:ln>
        </p:spPr>
      </p:pic>
      <p:sp>
        <p:nvSpPr>
          <p:cNvPr id="13" name="Caption"/>
          <p:cNvSpPr txBox="1"/>
          <p:nvPr/>
        </p:nvSpPr>
        <p:spPr>
          <a:xfrm>
            <a:off x="3383280" y="5321808"/>
            <a:ext cx="2505456" cy="155448"/>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861" b="0" i="1">
                <a:solidFill>
                  <a:srgbClr val="64748B"/>
                </a:solidFill>
                <a:latin typeface="DM Sans"/>
              </a:rPr>
              <a:t>Review step: illustrative debrief concept.</a:t>
            </a:r>
          </a:p>
        </p:txBody>
      </p:sp>
      <p:sp>
        <p:nvSpPr>
          <p:cNvPr id="14" name="Card (green)"/>
          <p:cNvSpPr/>
          <p:nvPr/>
        </p:nvSpPr>
        <p:spPr>
          <a:xfrm>
            <a:off x="6227064" y="960120"/>
            <a:ext cx="5431536" cy="4572000"/>
          </a:xfrm>
          <a:prstGeom prst="roundRect">
            <a:avLst>
              <a:gd name="adj" fmla="val 1600"/>
            </a:avLst>
          </a:prstGeom>
          <a:solidFill>
            <a:srgbClr val="F0FDF4"/>
          </a:solidFill>
          <a:ln w="9525">
            <a:solidFill>
              <a:srgbClr val="BBF7D0"/>
            </a:solidFill>
          </a:ln>
        </p:spPr>
        <p:txBody>
          <a:bodyPr rtlCol="0" anchor="ctr"/>
          <a:lstStyle/>
          <a:p>
            <a:pPr algn="ctr"/>
            <a:endParaRPr/>
          </a:p>
        </p:txBody>
      </p:sp>
      <p:pic>
        <p:nvPicPr>
          <p:cNvPr id="15" name="Icon" descr="image.png"/>
          <p:cNvPicPr>
            <a:picLocks noChangeAspect="1"/>
          </p:cNvPicPr>
          <p:nvPr/>
        </p:nvPicPr>
        <p:blipFill>
          <a:blip r:embed="rId8"/>
          <a:stretch>
            <a:fillRect/>
          </a:stretch>
        </p:blipFill>
        <p:spPr>
          <a:xfrm>
            <a:off x="6446520" y="1179576"/>
            <a:ext cx="155448" cy="155448"/>
          </a:xfrm>
          <a:prstGeom prst="rect">
            <a:avLst/>
          </a:prstGeom>
        </p:spPr>
      </p:pic>
      <p:sp>
        <p:nvSpPr>
          <p:cNvPr id="16" name="Card header"/>
          <p:cNvSpPr txBox="1"/>
          <p:nvPr/>
        </p:nvSpPr>
        <p:spPr>
          <a:xfrm>
            <a:off x="6702552" y="1161288"/>
            <a:ext cx="4114800" cy="192024"/>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25" b="1" i="0">
                <a:solidFill>
                  <a:srgbClr val="0F172A"/>
                </a:solidFill>
                <a:latin typeface="DM Sans"/>
              </a:rPr>
              <a:t>One loop, five steps</a:t>
            </a:r>
          </a:p>
        </p:txBody>
      </p:sp>
      <p:sp>
        <p:nvSpPr>
          <p:cNvPr id="17" name="Loop steps"/>
          <p:cNvSpPr txBox="1"/>
          <p:nvPr/>
        </p:nvSpPr>
        <p:spPr>
          <a:xfrm>
            <a:off x="6464808" y="1527048"/>
            <a:ext cx="4800600" cy="3840480"/>
          </a:xfrm>
          <a:prstGeom prst="rect">
            <a:avLst/>
          </a:prstGeom>
          <a:noFill/>
        </p:spPr>
        <p:txBody>
          <a:bodyPr wrap="square" lIns="0" tIns="0" rIns="0" bIns="0" anchor="t">
            <a:noAutofit/>
          </a:bodyPr>
          <a:lstStyle/>
          <a:p>
            <a:pPr marL="237744" indent="-237744" algn="l">
              <a:lnSpc>
                <a:spcPct val="145000"/>
              </a:lnSpc>
              <a:spcBef>
                <a:spcPts val="0"/>
              </a:spcBef>
              <a:spcAft>
                <a:spcPts val="1500"/>
              </a:spcAft>
              <a:buClr>
                <a:srgbClr val="059669"/>
              </a:buClr>
              <a:buFont typeface="DM Sans"/>
              <a:buAutoNum type="arabicPeriod"/>
            </a:pPr>
            <a:r>
              <a:rPr sz="1011" b="1" i="0">
                <a:solidFill>
                  <a:srgbClr val="334155"/>
                </a:solidFill>
                <a:latin typeface="DM Sans"/>
              </a:rPr>
              <a:t>Prepare: </a:t>
            </a:r>
            <a:r>
              <a:rPr sz="1011" b="0" i="0">
                <a:solidFill>
                  <a:srgbClr val="334155"/>
                </a:solidFill>
                <a:latin typeface="DM Sans"/>
              </a:rPr>
              <a:t>Instructor approves one kit, item list and checklist. Trainee starts a consented indoor session.</a:t>
            </a:r>
          </a:p>
          <a:p>
            <a:pPr marL="237744" indent="-237744" algn="l">
              <a:lnSpc>
                <a:spcPct val="145000"/>
              </a:lnSpc>
              <a:spcBef>
                <a:spcPts val="0"/>
              </a:spcBef>
              <a:spcAft>
                <a:spcPts val="1500"/>
              </a:spcAft>
              <a:buClr>
                <a:srgbClr val="059669"/>
              </a:buClr>
              <a:buFont typeface="DM Sans"/>
              <a:buAutoNum type="arabicPeriod"/>
            </a:pPr>
            <a:r>
              <a:rPr sz="1011" b="1" i="0">
                <a:solidFill>
                  <a:srgbClr val="334155"/>
                </a:solidFill>
                <a:latin typeface="DM Sans"/>
              </a:rPr>
              <a:t>Calibrate: </a:t>
            </a:r>
            <a:r>
              <a:rPr sz="1011" b="0" i="0">
                <a:solidFill>
                  <a:srgbClr val="334155"/>
                </a:solidFill>
                <a:latin typeface="DM Sans"/>
              </a:rPr>
              <a:t>System maps gaze to the scene camera and fails closed if quality is inadequate.</a:t>
            </a:r>
          </a:p>
          <a:p>
            <a:pPr marL="237744" indent="-237744" algn="l">
              <a:lnSpc>
                <a:spcPct val="145000"/>
              </a:lnSpc>
              <a:spcBef>
                <a:spcPts val="0"/>
              </a:spcBef>
              <a:spcAft>
                <a:spcPts val="1500"/>
              </a:spcAft>
              <a:buClr>
                <a:srgbClr val="059669"/>
              </a:buClr>
              <a:buFont typeface="DM Sans"/>
              <a:buAutoNum type="arabicPeriod"/>
            </a:pPr>
            <a:r>
              <a:rPr sz="1011" b="1" i="0">
                <a:solidFill>
                  <a:srgbClr val="334155"/>
                </a:solidFill>
                <a:latin typeface="DM Sans"/>
              </a:rPr>
              <a:t>Look and confirm: </a:t>
            </a:r>
            <a:r>
              <a:rPr sz="1011" b="0" i="0">
                <a:solidFill>
                  <a:srgbClr val="334155"/>
                </a:solidFill>
                <a:latin typeface="DM Sans"/>
              </a:rPr>
              <a:t>Candidate item is highlighted; the trainee presses confirm or cancel.</a:t>
            </a:r>
          </a:p>
          <a:p>
            <a:pPr marL="237744" indent="-237744" algn="l">
              <a:lnSpc>
                <a:spcPct val="145000"/>
              </a:lnSpc>
              <a:spcBef>
                <a:spcPts val="0"/>
              </a:spcBef>
              <a:spcAft>
                <a:spcPts val="1500"/>
              </a:spcAft>
              <a:buClr>
                <a:srgbClr val="059669"/>
              </a:buClr>
              <a:buFont typeface="DM Sans"/>
              <a:buAutoNum type="arabicPeriod"/>
            </a:pPr>
            <a:r>
              <a:rPr sz="1011" b="1" i="0">
                <a:solidFill>
                  <a:srgbClr val="334155"/>
                </a:solidFill>
                <a:latin typeface="DM Sans"/>
              </a:rPr>
              <a:t>Check: </a:t>
            </a:r>
            <a:r>
              <a:rPr sz="1011" b="0" i="0">
                <a:solidFill>
                  <a:srgbClr val="334155"/>
                </a:solidFill>
                <a:latin typeface="DM Sans"/>
              </a:rPr>
              <a:t>One short instruction appears. The trainee performs the physical inspection and explicitly records completion.</a:t>
            </a:r>
          </a:p>
          <a:p>
            <a:pPr marL="237744" indent="-237744" algn="l">
              <a:lnSpc>
                <a:spcPct val="145000"/>
              </a:lnSpc>
              <a:spcBef>
                <a:spcPts val="0"/>
              </a:spcBef>
              <a:spcAft>
                <a:spcPts val="1500"/>
              </a:spcAft>
              <a:buClr>
                <a:srgbClr val="059669"/>
              </a:buClr>
              <a:buFont typeface="DM Sans"/>
              <a:buAutoNum type="arabicPeriod"/>
            </a:pPr>
            <a:r>
              <a:rPr sz="1011" b="1" i="0">
                <a:solidFill>
                  <a:srgbClr val="334155"/>
                </a:solidFill>
                <a:latin typeface="DM Sans"/>
              </a:rPr>
              <a:t>Review: </a:t>
            </a:r>
            <a:r>
              <a:rPr sz="1011" b="0" i="0">
                <a:solidFill>
                  <a:srgbClr val="334155"/>
                </a:solidFill>
                <a:latin typeface="DM Sans"/>
              </a:rPr>
              <a:t>The instructor selects the check and replays its linked clip with the trainee.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3"/>
          <a:stretch>
            <a:fillRect/>
          </a:stretch>
        </p:blipFill>
        <p:spPr>
          <a:xfrm>
            <a:off x="0" y="0"/>
            <a:ext cx="12191695" cy="6858000"/>
          </a:xfrm>
          <a:prstGeom prst="rect">
            <a:avLst/>
          </a:prstGeom>
        </p:spPr>
      </p:pic>
      <p:pic>
        <p:nvPicPr>
          <p:cNvPr id="3" name="Logo Vishwakarma" descr="image.png"/>
          <p:cNvPicPr>
            <a:picLocks noChangeAspect="1"/>
          </p:cNvPicPr>
          <p:nvPr/>
        </p:nvPicPr>
        <p:blipFill>
          <a:blip r:embed="rId4"/>
          <a:srcRect l="14673" t="33074" r="15820" b="44466"/>
          <a:stretch>
            <a:fillRect/>
          </a:stretch>
        </p:blipFill>
        <p:spPr>
          <a:xfrm>
            <a:off x="0" y="6281928"/>
            <a:ext cx="1783080" cy="576072"/>
          </a:xfrm>
          <a:prstGeom prst="rect">
            <a:avLst/>
          </a:prstGeom>
        </p:spPr>
      </p:pic>
      <p:pic>
        <p:nvPicPr>
          <p:cNvPr id="4" name="Logo Maker Bhavan" descr="image.png"/>
          <p:cNvPicPr>
            <a:picLocks noChangeAspect="1"/>
          </p:cNvPicPr>
          <p:nvPr/>
        </p:nvPicPr>
        <p:blipFill>
          <a:blip r:embed="rId5"/>
          <a:stretch>
            <a:fillRect/>
          </a:stretch>
        </p:blipFill>
        <p:spPr>
          <a:xfrm>
            <a:off x="11091672" y="6281928"/>
            <a:ext cx="1097280" cy="576072"/>
          </a:xfrm>
          <a:prstGeom prst="rect">
            <a:avLst/>
          </a:prstGeom>
        </p:spPr>
      </p:pic>
      <p:sp>
        <p:nvSpPr>
          <p:cNvPr id="5" name="Title"/>
          <p:cNvSpPr txBox="1"/>
          <p:nvPr/>
        </p:nvSpPr>
        <p:spPr>
          <a:xfrm>
            <a:off x="530352" y="438912"/>
            <a:ext cx="11128248" cy="310896"/>
          </a:xfrm>
          <a:prstGeom prst="rect">
            <a:avLst/>
          </a:prstGeom>
          <a:noFill/>
        </p:spPr>
        <p:txBody>
          <a:bodyPr wrap="square" lIns="0" tIns="0" rIns="0" bIns="0" anchor="ctr">
            <a:noAutofit/>
          </a:bodyPr>
          <a:lstStyle/>
          <a:p>
            <a:pPr marL="0" indent="0" algn="l">
              <a:lnSpc>
                <a:spcPct val="120000"/>
              </a:lnSpc>
              <a:spcBef>
                <a:spcPts val="0"/>
              </a:spcBef>
              <a:spcAft>
                <a:spcPts val="0"/>
              </a:spcAft>
              <a:buNone/>
            </a:pPr>
            <a:r>
              <a:rPr sz="2025" b="1" i="0">
                <a:solidFill>
                  <a:srgbClr val="0F172A"/>
                </a:solidFill>
                <a:latin typeface="Poppins SemiBold"/>
              </a:rPr>
              <a:t>CAD Design &amp; Mechanical Specs</a:t>
            </a:r>
          </a:p>
        </p:txBody>
      </p:sp>
      <p:sp>
        <p:nvSpPr>
          <p:cNvPr id="6" name="Footer"/>
          <p:cNvSpPr txBox="1"/>
          <p:nvPr/>
        </p:nvSpPr>
        <p:spPr>
          <a:xfrm>
            <a:off x="3840480" y="6455664"/>
            <a:ext cx="4507992" cy="164592"/>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861" b="0" i="0">
                <a:solidFill>
                  <a:srgbClr val="64748B"/>
                </a:solidFill>
                <a:latin typeface="DM Sans"/>
              </a:rPr>
              <a:t>VK26-AU-HCI-0032  ·  HCI 2.0  ·  7 / 16</a:t>
            </a:r>
          </a:p>
        </p:txBody>
      </p:sp>
      <p:sp>
        <p:nvSpPr>
          <p:cNvPr id="8" name="Caption"/>
          <p:cNvSpPr txBox="1"/>
          <p:nvPr/>
        </p:nvSpPr>
        <p:spPr>
          <a:xfrm>
            <a:off x="530352" y="3438144"/>
            <a:ext cx="5431536" cy="155448"/>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lang="en-US" sz="861" i="1" dirty="0">
                <a:solidFill>
                  <a:srgbClr val="64748B"/>
                </a:solidFill>
                <a:latin typeface="DM Sans"/>
              </a:rPr>
              <a:t>Exploded CAD view of a printable gaze frame; reference geometry, not a GIG assembly.</a:t>
            </a:r>
            <a:r>
              <a:rPr sz="861" b="0" i="1" dirty="0">
                <a:solidFill>
                  <a:srgbClr val="64748B"/>
                </a:solidFill>
                <a:latin typeface="DM Sans"/>
              </a:rPr>
              <a:t/>
            </a:r>
          </a:p>
        </p:txBody>
      </p:sp>
      <p:sp>
        <p:nvSpPr>
          <p:cNvPr id="9" name="Card (gray)"/>
          <p:cNvSpPr/>
          <p:nvPr/>
        </p:nvSpPr>
        <p:spPr>
          <a:xfrm>
            <a:off x="530352" y="3749040"/>
            <a:ext cx="5431536" cy="1783080"/>
          </a:xfrm>
          <a:prstGeom prst="roundRect">
            <a:avLst>
              <a:gd name="adj" fmla="val 4102"/>
            </a:avLst>
          </a:prstGeom>
          <a:solidFill>
            <a:srgbClr val="F8FAFC"/>
          </a:solidFill>
          <a:ln w="9525">
            <a:solidFill>
              <a:srgbClr val="E2E8F0"/>
            </a:solidFill>
          </a:ln>
        </p:spPr>
        <p:txBody>
          <a:bodyPr rtlCol="0" anchor="ctr"/>
          <a:lstStyle/>
          <a:p>
            <a:pPr algn="ctr"/>
            <a:endParaRPr/>
          </a:p>
        </p:txBody>
      </p:sp>
      <p:sp>
        <p:nvSpPr>
          <p:cNvPr id="10" name="TextBox 9"/>
          <p:cNvSpPr txBox="1"/>
          <p:nvPr/>
        </p:nvSpPr>
        <p:spPr>
          <a:xfrm>
            <a:off x="731520" y="3840480"/>
            <a:ext cx="5029200" cy="201168"/>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25" b="1" i="0">
                <a:solidFill>
                  <a:srgbClr val="0F172A"/>
                </a:solidFill>
                <a:latin typeface="DM Sans"/>
              </a:rPr>
              <a:t>GIG add-on module: draft dimensions only</a:t>
            </a:r>
          </a:p>
        </p:txBody>
      </p:sp>
      <p:graphicFrame>
        <p:nvGraphicFramePr>
          <p:cNvPr id="11" name="CAD inputs table"/>
          <p:cNvGraphicFramePr>
            <a:graphicFrameLocks noGrp="1"/>
          </p:cNvGraphicFramePr>
          <p:nvPr/>
        </p:nvGraphicFramePr>
        <p:xfrm>
          <a:off x="731520" y="4160520"/>
          <a:ext cx="4983480" cy="1316736"/>
        </p:xfrm>
        <a:graphic>
          <a:graphicData uri="http://schemas.openxmlformats.org/drawingml/2006/table">
            <a:tbl>
              <a:tblPr firstRow="1" bandRow="1">
                <a:noFill/>
                <a:tableStyleId>{56046466-F724-4CB5-896F-67C00AF2974A}</a:tableStyleId>
              </a:tblPr>
              <a:tblGrid>
                <a:gridCol w="1234440">
                  <a:extLst>
                    <a:ext uri="{9D8B030D-6E8A-4147-A177-3AD203B41FA5}">
                      <a16:colId xmlns:a16="http://schemas.microsoft.com/office/drawing/2014/main" val="20000"/>
                    </a:ext>
                  </a:extLst>
                </a:gridCol>
                <a:gridCol w="1874520">
                  <a:extLst>
                    <a:ext uri="{9D8B030D-6E8A-4147-A177-3AD203B41FA5}">
                      <a16:colId xmlns:a16="http://schemas.microsoft.com/office/drawing/2014/main" val="20001"/>
                    </a:ext>
                  </a:extLst>
                </a:gridCol>
                <a:gridCol w="1874520">
                  <a:extLst>
                    <a:ext uri="{9D8B030D-6E8A-4147-A177-3AD203B41FA5}">
                      <a16:colId xmlns:a16="http://schemas.microsoft.com/office/drawing/2014/main" val="20002"/>
                    </a:ext>
                  </a:extLst>
                </a:gridCol>
              </a:tblGrid>
              <a:tr h="274320">
                <a:tc>
                  <a:txBody>
                    <a:bodyPr/>
                    <a:lstStyle/>
                    <a:p>
                      <a:pPr marL="0" marR="0" lvl="0" indent="0" algn="l" rtl="0">
                        <a:spcBef>
                          <a:spcPts val="0"/>
                        </a:spcBef>
                        <a:spcAft>
                          <a:spcPts val="0"/>
                        </a:spcAft>
                        <a:buNone/>
                      </a:pPr>
                      <a:r>
                        <a:rPr lang="en-US" sz="861" b="1" i="0" u="none">
                          <a:solidFill>
                            <a:srgbClr val="1E293B"/>
                          </a:solidFill>
                          <a:latin typeface="DM Sans"/>
                          <a:ea typeface="DM Sans"/>
                          <a:cs typeface="DM Sans"/>
                          <a:sym typeface="DM Sans"/>
                        </a:rPr>
                        <a:t>Parameter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861" b="1" i="0" u="none">
                          <a:solidFill>
                            <a:srgbClr val="1E293B"/>
                          </a:solidFill>
                          <a:latin typeface="DM Sans"/>
                          <a:ea typeface="DM Sans"/>
                          <a:cs typeface="DM Sans"/>
                          <a:sym typeface="DM Sans"/>
                        </a:rPr>
                        <a:t>Current CAD input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861" b="1" i="0" u="none">
                          <a:solidFill>
                            <a:srgbClr val="1E293B"/>
                          </a:solidFill>
                          <a:latin typeface="DM Sans"/>
                          <a:ea typeface="DM Sans"/>
                          <a:cs typeface="DM Sans"/>
                          <a:sym typeface="DM Sans"/>
                        </a:rPr>
                        <a:t>Status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extLst>
                  <a:ext uri="{0D108BD9-81ED-4DB2-BD59-A6C34878D82A}">
                    <a16:rowId xmlns:a16="http://schemas.microsoft.com/office/drawing/2014/main" val="10000"/>
                  </a:ext>
                </a:extLst>
              </a:tr>
              <a:tr h="347472">
                <a:tc>
                  <a:txBody>
                    <a:bodyPr/>
                    <a:lstStyle/>
                    <a:p>
                      <a:pPr marL="0" marR="0" lvl="0" indent="0" algn="l" rtl="0">
                        <a:spcBef>
                          <a:spcPts val="0"/>
                        </a:spcBef>
                        <a:spcAft>
                          <a:spcPts val="0"/>
                        </a:spcAft>
                        <a:buNone/>
                      </a:pPr>
                      <a:r>
                        <a:rPr lang="en-US" sz="861" b="0" i="0" u="none">
                          <a:solidFill>
                            <a:srgbClr val="334155"/>
                          </a:solidFill>
                          <a:latin typeface="DM Sans"/>
                          <a:ea typeface="DM Sans"/>
                          <a:cs typeface="DM Sans"/>
                          <a:sym typeface="DM Sans"/>
                        </a:rPr>
                        <a:t>Body</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861" b="0" i="0" u="none">
                          <a:solidFill>
                            <a:srgbClr val="334155"/>
                          </a:solidFill>
                          <a:latin typeface="DM Sans"/>
                          <a:ea typeface="DM Sans"/>
                          <a:cs typeface="DM Sans"/>
                          <a:sym typeface="DM Sans"/>
                        </a:rPr>
                        <a:t>44 × 20 × 14 mm</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861" b="0" i="0" u="none">
                          <a:solidFill>
                            <a:srgbClr val="334155"/>
                          </a:solidFill>
                          <a:latin typeface="DM Sans"/>
                          <a:ea typeface="DM Sans"/>
                          <a:cs typeface="DM Sans"/>
                          <a:sym typeface="DM Sans"/>
                        </a:rPr>
                        <a:t>Replace with real footprints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47472">
                <a:tc>
                  <a:txBody>
                    <a:bodyPr/>
                    <a:lstStyle/>
                    <a:p>
                      <a:pPr marL="0" marR="0" lvl="0" indent="0" algn="l" rtl="0">
                        <a:spcBef>
                          <a:spcPts val="0"/>
                        </a:spcBef>
                        <a:spcAft>
                          <a:spcPts val="0"/>
                        </a:spcAft>
                        <a:buNone/>
                      </a:pPr>
                      <a:r>
                        <a:rPr lang="en-US" sz="861" b="0" i="0" u="none">
                          <a:solidFill>
                            <a:srgbClr val="334155"/>
                          </a:solidFill>
                          <a:latin typeface="DM Sans"/>
                          <a:ea typeface="DM Sans"/>
                          <a:cs typeface="DM Sans"/>
                          <a:sym typeface="DM Sans"/>
                        </a:rPr>
                        <a:t>Temple channel</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861" b="0" i="0" u="none">
                          <a:solidFill>
                            <a:srgbClr val="334155"/>
                          </a:solidFill>
                          <a:latin typeface="DM Sans"/>
                          <a:ea typeface="DM Sans"/>
                          <a:cs typeface="DM Sans"/>
                          <a:sym typeface="DM Sans"/>
                        </a:rPr>
                        <a:t>8.5 × 4.0 mm + fit clearance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861" b="0" i="0" u="none">
                          <a:solidFill>
                            <a:srgbClr val="334155"/>
                          </a:solidFill>
                          <a:latin typeface="DM Sans"/>
                          <a:ea typeface="DM Sans"/>
                          <a:cs typeface="DM Sans"/>
                          <a:sym typeface="DM Sans"/>
                        </a:rPr>
                        <a:t>Not measured on chosen frame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47472">
                <a:tc>
                  <a:txBody>
                    <a:bodyPr/>
                    <a:lstStyle/>
                    <a:p>
                      <a:pPr marL="0" marR="0" lvl="0" indent="0" algn="l" rtl="0">
                        <a:spcBef>
                          <a:spcPts val="0"/>
                        </a:spcBef>
                        <a:spcAft>
                          <a:spcPts val="0"/>
                        </a:spcAft>
                        <a:buNone/>
                      </a:pPr>
                      <a:r>
                        <a:rPr lang="en-US" sz="861" b="0" i="0" u="none">
                          <a:solidFill>
                            <a:srgbClr val="334155"/>
                          </a:solidFill>
                          <a:latin typeface="DM Sans"/>
                          <a:ea typeface="DM Sans"/>
                          <a:cs typeface="DM Sans"/>
                          <a:sym typeface="DM Sans"/>
                        </a:rPr>
                        <a:t>Features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861" b="0" i="0" u="none">
                          <a:solidFill>
                            <a:srgbClr val="334155"/>
                          </a:solidFill>
                          <a:latin typeface="DM Sans"/>
                          <a:ea typeface="DM Sans"/>
                          <a:cs typeface="DM Sans"/>
                          <a:sym typeface="DM Sans"/>
                        </a:rPr>
                        <a:t>Cable opening; two top holes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861" b="0" i="0" u="none">
                          <a:solidFill>
                            <a:srgbClr val="334155"/>
                          </a:solidFill>
                          <a:latin typeface="DM Sans"/>
                          <a:ea typeface="DM Sans"/>
                          <a:cs typeface="DM Sans"/>
                          <a:sym typeface="DM Sans"/>
                        </a:rPr>
                        <a:t>Generic clip-on module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12" name="Card (green)"/>
          <p:cNvSpPr/>
          <p:nvPr/>
        </p:nvSpPr>
        <p:spPr>
          <a:xfrm>
            <a:off x="6227064" y="960120"/>
            <a:ext cx="5431536" cy="4572000"/>
          </a:xfrm>
          <a:prstGeom prst="roundRect">
            <a:avLst>
              <a:gd name="adj" fmla="val 1600"/>
            </a:avLst>
          </a:prstGeom>
          <a:solidFill>
            <a:srgbClr val="F0FDF4"/>
          </a:solidFill>
          <a:ln w="9525">
            <a:solidFill>
              <a:srgbClr val="BBF7D0"/>
            </a:solidFill>
          </a:ln>
        </p:spPr>
        <p:txBody>
          <a:bodyPr rtlCol="0" anchor="ctr"/>
          <a:lstStyle/>
          <a:p>
            <a:pPr algn="ctr"/>
            <a:endParaRPr/>
          </a:p>
        </p:txBody>
      </p:sp>
      <p:pic>
        <p:nvPicPr>
          <p:cNvPr id="13" name="Icon" descr="image.png"/>
          <p:cNvPicPr>
            <a:picLocks noChangeAspect="1"/>
          </p:cNvPicPr>
          <p:nvPr/>
        </p:nvPicPr>
        <p:blipFill>
          <a:blip r:embed="rId6"/>
          <a:stretch>
            <a:fillRect/>
          </a:stretch>
        </p:blipFill>
        <p:spPr>
          <a:xfrm>
            <a:off x="6446520" y="1179576"/>
            <a:ext cx="155448" cy="155448"/>
          </a:xfrm>
          <a:prstGeom prst="rect">
            <a:avLst/>
          </a:prstGeom>
        </p:spPr>
      </p:pic>
      <p:sp>
        <p:nvSpPr>
          <p:cNvPr id="14" name="Card header"/>
          <p:cNvSpPr txBox="1"/>
          <p:nvPr/>
        </p:nvSpPr>
        <p:spPr>
          <a:xfrm>
            <a:off x="6702552" y="1161288"/>
            <a:ext cx="4754880" cy="192024"/>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25" b="1" i="0">
                <a:solidFill>
                  <a:srgbClr val="0F172A"/>
                </a:solidFill>
                <a:latin typeface="DM Sans"/>
              </a:rPr>
              <a:t>Mechanical Build Path &amp; Validation</a:t>
            </a:r>
          </a:p>
        </p:txBody>
      </p:sp>
      <p:sp>
        <p:nvSpPr>
          <p:cNvPr id="15" name="Mechanical text"/>
          <p:cNvSpPr txBox="1"/>
          <p:nvPr/>
        </p:nvSpPr>
        <p:spPr>
          <a:xfrm>
            <a:off x="6638544" y="1508760"/>
            <a:ext cx="4800600" cy="3931920"/>
          </a:xfrm>
          <a:prstGeom prst="rect">
            <a:avLst/>
          </a:prstGeom>
          <a:noFill/>
        </p:spPr>
        <p:txBody>
          <a:bodyPr wrap="square" lIns="0" tIns="0" rIns="0" bIns="0" anchor="t">
            <a:noAutofit/>
          </a:bodyPr>
          <a:lstStyle/>
          <a:p>
            <a:pPr marL="173736" indent="-173736" algn="l">
              <a:lnSpc>
                <a:spcPct val="145000"/>
              </a:lnSpc>
              <a:spcBef>
                <a:spcPts val="0"/>
              </a:spcBef>
              <a:spcAft>
                <a:spcPts val="1100"/>
              </a:spcAft>
              <a:buClr>
                <a:srgbClr val="059669"/>
              </a:buClr>
              <a:buFont typeface="DM Sans"/>
              <a:buChar char="▪"/>
            </a:pPr>
            <a:r>
              <a:rPr sz="1011" b="1" i="0">
                <a:solidFill>
                  <a:srgbClr val="334155"/>
                </a:solidFill>
                <a:latin typeface="DM Sans"/>
              </a:rPr>
              <a:t>Base frame: </a:t>
            </a:r>
            <a:r>
              <a:rPr sz="1011" b="0" i="0">
                <a:solidFill>
                  <a:srgbClr val="334155"/>
                </a:solidFill>
                <a:latin typeface="DM Sans"/>
              </a:rPr>
              <a:t>Use an open-hardware printable frame and adjustable eye-camera mount as the first fit reference. Check the exact camera, head fit and sightline before adapting.</a:t>
            </a:r>
          </a:p>
          <a:p>
            <a:pPr marL="173736" indent="-173736" algn="l">
              <a:lnSpc>
                <a:spcPct val="145000"/>
              </a:lnSpc>
              <a:spcBef>
                <a:spcPts val="0"/>
              </a:spcBef>
              <a:spcAft>
                <a:spcPts val="1100"/>
              </a:spcAft>
              <a:buClr>
                <a:srgbClr val="059669"/>
              </a:buClr>
              <a:buFont typeface="DM Sans"/>
              <a:buChar char="▪"/>
            </a:pPr>
            <a:r>
              <a:rPr sz="1011" b="1" i="0">
                <a:solidFill>
                  <a:srgbClr val="334155"/>
                </a:solidFill>
                <a:latin typeface="DM Sans"/>
              </a:rPr>
              <a:t>GIG module: </a:t>
            </a:r>
            <a:r>
              <a:rPr sz="1011" b="0" i="0">
                <a:solidFill>
                  <a:srgbClr val="334155"/>
                </a:solidFill>
                <a:latin typeface="DM Sans"/>
              </a:rPr>
              <a:t>The original OpenSCAD temple draft has a cable opening and two M2.5 clearance holes. Its 44 × 20 × 14 mm body and channel are placeholders, not measured fit.</a:t>
            </a:r>
          </a:p>
          <a:p>
            <a:pPr marL="173736" indent="-173736" algn="l">
              <a:lnSpc>
                <a:spcPct val="145000"/>
              </a:lnSpc>
              <a:spcBef>
                <a:spcPts val="0"/>
              </a:spcBef>
              <a:spcAft>
                <a:spcPts val="1100"/>
              </a:spcAft>
              <a:buClr>
                <a:srgbClr val="059669"/>
              </a:buClr>
              <a:buFont typeface="DM Sans"/>
              <a:buChar char="▪"/>
            </a:pPr>
            <a:r>
              <a:rPr sz="1011" b="1" i="0">
                <a:solidFill>
                  <a:srgbClr val="334155"/>
                </a:solidFill>
                <a:latin typeface="DM Sans"/>
              </a:rPr>
              <a:t>Integration: </a:t>
            </a:r>
            <a:r>
              <a:rPr sz="1011" b="0" i="0">
                <a:solidFill>
                  <a:srgbClr val="334155"/>
                </a:solidFill>
                <a:latin typeface="DM Sans"/>
              </a:rPr>
              <a:t>Add a separate scene camera, one accessible confirm control and a tether to pocket compute. Select a display after alignment, eye clearance and power checks.</a:t>
            </a:r>
          </a:p>
          <a:p>
            <a:pPr marL="173736" indent="-173736" algn="l">
              <a:lnSpc>
                <a:spcPct val="145000"/>
              </a:lnSpc>
              <a:spcBef>
                <a:spcPts val="0"/>
              </a:spcBef>
              <a:spcAft>
                <a:spcPts val="1100"/>
              </a:spcAft>
              <a:buClr>
                <a:srgbClr val="059669"/>
              </a:buClr>
              <a:buFont typeface="DM Sans"/>
              <a:buChar char="▪"/>
            </a:pPr>
            <a:r>
              <a:rPr sz="1011" b="1" i="0">
                <a:solidFill>
                  <a:srgbClr val="334155"/>
                </a:solidFill>
                <a:latin typeface="DM Sans"/>
              </a:rPr>
              <a:t>CAD files: </a:t>
            </a:r>
            <a:r>
              <a:rPr sz="1011" b="0" i="0">
                <a:solidFill>
                  <a:srgbClr val="334155"/>
                </a:solidFill>
                <a:latin typeface="DM Sans"/>
                <a:hlinkClick r:id="rId9"/>
              </a:rPr>
              <a:t>GIG_parametric_temple_module.scad + reference .3mf/STLs: github.com/labishbardiya/GIG-Assistance-and-Training</a:t>
            </a:r>
          </a:p>
          <a:p>
            <a:pPr marL="173736" indent="-173736" algn="l">
              <a:lnSpc>
                <a:spcPct val="145000"/>
              </a:lnSpc>
              <a:spcBef>
                <a:spcPts val="0"/>
              </a:spcBef>
              <a:spcAft>
                <a:spcPts val="1100"/>
              </a:spcAft>
              <a:buClr>
                <a:srgbClr val="059669"/>
              </a:buClr>
              <a:buFont typeface="DM Sans"/>
              <a:buChar char="▪"/>
            </a:pPr>
            <a:r>
              <a:rPr sz="1011" b="1" i="0">
                <a:solidFill>
                  <a:srgbClr val="334155"/>
                </a:solidFill>
                <a:latin typeface="DM Sans"/>
              </a:rPr>
              <a:t>Next checks: </a:t>
            </a:r>
            <a:r>
              <a:rPr sz="1011" b="0" i="0">
                <a:solidFill>
                  <a:srgbClr val="334155"/>
                </a:solidFill>
                <a:latin typeface="DM Sans"/>
              </a:rPr>
              <a:t>Print a fit coupon; measure frame and components; assess retention, cable strain, heat, sightline, comfort and rapid removal. No FEA or stress result yet.</a:t>
            </a:r>
          </a:p>
        </p:txBody>
      </p:sp>
      <p:pic>
        <p:nvPicPr>
          <p:cNvPr id="16" name="Note bar" descr="image.png"/>
          <p:cNvPicPr>
            <a:picLocks noChangeAspect="1"/>
          </p:cNvPicPr>
          <p:nvPr/>
        </p:nvPicPr>
        <p:blipFill>
          <a:blip r:embed="rId7"/>
          <a:stretch>
            <a:fillRect/>
          </a:stretch>
        </p:blipFill>
        <p:spPr>
          <a:xfrm>
            <a:off x="530352" y="5715000"/>
            <a:ext cx="11128248" cy="365760"/>
          </a:xfrm>
          <a:prstGeom prst="rect">
            <a:avLst/>
          </a:prstGeom>
        </p:spPr>
      </p:pic>
      <p:sp>
        <p:nvSpPr>
          <p:cNvPr id="17" name="Note text"/>
          <p:cNvSpPr txBox="1"/>
          <p:nvPr/>
        </p:nvSpPr>
        <p:spPr>
          <a:xfrm>
            <a:off x="722376" y="5797296"/>
            <a:ext cx="10789920" cy="274320"/>
          </a:xfrm>
          <a:prstGeom prst="rect">
            <a:avLst/>
          </a:prstGeom>
          <a:noFill/>
        </p:spPr>
        <p:txBody>
          <a:bodyPr wrap="square" lIns="0" tIns="0" rIns="0" bIns="0" anchor="t">
            <a:noAutofit/>
          </a:bodyPr>
          <a:lstStyle/>
          <a:p>
            <a:pPr marL="0" indent="0" algn="l">
              <a:lnSpc>
                <a:spcPct val="145000"/>
              </a:lnSpc>
              <a:spcBef>
                <a:spcPts val="0"/>
              </a:spcBef>
              <a:spcAft>
                <a:spcPts val="0"/>
              </a:spcAft>
              <a:buNone/>
            </a:pPr>
            <a:r>
              <a:rPr sz="936" b="1" i="0">
                <a:solidFill>
                  <a:srgbClr val="0F172A"/>
                </a:solidFill>
                <a:latin typeface="DM Sans"/>
              </a:rPr>
              <a:t>Reference CAD and GIG module are design-stage files. No fabricated assembly, fit test or FEA is claimed.</a:t>
            </a:r>
          </a:p>
        </p:txBody>
      </p:sp>
      <p:pic>
        <p:nvPicPr>
          <p:cNvPr id="18" name="Picture 17" descr="MEYELens_reference_CAD_view.png"/>
          <p:cNvPicPr>
            <a:picLocks noChangeAspect="1"/>
          </p:cNvPicPr>
          <p:nvPr/>
        </p:nvPicPr>
        <p:blipFill>
          <a:blip r:embed="rId8"/>
          <a:stretch>
            <a:fillRect/>
          </a:stretch>
        </p:blipFill>
        <p:spPr>
          <a:xfrm>
            <a:off x="530352" y="960120"/>
            <a:ext cx="5431536" cy="243230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3"/>
          <a:stretch>
            <a:fillRect/>
          </a:stretch>
        </p:blipFill>
        <p:spPr>
          <a:xfrm>
            <a:off x="0" y="0"/>
            <a:ext cx="12191695" cy="6858000"/>
          </a:xfrm>
          <a:prstGeom prst="rect">
            <a:avLst/>
          </a:prstGeom>
        </p:spPr>
      </p:pic>
      <p:pic>
        <p:nvPicPr>
          <p:cNvPr id="3" name="Logo Vishwakarma" descr="image.png"/>
          <p:cNvPicPr>
            <a:picLocks noChangeAspect="1"/>
          </p:cNvPicPr>
          <p:nvPr/>
        </p:nvPicPr>
        <p:blipFill>
          <a:blip r:embed="rId4"/>
          <a:srcRect l="14673" t="33074" r="15820" b="44466"/>
          <a:stretch>
            <a:fillRect/>
          </a:stretch>
        </p:blipFill>
        <p:spPr>
          <a:xfrm>
            <a:off x="0" y="6281928"/>
            <a:ext cx="1783080" cy="576072"/>
          </a:xfrm>
          <a:prstGeom prst="rect">
            <a:avLst/>
          </a:prstGeom>
        </p:spPr>
      </p:pic>
      <p:pic>
        <p:nvPicPr>
          <p:cNvPr id="4" name="Logo Maker Bhavan" descr="image.png"/>
          <p:cNvPicPr>
            <a:picLocks noChangeAspect="1"/>
          </p:cNvPicPr>
          <p:nvPr/>
        </p:nvPicPr>
        <p:blipFill>
          <a:blip r:embed="rId5"/>
          <a:stretch>
            <a:fillRect/>
          </a:stretch>
        </p:blipFill>
        <p:spPr>
          <a:xfrm>
            <a:off x="11091672" y="6281928"/>
            <a:ext cx="1097280" cy="576072"/>
          </a:xfrm>
          <a:prstGeom prst="rect">
            <a:avLst/>
          </a:prstGeom>
        </p:spPr>
      </p:pic>
      <p:sp>
        <p:nvSpPr>
          <p:cNvPr id="5" name="Title"/>
          <p:cNvSpPr txBox="1"/>
          <p:nvPr/>
        </p:nvSpPr>
        <p:spPr>
          <a:xfrm>
            <a:off x="530352" y="438912"/>
            <a:ext cx="11128248" cy="310896"/>
          </a:xfrm>
          <a:prstGeom prst="rect">
            <a:avLst/>
          </a:prstGeom>
          <a:noFill/>
        </p:spPr>
        <p:txBody>
          <a:bodyPr wrap="square" lIns="0" tIns="0" rIns="0" bIns="0" anchor="ctr">
            <a:noAutofit/>
          </a:bodyPr>
          <a:lstStyle/>
          <a:p>
            <a:pPr marL="0" indent="0" algn="l">
              <a:lnSpc>
                <a:spcPct val="120000"/>
              </a:lnSpc>
              <a:spcBef>
                <a:spcPts val="0"/>
              </a:spcBef>
              <a:spcAft>
                <a:spcPts val="0"/>
              </a:spcAft>
              <a:buNone/>
            </a:pPr>
            <a:r>
              <a:rPr sz="2025" b="1" i="0">
                <a:solidFill>
                  <a:srgbClr val="0F172A"/>
                </a:solidFill>
                <a:latin typeface="Poppins SemiBold"/>
              </a:rPr>
              <a:t>Electronics &amp; Indicative BOM</a:t>
            </a:r>
          </a:p>
        </p:txBody>
      </p:sp>
      <p:sp>
        <p:nvSpPr>
          <p:cNvPr id="6" name="Footer"/>
          <p:cNvSpPr txBox="1"/>
          <p:nvPr/>
        </p:nvSpPr>
        <p:spPr>
          <a:xfrm>
            <a:off x="3840480" y="6455664"/>
            <a:ext cx="4507992" cy="164592"/>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861" b="0" i="0">
                <a:solidFill>
                  <a:srgbClr val="64748B"/>
                </a:solidFill>
                <a:latin typeface="DM Sans"/>
              </a:rPr>
              <a:t>VK26-AU-HCI-0032  ·  HCI 2.0  ·  8 / 16</a:t>
            </a:r>
          </a:p>
        </p:txBody>
      </p:sp>
      <p:pic>
        <p:nvPicPr>
          <p:cNvPr id="7" name="Product concept (AI-generated)" descr="AI-generated concept of the glasses with a cable to a pocket compute unit"/>
          <p:cNvPicPr>
            <a:picLocks noChangeAspect="1"/>
          </p:cNvPicPr>
          <p:nvPr/>
        </p:nvPicPr>
        <p:blipFill>
          <a:blip r:embed="rId6"/>
          <a:stretch>
            <a:fillRect/>
          </a:stretch>
        </p:blipFill>
        <p:spPr>
          <a:xfrm>
            <a:off x="530352" y="960120"/>
            <a:ext cx="4023360" cy="2267712"/>
          </a:xfrm>
          <a:prstGeom prst="roundRect">
            <a:avLst>
              <a:gd name="adj" fmla="val 2822"/>
            </a:avLst>
          </a:prstGeom>
          <a:ln w="9525">
            <a:solidFill>
              <a:srgbClr val="CBD5E1"/>
            </a:solidFill>
          </a:ln>
        </p:spPr>
      </p:pic>
      <p:sp>
        <p:nvSpPr>
          <p:cNvPr id="8" name="Caption"/>
          <p:cNvSpPr txBox="1"/>
          <p:nvPr/>
        </p:nvSpPr>
        <p:spPr>
          <a:xfrm>
            <a:off x="530352" y="3273552"/>
            <a:ext cx="4023360" cy="155448"/>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lang="en-US" sz="861" b="0" i="1" dirty="0">
                <a:solidFill>
                  <a:srgbClr val="64748B"/>
                </a:solidFill>
                <a:latin typeface="DM Sans"/>
              </a:rPr>
              <a:t>AI Generated </a:t>
            </a:r>
            <a:r>
              <a:rPr sz="861" b="0" i="1" dirty="0">
                <a:solidFill>
                  <a:srgbClr val="64748B"/>
                </a:solidFill>
                <a:latin typeface="DM Sans"/>
              </a:rPr>
              <a:t>Illustrative concept: </a:t>
            </a:r>
            <a:r>
              <a:rPr sz="861" b="0" i="1" dirty="0" err="1">
                <a:solidFill>
                  <a:srgbClr val="64748B"/>
                </a:solidFill>
                <a:latin typeface="DM Sans"/>
              </a:rPr>
              <a:t>headborne</a:t>
            </a:r>
            <a:r>
              <a:rPr sz="861" b="0" i="1" dirty="0">
                <a:solidFill>
                  <a:srgbClr val="64748B"/>
                </a:solidFill>
                <a:latin typeface="DM Sans"/>
              </a:rPr>
              <a:t> modules and pocket compute.</a:t>
            </a:r>
          </a:p>
        </p:txBody>
      </p:sp>
      <p:sp>
        <p:nvSpPr>
          <p:cNvPr id="9" name="Card (gray)"/>
          <p:cNvSpPr/>
          <p:nvPr/>
        </p:nvSpPr>
        <p:spPr>
          <a:xfrm>
            <a:off x="530352" y="3611880"/>
            <a:ext cx="4023360" cy="1920240"/>
          </a:xfrm>
          <a:prstGeom prst="roundRect">
            <a:avLst>
              <a:gd name="adj" fmla="val 3809"/>
            </a:avLst>
          </a:prstGeom>
          <a:solidFill>
            <a:srgbClr val="F8FAFC"/>
          </a:solidFill>
          <a:ln w="9525">
            <a:solidFill>
              <a:srgbClr val="E2E8F0"/>
            </a:solidFill>
          </a:ln>
        </p:spPr>
        <p:txBody>
          <a:bodyPr rtlCol="0" anchor="ctr"/>
          <a:lstStyle/>
          <a:p>
            <a:pPr algn="ctr"/>
            <a:endParaRPr/>
          </a:p>
        </p:txBody>
      </p:sp>
      <p:sp>
        <p:nvSpPr>
          <p:cNvPr id="10" name="TextBox 9"/>
          <p:cNvSpPr txBox="1"/>
          <p:nvPr/>
        </p:nvSpPr>
        <p:spPr>
          <a:xfrm>
            <a:off x="731520" y="3749040"/>
            <a:ext cx="3639312" cy="1737360"/>
          </a:xfrm>
          <a:prstGeom prst="rect">
            <a:avLst/>
          </a:prstGeom>
          <a:noFill/>
        </p:spPr>
        <p:txBody>
          <a:bodyPr wrap="square" lIns="0" tIns="0" rIns="0" bIns="0" anchor="t">
            <a:noAutofit/>
          </a:bodyPr>
          <a:lstStyle/>
          <a:p>
            <a:pPr marL="0" indent="0" algn="l">
              <a:lnSpc>
                <a:spcPct val="100000"/>
              </a:lnSpc>
              <a:spcBef>
                <a:spcPts val="0"/>
              </a:spcBef>
              <a:spcAft>
                <a:spcPts val="600"/>
              </a:spcAft>
              <a:buNone/>
            </a:pPr>
            <a:r>
              <a:rPr sz="1125" b="1" i="0">
                <a:solidFill>
                  <a:srgbClr val="0F172A"/>
                </a:solidFill>
                <a:latin typeface="DM Sans"/>
              </a:rPr>
              <a:t>Optional wrist module</a:t>
            </a:r>
          </a:p>
          <a:p>
            <a:pPr marL="0" indent="0" algn="l">
              <a:lnSpc>
                <a:spcPct val="140000"/>
              </a:lnSpc>
              <a:spcBef>
                <a:spcPts val="0"/>
              </a:spcBef>
              <a:spcAft>
                <a:spcPts val="600"/>
              </a:spcAft>
              <a:buNone/>
            </a:pPr>
            <a:r>
              <a:rPr sz="936" b="0" i="0">
                <a:solidFill>
                  <a:srgbClr val="334155"/>
                </a:solidFill>
                <a:latin typeface="DM Sans"/>
              </a:rPr>
              <a:t>Pulse and motion signals are a separate experiment, not required for the first loop. </a:t>
            </a:r>
            <a:r>
              <a:rPr sz="936" b="1" i="0">
                <a:solidFill>
                  <a:srgbClr val="334155"/>
                </a:solidFill>
                <a:latin typeface="DM Sans"/>
              </a:rPr>
              <a:t>No stress or competence label may be inferred from them.</a:t>
            </a:r>
          </a:p>
          <a:p>
            <a:pPr marL="0" indent="0" algn="l">
              <a:lnSpc>
                <a:spcPct val="140000"/>
              </a:lnSpc>
              <a:spcBef>
                <a:spcPts val="0"/>
              </a:spcBef>
              <a:spcAft>
                <a:spcPts val="0"/>
              </a:spcAft>
              <a:buNone/>
            </a:pPr>
            <a:r>
              <a:rPr sz="936" b="0" i="0">
                <a:solidFill>
                  <a:srgbClr val="334155"/>
                </a:solidFill>
                <a:latin typeface="DM Sans"/>
              </a:rPr>
              <a:t>Keep it only if it adds useful instructor feedback beyond video.</a:t>
            </a:r>
          </a:p>
        </p:txBody>
      </p:sp>
      <p:sp>
        <p:nvSpPr>
          <p:cNvPr id="11" name="Card (green)"/>
          <p:cNvSpPr/>
          <p:nvPr/>
        </p:nvSpPr>
        <p:spPr>
          <a:xfrm>
            <a:off x="4754880" y="960120"/>
            <a:ext cx="6903720" cy="4572000"/>
          </a:xfrm>
          <a:prstGeom prst="roundRect">
            <a:avLst>
              <a:gd name="adj" fmla="val 1600"/>
            </a:avLst>
          </a:prstGeom>
          <a:solidFill>
            <a:srgbClr val="F0FDF4"/>
          </a:solidFill>
          <a:ln w="9525">
            <a:solidFill>
              <a:srgbClr val="BBF7D0"/>
            </a:solidFill>
          </a:ln>
        </p:spPr>
        <p:txBody>
          <a:bodyPr rtlCol="0" anchor="ctr"/>
          <a:lstStyle/>
          <a:p>
            <a:pPr algn="ctr"/>
            <a:endParaRPr/>
          </a:p>
        </p:txBody>
      </p:sp>
      <p:pic>
        <p:nvPicPr>
          <p:cNvPr id="12" name="Icon" descr="image.png"/>
          <p:cNvPicPr>
            <a:picLocks noChangeAspect="1"/>
          </p:cNvPicPr>
          <p:nvPr/>
        </p:nvPicPr>
        <p:blipFill>
          <a:blip r:embed="rId7"/>
          <a:stretch>
            <a:fillRect/>
          </a:stretch>
        </p:blipFill>
        <p:spPr>
          <a:xfrm>
            <a:off x="4974336" y="1179576"/>
            <a:ext cx="155448" cy="155448"/>
          </a:xfrm>
          <a:prstGeom prst="rect">
            <a:avLst/>
          </a:prstGeom>
        </p:spPr>
      </p:pic>
      <p:sp>
        <p:nvSpPr>
          <p:cNvPr id="13" name="Card header"/>
          <p:cNvSpPr txBox="1"/>
          <p:nvPr/>
        </p:nvSpPr>
        <p:spPr>
          <a:xfrm>
            <a:off x="5230368" y="1161288"/>
            <a:ext cx="5486400" cy="192024"/>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25" b="1" i="0">
                <a:solidFill>
                  <a:srgbClr val="0F172A"/>
                </a:solidFill>
                <a:latin typeface="DM Sans"/>
              </a:rPr>
              <a:t>Indicative Bill of Materials: no prices yet</a:t>
            </a:r>
          </a:p>
        </p:txBody>
      </p:sp>
      <p:graphicFrame>
        <p:nvGraphicFramePr>
          <p:cNvPr id="14" name="Indicative BOM table"/>
          <p:cNvGraphicFramePr>
            <a:graphicFrameLocks noGrp="1"/>
          </p:cNvGraphicFramePr>
          <p:nvPr/>
        </p:nvGraphicFramePr>
        <p:xfrm>
          <a:off x="4983480" y="1481328"/>
          <a:ext cx="6446520" cy="3438144"/>
        </p:xfrm>
        <a:graphic>
          <a:graphicData uri="http://schemas.openxmlformats.org/drawingml/2006/table">
            <a:tbl>
              <a:tblPr firstRow="1" bandRow="1">
                <a:noFill/>
                <a:tableStyleId>{56046466-F724-4CB5-896F-67C00AF2974A}</a:tableStyleId>
              </a:tblPr>
              <a:tblGrid>
                <a:gridCol w="109728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5029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329184">
                <a:tc>
                  <a:txBody>
                    <a:bodyPr/>
                    <a:lstStyle/>
                    <a:p>
                      <a:pPr marL="0" marR="0" lvl="0" indent="0" algn="l" rtl="0">
                        <a:spcBef>
                          <a:spcPts val="0"/>
                        </a:spcBef>
                        <a:spcAft>
                          <a:spcPts val="0"/>
                        </a:spcAft>
                        <a:buNone/>
                      </a:pPr>
                      <a:r>
                        <a:rPr lang="en-US" sz="900" b="1" i="0" u="none">
                          <a:solidFill>
                            <a:srgbClr val="1E293B"/>
                          </a:solidFill>
                          <a:latin typeface="DM Sans"/>
                          <a:ea typeface="DM Sans"/>
                          <a:cs typeface="DM Sans"/>
                          <a:sym typeface="DM Sans"/>
                        </a:rPr>
                        <a:t>Subsystem</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900" b="1" i="0" u="none">
                          <a:solidFill>
                            <a:srgbClr val="1E293B"/>
                          </a:solidFill>
                          <a:latin typeface="DM Sans"/>
                          <a:ea typeface="DM Sans"/>
                          <a:cs typeface="DM Sans"/>
                          <a:sym typeface="DM Sans"/>
                        </a:rPr>
                        <a:t>Initial selection criterion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900" b="1" i="0" u="none">
                          <a:solidFill>
                            <a:srgbClr val="1E293B"/>
                          </a:solidFill>
                          <a:latin typeface="DM Sans"/>
                          <a:ea typeface="DM Sans"/>
                          <a:cs typeface="DM Sans"/>
                          <a:sym typeface="DM Sans"/>
                        </a:rPr>
                        <a:t>Qty</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900" b="1" i="0" u="none">
                          <a:solidFill>
                            <a:srgbClr val="1E293B"/>
                          </a:solidFill>
                          <a:latin typeface="DM Sans"/>
                          <a:ea typeface="DM Sans"/>
                          <a:cs typeface="DM Sans"/>
                          <a:sym typeface="DM Sans"/>
                        </a:rPr>
                        <a:t>Evidence status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extLst>
                  <a:ext uri="{0D108BD9-81ED-4DB2-BD59-A6C34878D82A}">
                    <a16:rowId xmlns:a16="http://schemas.microsoft.com/office/drawing/2014/main" val="10000"/>
                  </a:ext>
                </a:extLst>
              </a:tr>
              <a:tr h="548640">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Eye tracker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Live gaze, confidence and source timestamps; developer API; documented eye safety</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Model and quote pending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457200">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Scene camera</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Calibratable camera view, time-synchronised with gaze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May be integrated with tracker; confirm</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457200">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Microdisplay</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Short, readable prompts; safe mounting and optical documentation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Model and quote pending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65760">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Physical input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Tactile confirm and cancel</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2</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Fit and reach test pending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457200">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Compute / power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Local processor, protected battery, storage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1 set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Power and thermal test pending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457200">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Structure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Frame, adjustable mounts, tether and strain relief</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1 set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00" b="0" i="0" u="none">
                          <a:solidFill>
                            <a:srgbClr val="334155"/>
                          </a:solidFill>
                          <a:latin typeface="DM Sans"/>
                          <a:ea typeface="DM Sans"/>
                          <a:cs typeface="DM Sans"/>
                          <a:sym typeface="DM Sans"/>
                        </a:rPr>
                        <a:t>CAD concept supplied; fit pending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6"/>
                  </a:ext>
                </a:extLst>
              </a:tr>
              <a:tr h="365760">
                <a:tc gridSpan="4">
                  <a:txBody>
                    <a:bodyPr/>
                    <a:lstStyle/>
                    <a:p>
                      <a:pPr marL="0" marR="0" lvl="0" indent="0" algn="l" rtl="0">
                        <a:spcBef>
                          <a:spcPts val="0"/>
                        </a:spcBef>
                        <a:spcAft>
                          <a:spcPts val="0"/>
                        </a:spcAft>
                        <a:buNone/>
                      </a:pPr>
                      <a:r>
                        <a:rPr lang="en-US" sz="900" b="1" i="0" u="none">
                          <a:solidFill>
                            <a:srgbClr val="334155"/>
                          </a:solidFill>
                          <a:latin typeface="DM Sans"/>
                          <a:ea typeface="DM Sans"/>
                          <a:cs typeface="DM Sans"/>
                          <a:sym typeface="DM Sans"/>
                        </a:rPr>
                        <a:t>Total: pending verified vendor quotations.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hMerge="1">
                  <a:txBody>
                    <a:bodyPr/>
                    <a:lstStyle/>
                    <a:p>
                      <a:pPr marL="0" marR="0" lvl="0" indent="0" algn="l" rtl="0">
                        <a:spcBef>
                          <a:spcPts val="0"/>
                        </a:spcBef>
                        <a:spcAft>
                          <a:spcPts val="0"/>
                        </a:spcAft>
                        <a:buNone/>
                      </a:pP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hMerge="1">
                  <a:txBody>
                    <a:bodyPr/>
                    <a:lstStyle/>
                    <a:p>
                      <a:pPr marL="0" marR="0" lvl="0" indent="0" algn="l" rtl="0">
                        <a:spcBef>
                          <a:spcPts val="0"/>
                        </a:spcBef>
                        <a:spcAft>
                          <a:spcPts val="0"/>
                        </a:spcAft>
                        <a:buNone/>
                      </a:pP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hMerge="1">
                  <a:txBody>
                    <a:bodyPr/>
                    <a:lstStyle/>
                    <a:p>
                      <a:pPr marL="0" marR="0" lvl="0" indent="0" algn="l" rtl="0">
                        <a:spcBef>
                          <a:spcPts val="0"/>
                        </a:spcBef>
                        <a:spcAft>
                          <a:spcPts val="0"/>
                        </a:spcAft>
                        <a:buNone/>
                      </a:pP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pic>
        <p:nvPicPr>
          <p:cNvPr id="15" name="Note bar" descr="image.png"/>
          <p:cNvPicPr>
            <a:picLocks noChangeAspect="1"/>
          </p:cNvPicPr>
          <p:nvPr/>
        </p:nvPicPr>
        <p:blipFill>
          <a:blip r:embed="rId8"/>
          <a:stretch>
            <a:fillRect/>
          </a:stretch>
        </p:blipFill>
        <p:spPr>
          <a:xfrm>
            <a:off x="530352" y="5715000"/>
            <a:ext cx="11128248" cy="365760"/>
          </a:xfrm>
          <a:prstGeom prst="rect">
            <a:avLst/>
          </a:prstGeom>
        </p:spPr>
      </p:pic>
      <p:sp>
        <p:nvSpPr>
          <p:cNvPr id="16" name="Note text"/>
          <p:cNvSpPr txBox="1"/>
          <p:nvPr/>
        </p:nvSpPr>
        <p:spPr>
          <a:xfrm>
            <a:off x="722376" y="5797296"/>
            <a:ext cx="10789920" cy="274320"/>
          </a:xfrm>
          <a:prstGeom prst="rect">
            <a:avLst/>
          </a:prstGeom>
          <a:noFill/>
        </p:spPr>
        <p:txBody>
          <a:bodyPr wrap="square" lIns="0" tIns="0" rIns="0" bIns="0" anchor="t">
            <a:noAutofit/>
          </a:bodyPr>
          <a:lstStyle/>
          <a:p>
            <a:pPr marL="0" indent="0" algn="l">
              <a:lnSpc>
                <a:spcPct val="145000"/>
              </a:lnSpc>
              <a:spcBef>
                <a:spcPts val="0"/>
              </a:spcBef>
              <a:spcAft>
                <a:spcPts val="0"/>
              </a:spcAft>
              <a:buNone/>
            </a:pPr>
            <a:r>
              <a:rPr sz="936" b="1" i="0">
                <a:solidFill>
                  <a:srgbClr val="0F172A"/>
                </a:solidFill>
                <a:latin typeface="DM Sans"/>
              </a:rPr>
              <a:t>Procurement rule:</a:t>
            </a:r>
            <a:r>
              <a:rPr sz="936" b="0" i="0">
                <a:solidFill>
                  <a:srgbClr val="334155"/>
                </a:solidFill>
                <a:latin typeface="DM Sans"/>
              </a:rPr>
              <a:t> a costed BOM needs real part numbers, Indian vendor quotations and lead times. No prices, quotes, lead times or totals are claimed.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3"/>
          <a:stretch>
            <a:fillRect/>
          </a:stretch>
        </p:blipFill>
        <p:spPr>
          <a:xfrm>
            <a:off x="0" y="0"/>
            <a:ext cx="12191695" cy="6858000"/>
          </a:xfrm>
          <a:prstGeom prst="rect">
            <a:avLst/>
          </a:prstGeom>
        </p:spPr>
      </p:pic>
      <p:pic>
        <p:nvPicPr>
          <p:cNvPr id="3" name="Logo Vishwakarma" descr="image.png"/>
          <p:cNvPicPr>
            <a:picLocks noChangeAspect="1"/>
          </p:cNvPicPr>
          <p:nvPr/>
        </p:nvPicPr>
        <p:blipFill>
          <a:blip r:embed="rId4"/>
          <a:srcRect l="14673" t="33074" r="15820" b="44466"/>
          <a:stretch>
            <a:fillRect/>
          </a:stretch>
        </p:blipFill>
        <p:spPr>
          <a:xfrm>
            <a:off x="0" y="6281928"/>
            <a:ext cx="1783080" cy="576072"/>
          </a:xfrm>
          <a:prstGeom prst="rect">
            <a:avLst/>
          </a:prstGeom>
        </p:spPr>
      </p:pic>
      <p:pic>
        <p:nvPicPr>
          <p:cNvPr id="4" name="Logo Maker Bhavan" descr="image.png"/>
          <p:cNvPicPr>
            <a:picLocks noChangeAspect="1"/>
          </p:cNvPicPr>
          <p:nvPr/>
        </p:nvPicPr>
        <p:blipFill>
          <a:blip r:embed="rId5"/>
          <a:stretch>
            <a:fillRect/>
          </a:stretch>
        </p:blipFill>
        <p:spPr>
          <a:xfrm>
            <a:off x="11091672" y="6281928"/>
            <a:ext cx="1097280" cy="576072"/>
          </a:xfrm>
          <a:prstGeom prst="rect">
            <a:avLst/>
          </a:prstGeom>
        </p:spPr>
      </p:pic>
      <p:sp>
        <p:nvSpPr>
          <p:cNvPr id="5" name="Title"/>
          <p:cNvSpPr txBox="1"/>
          <p:nvPr/>
        </p:nvSpPr>
        <p:spPr>
          <a:xfrm>
            <a:off x="530352" y="438912"/>
            <a:ext cx="11128248" cy="310896"/>
          </a:xfrm>
          <a:prstGeom prst="rect">
            <a:avLst/>
          </a:prstGeom>
          <a:noFill/>
        </p:spPr>
        <p:txBody>
          <a:bodyPr wrap="square" lIns="0" tIns="0" rIns="0" bIns="0" anchor="ctr">
            <a:noAutofit/>
          </a:bodyPr>
          <a:lstStyle/>
          <a:p>
            <a:pPr marL="0" indent="0" algn="l">
              <a:lnSpc>
                <a:spcPct val="120000"/>
              </a:lnSpc>
              <a:spcBef>
                <a:spcPts val="0"/>
              </a:spcBef>
              <a:spcAft>
                <a:spcPts val="0"/>
              </a:spcAft>
              <a:buNone/>
            </a:pPr>
            <a:r>
              <a:rPr sz="2025" b="1" i="0">
                <a:solidFill>
                  <a:srgbClr val="0F172A"/>
                </a:solidFill>
                <a:latin typeface="Poppins SemiBold"/>
              </a:rPr>
              <a:t>Maker Journey &amp; Authenticity</a:t>
            </a:r>
          </a:p>
        </p:txBody>
      </p:sp>
      <p:sp>
        <p:nvSpPr>
          <p:cNvPr id="6" name="Footer"/>
          <p:cNvSpPr txBox="1"/>
          <p:nvPr/>
        </p:nvSpPr>
        <p:spPr>
          <a:xfrm>
            <a:off x="3840480" y="6455664"/>
            <a:ext cx="4507992" cy="164592"/>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861" b="0" i="0">
                <a:solidFill>
                  <a:srgbClr val="64748B"/>
                </a:solidFill>
                <a:latin typeface="DM Sans"/>
              </a:rPr>
              <a:t>VK26-AU-HCI-0032  ·  HCI 2.0  ·  9 / 16</a:t>
            </a:r>
          </a:p>
        </p:txBody>
      </p:sp>
      <p:sp>
        <p:nvSpPr>
          <p:cNvPr id="7" name="Card (gray)"/>
          <p:cNvSpPr/>
          <p:nvPr/>
        </p:nvSpPr>
        <p:spPr>
          <a:xfrm>
            <a:off x="530352" y="960120"/>
            <a:ext cx="3566160" cy="3246120"/>
          </a:xfrm>
          <a:prstGeom prst="roundRect">
            <a:avLst>
              <a:gd name="adj" fmla="val 2253"/>
            </a:avLst>
          </a:prstGeom>
          <a:solidFill>
            <a:srgbClr val="F8FAFC"/>
          </a:solidFill>
          <a:ln w="9525">
            <a:solidFill>
              <a:srgbClr val="E2E8F0"/>
            </a:solidFill>
          </a:ln>
        </p:spPr>
        <p:txBody>
          <a:bodyPr rtlCol="0" anchor="ctr"/>
          <a:lstStyle/>
          <a:p>
            <a:pPr algn="ctr"/>
            <a:endParaRPr/>
          </a:p>
        </p:txBody>
      </p:sp>
      <p:pic>
        <p:nvPicPr>
          <p:cNvPr id="8" name="Icon" descr="image.png"/>
          <p:cNvPicPr>
            <a:picLocks noChangeAspect="1"/>
          </p:cNvPicPr>
          <p:nvPr/>
        </p:nvPicPr>
        <p:blipFill>
          <a:blip r:embed="rId6"/>
          <a:stretch>
            <a:fillRect/>
          </a:stretch>
        </p:blipFill>
        <p:spPr>
          <a:xfrm>
            <a:off x="749808" y="1179576"/>
            <a:ext cx="155448" cy="155448"/>
          </a:xfrm>
          <a:prstGeom prst="rect">
            <a:avLst/>
          </a:prstGeom>
        </p:spPr>
      </p:pic>
      <p:sp>
        <p:nvSpPr>
          <p:cNvPr id="9" name="Card header"/>
          <p:cNvSpPr txBox="1"/>
          <p:nvPr/>
        </p:nvSpPr>
        <p:spPr>
          <a:xfrm>
            <a:off x="1005840" y="1161288"/>
            <a:ext cx="3017520" cy="192024"/>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25" b="1" i="0">
                <a:solidFill>
                  <a:srgbClr val="0F172A"/>
                </a:solidFill>
                <a:latin typeface="DM Sans"/>
              </a:rPr>
              <a:t>Work prepared for this stage</a:t>
            </a:r>
          </a:p>
        </p:txBody>
      </p:sp>
      <p:sp>
        <p:nvSpPr>
          <p:cNvPr id="10" name="TextBox 9"/>
          <p:cNvSpPr txBox="1"/>
          <p:nvPr/>
        </p:nvSpPr>
        <p:spPr>
          <a:xfrm>
            <a:off x="749808" y="1508760"/>
            <a:ext cx="3127248" cy="2651760"/>
          </a:xfrm>
          <a:prstGeom prst="rect">
            <a:avLst/>
          </a:prstGeom>
          <a:noFill/>
        </p:spPr>
        <p:txBody>
          <a:bodyPr wrap="square" lIns="0" tIns="0" rIns="0" bIns="0" anchor="t">
            <a:noAutofit/>
          </a:bodyPr>
          <a:lstStyle/>
          <a:p>
            <a:pPr marL="173736" indent="-173736" algn="l">
              <a:lnSpc>
                <a:spcPct val="145000"/>
              </a:lnSpc>
              <a:spcBef>
                <a:spcPts val="0"/>
              </a:spcBef>
              <a:spcAft>
                <a:spcPts val="500"/>
              </a:spcAft>
              <a:buClr>
                <a:srgbClr val="059669"/>
              </a:buClr>
              <a:buFont typeface="DM Sans"/>
              <a:buChar char="▪"/>
            </a:pPr>
            <a:r>
              <a:rPr sz="936" b="0" i="0">
                <a:solidFill>
                  <a:srgbClr val="334155"/>
                </a:solidFill>
                <a:latin typeface="DM Sans"/>
              </a:rPr>
              <a:t>Stage 1 problem definition</a:t>
            </a:r>
          </a:p>
          <a:p>
            <a:pPr marL="173736" indent="-173736" algn="l">
              <a:lnSpc>
                <a:spcPct val="145000"/>
              </a:lnSpc>
              <a:spcBef>
                <a:spcPts val="0"/>
              </a:spcBef>
              <a:spcAft>
                <a:spcPts val="500"/>
              </a:spcAft>
              <a:buClr>
                <a:srgbClr val="059669"/>
              </a:buClr>
              <a:buFont typeface="DM Sans"/>
              <a:buChar char="▪"/>
            </a:pPr>
            <a:r>
              <a:rPr sz="936" b="0" i="0">
                <a:solidFill>
                  <a:srgbClr val="334155"/>
                </a:solidFill>
                <a:latin typeface="DM Sans"/>
              </a:rPr>
              <a:t>Revised training-first workflow</a:t>
            </a:r>
          </a:p>
          <a:p>
            <a:pPr marL="173736" indent="-173736" algn="l">
              <a:lnSpc>
                <a:spcPct val="145000"/>
              </a:lnSpc>
              <a:spcBef>
                <a:spcPts val="0"/>
              </a:spcBef>
              <a:spcAft>
                <a:spcPts val="500"/>
              </a:spcAft>
              <a:buClr>
                <a:srgbClr val="059669"/>
              </a:buClr>
              <a:buFont typeface="DM Sans"/>
              <a:buChar char="▪"/>
            </a:pPr>
            <a:r>
              <a:rPr sz="936" b="0" i="0">
                <a:solidFill>
                  <a:srgbClr val="334155"/>
                </a:solidFill>
                <a:latin typeface="DM Sans"/>
              </a:rPr>
              <a:t>Architecture and verification plan</a:t>
            </a:r>
          </a:p>
          <a:p>
            <a:pPr marL="173736" indent="-173736" algn="l">
              <a:lnSpc>
                <a:spcPct val="145000"/>
              </a:lnSpc>
              <a:spcBef>
                <a:spcPts val="0"/>
              </a:spcBef>
              <a:spcAft>
                <a:spcPts val="500"/>
              </a:spcAft>
              <a:buClr>
                <a:srgbClr val="059669"/>
              </a:buClr>
              <a:buFont typeface="DM Sans"/>
              <a:buChar char="▪"/>
            </a:pPr>
            <a:r>
              <a:rPr sz="936" b="0" i="0">
                <a:solidFill>
                  <a:srgbClr val="334155"/>
                </a:solidFill>
                <a:latin typeface="DM Sans"/>
              </a:rPr>
              <a:t>Four labeled concept illustrations</a:t>
            </a:r>
          </a:p>
          <a:p>
            <a:pPr marL="173736" indent="-173736" algn="l">
              <a:lnSpc>
                <a:spcPct val="145000"/>
              </a:lnSpc>
              <a:spcBef>
                <a:spcPts val="0"/>
              </a:spcBef>
              <a:spcAft>
                <a:spcPts val="500"/>
              </a:spcAft>
              <a:buClr>
                <a:srgbClr val="059669"/>
              </a:buClr>
              <a:buFont typeface="DM Sans"/>
              <a:buChar char="▪"/>
            </a:pPr>
            <a:r>
              <a:rPr sz="936" b="0" i="0">
                <a:solidFill>
                  <a:srgbClr val="334155"/>
                </a:solidFill>
                <a:latin typeface="DM Sans"/>
              </a:rPr>
              <a:t>Original parametric temple-module source (design draft)</a:t>
            </a:r>
          </a:p>
          <a:p>
            <a:pPr marL="173736" indent="-173736" algn="l">
              <a:lnSpc>
                <a:spcPct val="145000"/>
              </a:lnSpc>
              <a:spcBef>
                <a:spcPts val="0"/>
              </a:spcBef>
              <a:spcAft>
                <a:spcPts val="500"/>
              </a:spcAft>
              <a:buClr>
                <a:srgbClr val="059669"/>
              </a:buClr>
              <a:buFont typeface="DM Sans"/>
              <a:buChar char="▪"/>
            </a:pPr>
            <a:r>
              <a:rPr sz="936" b="0" i="0">
                <a:solidFill>
                  <a:srgbClr val="334155"/>
                </a:solidFill>
                <a:latin typeface="DM Sans"/>
              </a:rPr>
              <a:t>Public CAD repository with licensed frame reference</a:t>
            </a:r>
          </a:p>
        </p:txBody>
      </p:sp>
      <p:sp>
        <p:nvSpPr>
          <p:cNvPr id="11" name="Card (gray)"/>
          <p:cNvSpPr/>
          <p:nvPr/>
        </p:nvSpPr>
        <p:spPr>
          <a:xfrm>
            <a:off x="4315968" y="960120"/>
            <a:ext cx="3566160" cy="3246120"/>
          </a:xfrm>
          <a:prstGeom prst="roundRect">
            <a:avLst>
              <a:gd name="adj" fmla="val 2253"/>
            </a:avLst>
          </a:prstGeom>
          <a:solidFill>
            <a:srgbClr val="F8FAFC"/>
          </a:solidFill>
          <a:ln w="9525">
            <a:solidFill>
              <a:srgbClr val="E2E8F0"/>
            </a:solidFill>
          </a:ln>
        </p:spPr>
        <p:txBody>
          <a:bodyPr rtlCol="0" anchor="ctr"/>
          <a:lstStyle/>
          <a:p>
            <a:pPr algn="ctr"/>
            <a:endParaRPr/>
          </a:p>
        </p:txBody>
      </p:sp>
      <p:pic>
        <p:nvPicPr>
          <p:cNvPr id="12" name="Icon" descr="image.png"/>
          <p:cNvPicPr>
            <a:picLocks noChangeAspect="1"/>
          </p:cNvPicPr>
          <p:nvPr/>
        </p:nvPicPr>
        <p:blipFill>
          <a:blip r:embed="rId7"/>
          <a:stretch>
            <a:fillRect/>
          </a:stretch>
        </p:blipFill>
        <p:spPr>
          <a:xfrm>
            <a:off x="4535424" y="1179576"/>
            <a:ext cx="155448" cy="155448"/>
          </a:xfrm>
          <a:prstGeom prst="rect">
            <a:avLst/>
          </a:prstGeom>
        </p:spPr>
      </p:pic>
      <p:sp>
        <p:nvSpPr>
          <p:cNvPr id="13" name="Card header"/>
          <p:cNvSpPr txBox="1"/>
          <p:nvPr/>
        </p:nvSpPr>
        <p:spPr>
          <a:xfrm>
            <a:off x="4791456" y="1161288"/>
            <a:ext cx="3017520" cy="192024"/>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25" b="1" i="0">
                <a:solidFill>
                  <a:srgbClr val="0F172A"/>
                </a:solidFill>
                <a:latin typeface="DM Sans"/>
              </a:rPr>
              <a:t>Evidence still to collect</a:t>
            </a:r>
          </a:p>
        </p:txBody>
      </p:sp>
      <p:sp>
        <p:nvSpPr>
          <p:cNvPr id="14" name="TextBox 13"/>
          <p:cNvSpPr txBox="1"/>
          <p:nvPr/>
        </p:nvSpPr>
        <p:spPr>
          <a:xfrm>
            <a:off x="4535424" y="1508760"/>
            <a:ext cx="3127248" cy="2651760"/>
          </a:xfrm>
          <a:prstGeom prst="rect">
            <a:avLst/>
          </a:prstGeom>
          <a:noFill/>
        </p:spPr>
        <p:txBody>
          <a:bodyPr wrap="square" lIns="0" tIns="0" rIns="0" bIns="0" anchor="t">
            <a:noAutofit/>
          </a:bodyPr>
          <a:lstStyle/>
          <a:p>
            <a:pPr marL="173736" indent="-173736" algn="l">
              <a:lnSpc>
                <a:spcPct val="145000"/>
              </a:lnSpc>
              <a:spcBef>
                <a:spcPts val="0"/>
              </a:spcBef>
              <a:spcAft>
                <a:spcPts val="500"/>
              </a:spcAft>
              <a:buClr>
                <a:srgbClr val="059669"/>
              </a:buClr>
              <a:buFont typeface="DM Sans"/>
              <a:buChar char="▪"/>
            </a:pPr>
            <a:r>
              <a:rPr sz="936" b="0" i="0">
                <a:solidFill>
                  <a:srgbClr val="334155"/>
                </a:solidFill>
                <a:latin typeface="DM Sans"/>
              </a:rPr>
              <a:t>Actual frame and hardware selection</a:t>
            </a:r>
          </a:p>
          <a:p>
            <a:pPr marL="173736" indent="-173736" algn="l">
              <a:lnSpc>
                <a:spcPct val="145000"/>
              </a:lnSpc>
              <a:spcBef>
                <a:spcPts val="0"/>
              </a:spcBef>
              <a:spcAft>
                <a:spcPts val="500"/>
              </a:spcAft>
              <a:buClr>
                <a:srgbClr val="059669"/>
              </a:buClr>
              <a:buFont typeface="DM Sans"/>
              <a:buChar char="▪"/>
            </a:pPr>
            <a:r>
              <a:rPr sz="936" b="0" i="0">
                <a:solidFill>
                  <a:srgbClr val="334155"/>
                </a:solidFill>
                <a:latin typeface="DM Sans"/>
              </a:rPr>
              <a:t>Native full assembly and wiring schematic</a:t>
            </a:r>
          </a:p>
          <a:p>
            <a:pPr marL="173736" indent="-173736" algn="l">
              <a:lnSpc>
                <a:spcPct val="145000"/>
              </a:lnSpc>
              <a:spcBef>
                <a:spcPts val="0"/>
              </a:spcBef>
              <a:spcAft>
                <a:spcPts val="500"/>
              </a:spcAft>
              <a:buClr>
                <a:srgbClr val="059669"/>
              </a:buClr>
              <a:buFont typeface="DM Sans"/>
              <a:buChar char="▪"/>
            </a:pPr>
            <a:r>
              <a:rPr sz="936" b="0" i="0">
                <a:solidFill>
                  <a:srgbClr val="334155"/>
                </a:solidFill>
                <a:latin typeface="DM Sans"/>
              </a:rPr>
              <a:t>Vendor quotations</a:t>
            </a:r>
          </a:p>
          <a:p>
            <a:pPr marL="173736" indent="-173736" algn="l">
              <a:lnSpc>
                <a:spcPct val="145000"/>
              </a:lnSpc>
              <a:spcBef>
                <a:spcPts val="0"/>
              </a:spcBef>
              <a:spcAft>
                <a:spcPts val="500"/>
              </a:spcAft>
              <a:buClr>
                <a:srgbClr val="059669"/>
              </a:buClr>
              <a:buFont typeface="DM Sans"/>
              <a:buChar char="▪"/>
            </a:pPr>
            <a:r>
              <a:rPr sz="936" b="0" i="0">
                <a:solidFill>
                  <a:srgbClr val="334155"/>
                </a:solidFill>
                <a:latin typeface="DM Sans"/>
              </a:rPr>
              <a:t>Real calibration and timing logs</a:t>
            </a:r>
          </a:p>
          <a:p>
            <a:pPr marL="173736" indent="-173736" algn="l">
              <a:lnSpc>
                <a:spcPct val="145000"/>
              </a:lnSpc>
              <a:spcBef>
                <a:spcPts val="0"/>
              </a:spcBef>
              <a:spcAft>
                <a:spcPts val="500"/>
              </a:spcAft>
              <a:buClr>
                <a:srgbClr val="059669"/>
              </a:buClr>
              <a:buFont typeface="DM Sans"/>
              <a:buChar char="▪"/>
            </a:pPr>
            <a:r>
              <a:rPr sz="936" b="0" i="0">
                <a:solidFill>
                  <a:srgbClr val="334155"/>
                </a:solidFill>
                <a:latin typeface="DM Sans"/>
              </a:rPr>
              <a:t>Team fabrication photos with institutional IDs</a:t>
            </a:r>
          </a:p>
          <a:p>
            <a:pPr marL="173736" indent="-173736" algn="l">
              <a:lnSpc>
                <a:spcPct val="145000"/>
              </a:lnSpc>
              <a:spcBef>
                <a:spcPts val="0"/>
              </a:spcBef>
              <a:spcAft>
                <a:spcPts val="500"/>
              </a:spcAft>
              <a:buClr>
                <a:srgbClr val="059669"/>
              </a:buClr>
              <a:buFont typeface="DM Sans"/>
              <a:buChar char="▪"/>
            </a:pPr>
            <a:r>
              <a:rPr sz="936" b="0" i="0">
                <a:solidFill>
                  <a:srgbClr val="334155"/>
                </a:solidFill>
                <a:latin typeface="DM Sans"/>
              </a:rPr>
              <a:t>Real printed parts and fit-test results</a:t>
            </a:r>
          </a:p>
          <a:p>
            <a:pPr marL="173736" indent="-173736" algn="l">
              <a:lnSpc>
                <a:spcPct val="145000"/>
              </a:lnSpc>
              <a:spcBef>
                <a:spcPts val="0"/>
              </a:spcBef>
              <a:spcAft>
                <a:spcPts val="500"/>
              </a:spcAft>
              <a:buClr>
                <a:srgbClr val="059669"/>
              </a:buClr>
              <a:buFont typeface="DM Sans"/>
              <a:buChar char="▪"/>
            </a:pPr>
            <a:r>
              <a:rPr sz="936" b="0" i="0">
                <a:solidFill>
                  <a:srgbClr val="334155"/>
                </a:solidFill>
                <a:latin typeface="DM Sans"/>
              </a:rPr>
              <a:t>Instructor feedback and pilot results</a:t>
            </a:r>
          </a:p>
        </p:txBody>
      </p:sp>
      <p:sp>
        <p:nvSpPr>
          <p:cNvPr id="15" name="Card (green)"/>
          <p:cNvSpPr/>
          <p:nvPr/>
        </p:nvSpPr>
        <p:spPr>
          <a:xfrm>
            <a:off x="8092440" y="960120"/>
            <a:ext cx="3566160" cy="3246120"/>
          </a:xfrm>
          <a:prstGeom prst="roundRect">
            <a:avLst>
              <a:gd name="adj" fmla="val 2253"/>
            </a:avLst>
          </a:prstGeom>
          <a:solidFill>
            <a:srgbClr val="F0FDF4"/>
          </a:solidFill>
          <a:ln w="9525">
            <a:solidFill>
              <a:srgbClr val="BBF7D0"/>
            </a:solidFill>
          </a:ln>
        </p:spPr>
        <p:txBody>
          <a:bodyPr rtlCol="0" anchor="ctr"/>
          <a:lstStyle/>
          <a:p>
            <a:pPr algn="ctr"/>
            <a:endParaRPr/>
          </a:p>
        </p:txBody>
      </p:sp>
      <p:pic>
        <p:nvPicPr>
          <p:cNvPr id="16" name="Icon" descr="image.png"/>
          <p:cNvPicPr>
            <a:picLocks noChangeAspect="1"/>
          </p:cNvPicPr>
          <p:nvPr/>
        </p:nvPicPr>
        <p:blipFill>
          <a:blip r:embed="rId8"/>
          <a:stretch>
            <a:fillRect/>
          </a:stretch>
        </p:blipFill>
        <p:spPr>
          <a:xfrm>
            <a:off x="8311896" y="1179576"/>
            <a:ext cx="155448" cy="155448"/>
          </a:xfrm>
          <a:prstGeom prst="rect">
            <a:avLst/>
          </a:prstGeom>
        </p:spPr>
      </p:pic>
      <p:sp>
        <p:nvSpPr>
          <p:cNvPr id="17" name="Card header"/>
          <p:cNvSpPr txBox="1"/>
          <p:nvPr/>
        </p:nvSpPr>
        <p:spPr>
          <a:xfrm>
            <a:off x="8567928" y="1161288"/>
            <a:ext cx="3017520" cy="192024"/>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25" b="1" i="0">
                <a:solidFill>
                  <a:srgbClr val="0F172A"/>
                </a:solidFill>
                <a:latin typeface="DM Sans"/>
              </a:rPr>
              <a:t>Clear disclosure</a:t>
            </a:r>
          </a:p>
        </p:txBody>
      </p:sp>
      <p:sp>
        <p:nvSpPr>
          <p:cNvPr id="18" name="TextBox 17"/>
          <p:cNvSpPr txBox="1"/>
          <p:nvPr/>
        </p:nvSpPr>
        <p:spPr>
          <a:xfrm>
            <a:off x="8311896" y="1508760"/>
            <a:ext cx="3127248" cy="2651760"/>
          </a:xfrm>
          <a:prstGeom prst="rect">
            <a:avLst/>
          </a:prstGeom>
          <a:noFill/>
        </p:spPr>
        <p:txBody>
          <a:bodyPr wrap="square" lIns="0" tIns="0" rIns="0" bIns="0" anchor="t">
            <a:noAutofit/>
          </a:bodyPr>
          <a:lstStyle/>
          <a:p>
            <a:pPr marL="0" indent="0" algn="l">
              <a:lnSpc>
                <a:spcPct val="145000"/>
              </a:lnSpc>
              <a:spcBef>
                <a:spcPts val="0"/>
              </a:spcBef>
              <a:spcAft>
                <a:spcPts val="700"/>
              </a:spcAft>
              <a:buNone/>
            </a:pPr>
            <a:r>
              <a:rPr sz="936" b="1" i="0">
                <a:solidFill>
                  <a:srgbClr val="334155"/>
                </a:solidFill>
                <a:latin typeface="DM Sans"/>
              </a:rPr>
              <a:t>The concept images are AI-generated.</a:t>
            </a:r>
          </a:p>
          <a:p>
            <a:pPr marL="0" indent="0" algn="l">
              <a:lnSpc>
                <a:spcPct val="145000"/>
              </a:lnSpc>
              <a:spcBef>
                <a:spcPts val="0"/>
              </a:spcBef>
              <a:spcAft>
                <a:spcPts val="700"/>
              </a:spcAft>
              <a:buNone/>
            </a:pPr>
            <a:r>
              <a:rPr sz="936" b="1" i="0">
                <a:solidFill>
                  <a:srgbClr val="334155"/>
                </a:solidFill>
                <a:latin typeface="DM Sans"/>
              </a:rPr>
              <a:t>The OpenSCAD file is a design draft.</a:t>
            </a:r>
          </a:p>
          <a:p>
            <a:pPr marL="0" indent="0" algn="l">
              <a:lnSpc>
                <a:spcPct val="145000"/>
              </a:lnSpc>
              <a:spcBef>
                <a:spcPts val="0"/>
              </a:spcBef>
              <a:spcAft>
                <a:spcPts val="0"/>
              </a:spcAft>
              <a:buNone/>
            </a:pPr>
            <a:r>
              <a:rPr sz="936" b="0" i="0">
                <a:solidFill>
                  <a:srgbClr val="334155"/>
                </a:solidFill>
                <a:latin typeface="DM Sans"/>
              </a:rPr>
              <a:t>No built glasses, team build photographs, FEA outputs or user-study results are represented as completed.</a:t>
            </a:r>
          </a:p>
        </p:txBody>
      </p:sp>
      <p:sp>
        <p:nvSpPr>
          <p:cNvPr id="19" name="Card (gray)"/>
          <p:cNvSpPr/>
          <p:nvPr/>
        </p:nvSpPr>
        <p:spPr>
          <a:xfrm>
            <a:off x="530352" y="4343400"/>
            <a:ext cx="11128248" cy="1188720"/>
          </a:xfrm>
          <a:prstGeom prst="roundRect">
            <a:avLst>
              <a:gd name="adj" fmla="val 6153"/>
            </a:avLst>
          </a:prstGeom>
          <a:solidFill>
            <a:srgbClr val="F8FAFC"/>
          </a:solidFill>
          <a:ln w="9525">
            <a:solidFill>
              <a:srgbClr val="E2E8F0"/>
            </a:solidFill>
          </a:ln>
        </p:spPr>
        <p:txBody>
          <a:bodyPr rtlCol="0" anchor="ctr"/>
          <a:lstStyle/>
          <a:p>
            <a:pPr algn="ctr"/>
            <a:endParaRPr/>
          </a:p>
        </p:txBody>
      </p:sp>
      <p:sp>
        <p:nvSpPr>
          <p:cNvPr id="20" name="TextBox 19"/>
          <p:cNvSpPr txBox="1"/>
          <p:nvPr/>
        </p:nvSpPr>
        <p:spPr>
          <a:xfrm>
            <a:off x="749808" y="4462272"/>
            <a:ext cx="10698480" cy="201168"/>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011" b="1" i="0">
                <a:solidFill>
                  <a:srgbClr val="0F172A"/>
                </a:solidFill>
                <a:latin typeface="DM Sans"/>
              </a:rPr>
              <a:t>Pending team details: to be added by the team before submission. None is represented as complete.</a:t>
            </a:r>
          </a:p>
        </p:txBody>
      </p:sp>
      <p:sp>
        <p:nvSpPr>
          <p:cNvPr id="21" name="TextBox 20"/>
          <p:cNvSpPr txBox="1"/>
          <p:nvPr/>
        </p:nvSpPr>
        <p:spPr>
          <a:xfrm>
            <a:off x="749808" y="4754880"/>
            <a:ext cx="3337560" cy="731520"/>
          </a:xfrm>
          <a:prstGeom prst="rect">
            <a:avLst/>
          </a:prstGeom>
          <a:noFill/>
        </p:spPr>
        <p:txBody>
          <a:bodyPr wrap="square" lIns="0" tIns="0" rIns="0" bIns="0" anchor="t">
            <a:noAutofit/>
          </a:bodyPr>
          <a:lstStyle/>
          <a:p>
            <a:pPr marL="0" indent="0" algn="l">
              <a:lnSpc>
                <a:spcPct val="130000"/>
              </a:lnSpc>
              <a:spcBef>
                <a:spcPts val="0"/>
              </a:spcBef>
              <a:spcAft>
                <a:spcPts val="200"/>
              </a:spcAft>
              <a:buNone/>
            </a:pPr>
            <a:r>
              <a:rPr sz="936" b="1" i="0">
                <a:solidFill>
                  <a:srgbClr val="059669"/>
                </a:solidFill>
                <a:latin typeface="DM Sans"/>
              </a:rPr>
              <a:t>Authenticity verification</a:t>
            </a:r>
          </a:p>
          <a:p>
            <a:pPr marL="0" indent="0" algn="l">
              <a:lnSpc>
                <a:spcPct val="135000"/>
              </a:lnSpc>
              <a:spcBef>
                <a:spcPts val="0"/>
              </a:spcBef>
              <a:spcAft>
                <a:spcPts val="0"/>
              </a:spcAft>
              <a:buNone/>
            </a:pPr>
            <a:r>
              <a:rPr sz="936" b="0" i="0">
                <a:solidFill>
                  <a:srgbClr val="334155"/>
                </a:solidFill>
                <a:latin typeface="DM Sans"/>
              </a:rPr>
              <a:t>Team members with institutional ID badges at work; joint lab review photo if a faculty mentor is attached.</a:t>
            </a:r>
          </a:p>
        </p:txBody>
      </p:sp>
      <p:sp>
        <p:nvSpPr>
          <p:cNvPr id="22" name="TextBox 21"/>
          <p:cNvSpPr txBox="1"/>
          <p:nvPr/>
        </p:nvSpPr>
        <p:spPr>
          <a:xfrm>
            <a:off x="4361688" y="4754880"/>
            <a:ext cx="3337560" cy="731520"/>
          </a:xfrm>
          <a:prstGeom prst="rect">
            <a:avLst/>
          </a:prstGeom>
          <a:noFill/>
        </p:spPr>
        <p:txBody>
          <a:bodyPr wrap="square" lIns="0" tIns="0" rIns="0" bIns="0" anchor="t">
            <a:noAutofit/>
          </a:bodyPr>
          <a:lstStyle/>
          <a:p>
            <a:pPr marL="0" indent="0" algn="l">
              <a:lnSpc>
                <a:spcPct val="130000"/>
              </a:lnSpc>
              <a:spcBef>
                <a:spcPts val="0"/>
              </a:spcBef>
              <a:spcAft>
                <a:spcPts val="200"/>
              </a:spcAft>
              <a:buNone/>
            </a:pPr>
            <a:r>
              <a:rPr sz="936" b="1" i="0">
                <a:solidFill>
                  <a:srgbClr val="059669"/>
                </a:solidFill>
                <a:latin typeface="DM Sans"/>
              </a:rPr>
              <a:t>Work-in-progress evidence</a:t>
            </a:r>
          </a:p>
          <a:p>
            <a:pPr marL="0" indent="0" algn="l">
              <a:lnSpc>
                <a:spcPct val="135000"/>
              </a:lnSpc>
              <a:spcBef>
                <a:spcPts val="0"/>
              </a:spcBef>
              <a:spcAft>
                <a:spcPts val="0"/>
              </a:spcAft>
              <a:buNone/>
            </a:pPr>
            <a:r>
              <a:rPr sz="936" b="0" i="0">
                <a:solidFill>
                  <a:srgbClr val="334155"/>
                </a:solidFill>
                <a:latin typeface="DM Sans"/>
              </a:rPr>
              <a:t>Genuine CAD feature-tree and wiring-schematic screenshots; calibration and timing logs.</a:t>
            </a:r>
          </a:p>
        </p:txBody>
      </p:sp>
      <p:sp>
        <p:nvSpPr>
          <p:cNvPr id="23" name="TextBox 22"/>
          <p:cNvSpPr txBox="1"/>
          <p:nvPr/>
        </p:nvSpPr>
        <p:spPr>
          <a:xfrm>
            <a:off x="7973568" y="4754880"/>
            <a:ext cx="3337560" cy="731520"/>
          </a:xfrm>
          <a:prstGeom prst="rect">
            <a:avLst/>
          </a:prstGeom>
          <a:noFill/>
        </p:spPr>
        <p:txBody>
          <a:bodyPr wrap="square" lIns="0" tIns="0" rIns="0" bIns="0" anchor="t">
            <a:noAutofit/>
          </a:bodyPr>
          <a:lstStyle/>
          <a:p>
            <a:pPr marL="0" indent="0" algn="l">
              <a:lnSpc>
                <a:spcPct val="130000"/>
              </a:lnSpc>
              <a:spcBef>
                <a:spcPts val="0"/>
              </a:spcBef>
              <a:spcAft>
                <a:spcPts val="200"/>
              </a:spcAft>
              <a:buNone/>
            </a:pPr>
            <a:r>
              <a:rPr sz="936" b="1" i="0">
                <a:solidFill>
                  <a:srgbClr val="059669"/>
                </a:solidFill>
                <a:latin typeface="DM Sans"/>
              </a:rPr>
              <a:t>Public CAD repository</a:t>
            </a:r>
          </a:p>
          <a:p>
            <a:pPr marL="0" indent="0" algn="l">
              <a:lnSpc>
                <a:spcPct val="135000"/>
              </a:lnSpc>
              <a:spcBef>
                <a:spcPts val="0"/>
              </a:spcBef>
              <a:spcAft>
                <a:spcPts val="0"/>
              </a:spcAft>
              <a:buNone/>
            </a:pPr>
            <a:r>
              <a:rPr sz="936" b="0" i="0">
                <a:solidFill>
                  <a:srgbClr val="334155"/>
                </a:solidFill>
                <a:latin typeface="DM Sans"/>
                <a:hlinkClick r:id="rId9"/>
              </a:rPr>
              <a:t>https://github.com/labishbardiya/GIG-Assistance-and-Training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3"/>
          <a:stretch>
            <a:fillRect/>
          </a:stretch>
        </p:blipFill>
        <p:spPr>
          <a:xfrm>
            <a:off x="0" y="0"/>
            <a:ext cx="12191695" cy="6858000"/>
          </a:xfrm>
          <a:prstGeom prst="rect">
            <a:avLst/>
          </a:prstGeom>
        </p:spPr>
      </p:pic>
      <p:pic>
        <p:nvPicPr>
          <p:cNvPr id="3" name="Logo Vishwakarma" descr="image.png"/>
          <p:cNvPicPr>
            <a:picLocks noChangeAspect="1"/>
          </p:cNvPicPr>
          <p:nvPr/>
        </p:nvPicPr>
        <p:blipFill>
          <a:blip r:embed="rId4"/>
          <a:srcRect l="14673" t="33074" r="15820" b="44466"/>
          <a:stretch>
            <a:fillRect/>
          </a:stretch>
        </p:blipFill>
        <p:spPr>
          <a:xfrm>
            <a:off x="0" y="6281928"/>
            <a:ext cx="1783080" cy="576072"/>
          </a:xfrm>
          <a:prstGeom prst="rect">
            <a:avLst/>
          </a:prstGeom>
        </p:spPr>
      </p:pic>
      <p:pic>
        <p:nvPicPr>
          <p:cNvPr id="4" name="Logo Maker Bhavan" descr="image.png"/>
          <p:cNvPicPr>
            <a:picLocks noChangeAspect="1"/>
          </p:cNvPicPr>
          <p:nvPr/>
        </p:nvPicPr>
        <p:blipFill>
          <a:blip r:embed="rId5"/>
          <a:stretch>
            <a:fillRect/>
          </a:stretch>
        </p:blipFill>
        <p:spPr>
          <a:xfrm>
            <a:off x="11091672" y="6281928"/>
            <a:ext cx="1097280" cy="576072"/>
          </a:xfrm>
          <a:prstGeom prst="rect">
            <a:avLst/>
          </a:prstGeom>
        </p:spPr>
      </p:pic>
      <p:sp>
        <p:nvSpPr>
          <p:cNvPr id="5" name="Title"/>
          <p:cNvSpPr txBox="1"/>
          <p:nvPr/>
        </p:nvSpPr>
        <p:spPr>
          <a:xfrm>
            <a:off x="530352" y="438912"/>
            <a:ext cx="11128248" cy="310896"/>
          </a:xfrm>
          <a:prstGeom prst="rect">
            <a:avLst/>
          </a:prstGeom>
          <a:noFill/>
        </p:spPr>
        <p:txBody>
          <a:bodyPr wrap="square" lIns="0" tIns="0" rIns="0" bIns="0" anchor="ctr">
            <a:noAutofit/>
          </a:bodyPr>
          <a:lstStyle/>
          <a:p>
            <a:pPr marL="0" indent="0" algn="l">
              <a:lnSpc>
                <a:spcPct val="120000"/>
              </a:lnSpc>
              <a:spcBef>
                <a:spcPts val="0"/>
              </a:spcBef>
              <a:spcAft>
                <a:spcPts val="0"/>
              </a:spcAft>
              <a:buNone/>
            </a:pPr>
            <a:r>
              <a:rPr sz="2025" b="1" i="0">
                <a:solidFill>
                  <a:srgbClr val="0F172A"/>
                </a:solidFill>
                <a:latin typeface="Poppins SemiBold"/>
              </a:rPr>
              <a:t>Safety &amp; Hazard Mitigation</a:t>
            </a:r>
          </a:p>
        </p:txBody>
      </p:sp>
      <p:sp>
        <p:nvSpPr>
          <p:cNvPr id="6" name="Footer"/>
          <p:cNvSpPr txBox="1"/>
          <p:nvPr/>
        </p:nvSpPr>
        <p:spPr>
          <a:xfrm>
            <a:off x="3840480" y="6455664"/>
            <a:ext cx="4507992" cy="164592"/>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861" b="0" i="0">
                <a:solidFill>
                  <a:srgbClr val="64748B"/>
                </a:solidFill>
                <a:latin typeface="DM Sans"/>
              </a:rPr>
              <a:t>VK26-AU-HCI-0032  ·  HCI 2.0  ·  10 / 16</a:t>
            </a:r>
          </a:p>
        </p:txBody>
      </p:sp>
      <p:sp>
        <p:nvSpPr>
          <p:cNvPr id="7" name="Card (green)"/>
          <p:cNvSpPr/>
          <p:nvPr/>
        </p:nvSpPr>
        <p:spPr>
          <a:xfrm>
            <a:off x="530352" y="960120"/>
            <a:ext cx="11128248" cy="4526280"/>
          </a:xfrm>
          <a:prstGeom prst="roundRect">
            <a:avLst>
              <a:gd name="adj" fmla="val 1616"/>
            </a:avLst>
          </a:prstGeom>
          <a:solidFill>
            <a:srgbClr val="F0FDF4"/>
          </a:solidFill>
          <a:ln w="9525">
            <a:solidFill>
              <a:srgbClr val="BBF7D0"/>
            </a:solidFill>
          </a:ln>
        </p:spPr>
        <p:txBody>
          <a:bodyPr rtlCol="0" anchor="ctr"/>
          <a:lstStyle/>
          <a:p>
            <a:pPr algn="ctr"/>
            <a:endParaRPr/>
          </a:p>
        </p:txBody>
      </p:sp>
      <p:pic>
        <p:nvPicPr>
          <p:cNvPr id="8" name="Icon" descr="image.png"/>
          <p:cNvPicPr>
            <a:picLocks noChangeAspect="1"/>
          </p:cNvPicPr>
          <p:nvPr/>
        </p:nvPicPr>
        <p:blipFill>
          <a:blip r:embed="rId6"/>
          <a:stretch>
            <a:fillRect/>
          </a:stretch>
        </p:blipFill>
        <p:spPr>
          <a:xfrm>
            <a:off x="749808" y="1179576"/>
            <a:ext cx="155448" cy="155448"/>
          </a:xfrm>
          <a:prstGeom prst="rect">
            <a:avLst/>
          </a:prstGeom>
        </p:spPr>
      </p:pic>
      <p:sp>
        <p:nvSpPr>
          <p:cNvPr id="9" name="Card header"/>
          <p:cNvSpPr txBox="1"/>
          <p:nvPr/>
        </p:nvSpPr>
        <p:spPr>
          <a:xfrm>
            <a:off x="1005840" y="1161288"/>
            <a:ext cx="7315200" cy="192024"/>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25" b="1" i="0">
                <a:solidFill>
                  <a:srgbClr val="0F172A"/>
                </a:solidFill>
                <a:latin typeface="DM Sans"/>
              </a:rPr>
              <a:t>Design FMEA (Failure Mode and Effects Analysis)</a:t>
            </a:r>
          </a:p>
        </p:txBody>
      </p:sp>
      <p:graphicFrame>
        <p:nvGraphicFramePr>
          <p:cNvPr id="10" name="FMEA table"/>
          <p:cNvGraphicFramePr>
            <a:graphicFrameLocks noGrp="1"/>
          </p:cNvGraphicFramePr>
          <p:nvPr/>
        </p:nvGraphicFramePr>
        <p:xfrm>
          <a:off x="749808" y="1508760"/>
          <a:ext cx="10698480" cy="3749040"/>
        </p:xfrm>
        <a:graphic>
          <a:graphicData uri="http://schemas.openxmlformats.org/drawingml/2006/table">
            <a:tbl>
              <a:tblPr firstRow="1" bandRow="1">
                <a:noFill/>
                <a:tableStyleId>{56046466-F724-4CB5-896F-67C00AF2974A}</a:tableStyleId>
              </a:tblPr>
              <a:tblGrid>
                <a:gridCol w="210312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5760720">
                  <a:extLst>
                    <a:ext uri="{9D8B030D-6E8A-4147-A177-3AD203B41FA5}">
                      <a16:colId xmlns:a16="http://schemas.microsoft.com/office/drawing/2014/main" val="20002"/>
                    </a:ext>
                  </a:extLst>
                </a:gridCol>
              </a:tblGrid>
              <a:tr h="347472">
                <a:tc>
                  <a:txBody>
                    <a:bodyPr/>
                    <a:lstStyle/>
                    <a:p>
                      <a:pPr marL="0" marR="0" lvl="0" indent="0" algn="l" rtl="0">
                        <a:spcBef>
                          <a:spcPts val="0"/>
                        </a:spcBef>
                        <a:spcAft>
                          <a:spcPts val="0"/>
                        </a:spcAft>
                        <a:buNone/>
                      </a:pPr>
                      <a:r>
                        <a:rPr lang="en-US" sz="950" b="1" i="0" u="none">
                          <a:solidFill>
                            <a:srgbClr val="1E293B"/>
                          </a:solidFill>
                          <a:latin typeface="DM Sans"/>
                          <a:ea typeface="DM Sans"/>
                          <a:cs typeface="DM Sans"/>
                          <a:sym typeface="DM Sans"/>
                        </a:rPr>
                        <a:t>Failure Mode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950" b="1" i="0" u="none">
                          <a:solidFill>
                            <a:srgbClr val="1E293B"/>
                          </a:solidFill>
                          <a:latin typeface="DM Sans"/>
                          <a:ea typeface="DM Sans"/>
                          <a:cs typeface="DM Sans"/>
                          <a:sym typeface="DM Sans"/>
                        </a:rPr>
                        <a:t>Possible Harm</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950" b="1" i="0" u="none">
                          <a:solidFill>
                            <a:srgbClr val="1E293B"/>
                          </a:solidFill>
                          <a:latin typeface="DM Sans"/>
                          <a:ea typeface="DM Sans"/>
                          <a:cs typeface="DM Sans"/>
                          <a:sym typeface="DM Sans"/>
                        </a:rPr>
                        <a:t>Control / Verification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extLst>
                  <a:ext uri="{0D108BD9-81ED-4DB2-BD59-A6C34878D82A}">
                    <a16:rowId xmlns:a16="http://schemas.microsoft.com/office/drawing/2014/main" val="10000"/>
                  </a:ext>
                </a:extLst>
              </a:tr>
              <a:tr h="566928">
                <a:tc>
                  <a:txBody>
                    <a:bodyPr/>
                    <a:lstStyle/>
                    <a:p>
                      <a:pPr marL="0" marR="0" lvl="0" indent="0" algn="l" rtl="0">
                        <a:spcBef>
                          <a:spcPts val="0"/>
                        </a:spcBef>
                        <a:spcAft>
                          <a:spcPts val="0"/>
                        </a:spcAft>
                        <a:buNone/>
                      </a:pPr>
                      <a:r>
                        <a:rPr lang="en-US" sz="950" b="0" i="0" u="none">
                          <a:solidFill>
                            <a:srgbClr val="334155"/>
                          </a:solidFill>
                          <a:latin typeface="DM Sans"/>
                          <a:ea typeface="DM Sans"/>
                          <a:cs typeface="DM Sans"/>
                          <a:sym typeface="DM Sans"/>
                        </a:rPr>
                        <a:t>Wrong item highlighted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50" b="0" i="0" u="none">
                          <a:solidFill>
                            <a:srgbClr val="334155"/>
                          </a:solidFill>
                          <a:latin typeface="DM Sans"/>
                          <a:ea typeface="DM Sans"/>
                          <a:cs typeface="DM Sans"/>
                          <a:sym typeface="DM Sans"/>
                        </a:rPr>
                        <a:t>Wrong instruction opened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50" b="0" i="0" u="none">
                          <a:solidFill>
                            <a:srgbClr val="334155"/>
                          </a:solidFill>
                          <a:latin typeface="DM Sans"/>
                          <a:ea typeface="DM Sans"/>
                          <a:cs typeface="DM Sans"/>
                          <a:sym typeface="DM Sans"/>
                        </a:rPr>
                        <a:t>Candidate display plus deliberate confirm; reject low-quality gaze; log false selections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566928">
                <a:tc>
                  <a:txBody>
                    <a:bodyPr/>
                    <a:lstStyle/>
                    <a:p>
                      <a:pPr marL="0" marR="0" lvl="0" indent="0" algn="l" rtl="0">
                        <a:spcBef>
                          <a:spcPts val="0"/>
                        </a:spcBef>
                        <a:spcAft>
                          <a:spcPts val="0"/>
                        </a:spcAft>
                        <a:buNone/>
                      </a:pPr>
                      <a:r>
                        <a:rPr lang="en-US" sz="950" b="0" i="0" u="none">
                          <a:solidFill>
                            <a:srgbClr val="334155"/>
                          </a:solidFill>
                          <a:latin typeface="DM Sans"/>
                          <a:ea typeface="DM Sans"/>
                          <a:cs typeface="DM Sans"/>
                          <a:sym typeface="DM Sans"/>
                        </a:rPr>
                        <a:t>Display distraction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50" b="0" i="0" u="none">
                          <a:solidFill>
                            <a:srgbClr val="334155"/>
                          </a:solidFill>
                          <a:latin typeface="DM Sans"/>
                          <a:ea typeface="DM Sans"/>
                          <a:cs typeface="DM Sans"/>
                          <a:sym typeface="DM Sans"/>
                        </a:rPr>
                        <a:t>Task interruption or reduced situational awareness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50" b="0" i="0" u="none">
                          <a:solidFill>
                            <a:srgbClr val="334155"/>
                          </a:solidFill>
                          <a:latin typeface="DM Sans"/>
                          <a:ea typeface="DM Sans"/>
                          <a:cs typeface="DM Sans"/>
                          <a:sym typeface="DM Sans"/>
                        </a:rPr>
                        <a:t>Brief prompts, blank-display button, indoor pilot and stop rule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566928">
                <a:tc>
                  <a:txBody>
                    <a:bodyPr/>
                    <a:lstStyle/>
                    <a:p>
                      <a:pPr marL="0" marR="0" lvl="0" indent="0" algn="l" rtl="0">
                        <a:spcBef>
                          <a:spcPts val="0"/>
                        </a:spcBef>
                        <a:spcAft>
                          <a:spcPts val="0"/>
                        </a:spcAft>
                        <a:buNone/>
                      </a:pPr>
                      <a:r>
                        <a:rPr lang="en-US" sz="950" b="0" i="0" u="none">
                          <a:solidFill>
                            <a:srgbClr val="334155"/>
                          </a:solidFill>
                          <a:latin typeface="DM Sans"/>
                          <a:ea typeface="DM Sans"/>
                          <a:cs typeface="DM Sans"/>
                          <a:sym typeface="DM Sans"/>
                        </a:rPr>
                        <a:t>Recording without consent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50" b="0" i="0" u="none">
                          <a:solidFill>
                            <a:srgbClr val="334155"/>
                          </a:solidFill>
                          <a:latin typeface="DM Sans"/>
                          <a:ea typeface="DM Sans"/>
                          <a:cs typeface="DM Sans"/>
                          <a:sym typeface="DM Sans"/>
                        </a:rPr>
                        <a:t>Privacy harm</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50" b="0" i="0" u="none">
                          <a:solidFill>
                            <a:srgbClr val="334155"/>
                          </a:solidFill>
                          <a:latin typeface="DM Sans"/>
                          <a:ea typeface="DM Sans"/>
                          <a:cs typeface="DM Sans"/>
                          <a:sym typeface="DM Sans"/>
                        </a:rPr>
                        <a:t>Explicit session start, visible indicator, pause and delete, restricted access and retention limit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566928">
                <a:tc>
                  <a:txBody>
                    <a:bodyPr/>
                    <a:lstStyle/>
                    <a:p>
                      <a:pPr marL="0" marR="0" lvl="0" indent="0" algn="l" rtl="0">
                        <a:spcBef>
                          <a:spcPts val="0"/>
                        </a:spcBef>
                        <a:spcAft>
                          <a:spcPts val="0"/>
                        </a:spcAft>
                        <a:buNone/>
                      </a:pPr>
                      <a:r>
                        <a:rPr lang="en-US" sz="950" b="0" i="0" u="none">
                          <a:solidFill>
                            <a:srgbClr val="334155"/>
                          </a:solidFill>
                          <a:latin typeface="DM Sans"/>
                          <a:ea typeface="DM Sans"/>
                          <a:cs typeface="DM Sans"/>
                          <a:sym typeface="DM Sans"/>
                        </a:rPr>
                        <a:t>Missing or misaligned media</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50" b="0" i="0" u="none">
                          <a:solidFill>
                            <a:srgbClr val="334155"/>
                          </a:solidFill>
                          <a:latin typeface="DM Sans"/>
                          <a:ea typeface="DM Sans"/>
                          <a:cs typeface="DM Sans"/>
                          <a:sym typeface="DM Sans"/>
                        </a:rPr>
                        <a:t>Misleading debrief</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50" b="0" i="0" u="none">
                          <a:solidFill>
                            <a:srgbClr val="334155"/>
                          </a:solidFill>
                          <a:latin typeface="DM Sans"/>
                          <a:ea typeface="DM Sans"/>
                          <a:cs typeface="DM Sans"/>
                          <a:sym typeface="DM Sans"/>
                        </a:rPr>
                        <a:t>Source timestamps, gap flags, start/end sync markers and dropout tests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566928">
                <a:tc>
                  <a:txBody>
                    <a:bodyPr/>
                    <a:lstStyle/>
                    <a:p>
                      <a:pPr marL="0" marR="0" lvl="0" indent="0" algn="l" rtl="0">
                        <a:spcBef>
                          <a:spcPts val="0"/>
                        </a:spcBef>
                        <a:spcAft>
                          <a:spcPts val="0"/>
                        </a:spcAft>
                        <a:buNone/>
                      </a:pPr>
                      <a:r>
                        <a:rPr lang="en-US" sz="950" b="0" i="0" u="none">
                          <a:solidFill>
                            <a:srgbClr val="334155"/>
                          </a:solidFill>
                          <a:latin typeface="DM Sans"/>
                          <a:ea typeface="DM Sans"/>
                          <a:cs typeface="DM Sans"/>
                          <a:sym typeface="DM Sans"/>
                        </a:rPr>
                        <a:t>Uncomfortable mount or cable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50" b="0" i="0" u="none">
                          <a:solidFill>
                            <a:srgbClr val="334155"/>
                          </a:solidFill>
                          <a:latin typeface="DM Sans"/>
                          <a:ea typeface="DM Sans"/>
                          <a:cs typeface="DM Sans"/>
                          <a:sym typeface="DM Sans"/>
                        </a:rPr>
                        <a:t>Fatigue, snagging or unsafe removal</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50" b="0" i="0" u="none">
                          <a:solidFill>
                            <a:srgbClr val="334155"/>
                          </a:solidFill>
                          <a:latin typeface="DM Sans"/>
                          <a:ea typeface="DM Sans"/>
                          <a:cs typeface="DM Sans"/>
                          <a:sym typeface="DM Sans"/>
                        </a:rPr>
                        <a:t>Fit and cable-routing tests; quick-release path; no certified PPE modification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566928">
                <a:tc>
                  <a:txBody>
                    <a:bodyPr/>
                    <a:lstStyle/>
                    <a:p>
                      <a:pPr marL="0" marR="0" lvl="0" indent="0" algn="l" rtl="0">
                        <a:spcBef>
                          <a:spcPts val="0"/>
                        </a:spcBef>
                        <a:spcAft>
                          <a:spcPts val="0"/>
                        </a:spcAft>
                        <a:buNone/>
                      </a:pPr>
                      <a:r>
                        <a:rPr lang="en-US" sz="950" b="0" i="0" u="none">
                          <a:solidFill>
                            <a:srgbClr val="334155"/>
                          </a:solidFill>
                          <a:latin typeface="DM Sans"/>
                          <a:ea typeface="DM Sans"/>
                          <a:cs typeface="DM Sans"/>
                          <a:sym typeface="DM Sans"/>
                        </a:rPr>
                        <a:t>Wrist overinterpretation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50" b="0" i="0" u="none">
                          <a:solidFill>
                            <a:srgbClr val="334155"/>
                          </a:solidFill>
                          <a:latin typeface="DM Sans"/>
                          <a:ea typeface="DM Sans"/>
                          <a:cs typeface="DM Sans"/>
                          <a:sym typeface="DM Sans"/>
                        </a:rPr>
                        <a:t>Unfair performance judgment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50" b="0" i="0" u="none">
                          <a:solidFill>
                            <a:srgbClr val="334155"/>
                          </a:solidFill>
                          <a:latin typeface="DM Sans"/>
                          <a:ea typeface="DM Sans"/>
                          <a:cs typeface="DM Sans"/>
                          <a:sym typeface="DM Sans"/>
                        </a:rPr>
                        <a:t>Optional, consented trends only; never infer stress, emotion or competence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pic>
        <p:nvPicPr>
          <p:cNvPr id="11" name="Note bar" descr="image.png"/>
          <p:cNvPicPr>
            <a:picLocks noChangeAspect="1"/>
          </p:cNvPicPr>
          <p:nvPr/>
        </p:nvPicPr>
        <p:blipFill>
          <a:blip r:embed="rId7"/>
          <a:stretch>
            <a:fillRect/>
          </a:stretch>
        </p:blipFill>
        <p:spPr>
          <a:xfrm>
            <a:off x="530352" y="5669280"/>
            <a:ext cx="11128248" cy="457200"/>
          </a:xfrm>
          <a:prstGeom prst="rect">
            <a:avLst/>
          </a:prstGeom>
        </p:spPr>
      </p:pic>
      <p:sp>
        <p:nvSpPr>
          <p:cNvPr id="12" name="Note text"/>
          <p:cNvSpPr txBox="1"/>
          <p:nvPr/>
        </p:nvSpPr>
        <p:spPr>
          <a:xfrm>
            <a:off x="722376" y="5751576"/>
            <a:ext cx="10789920" cy="365760"/>
          </a:xfrm>
          <a:prstGeom prst="rect">
            <a:avLst/>
          </a:prstGeom>
          <a:noFill/>
        </p:spPr>
        <p:txBody>
          <a:bodyPr wrap="square" lIns="0" tIns="0" rIns="0" bIns="0" anchor="t">
            <a:noAutofit/>
          </a:bodyPr>
          <a:lstStyle/>
          <a:p>
            <a:pPr marL="0" indent="0" algn="l">
              <a:lnSpc>
                <a:spcPct val="145000"/>
              </a:lnSpc>
              <a:spcBef>
                <a:spcPts val="0"/>
              </a:spcBef>
              <a:spcAft>
                <a:spcPts val="0"/>
              </a:spcAft>
              <a:buNone/>
            </a:pPr>
            <a:r>
              <a:rPr sz="936" b="1" i="0">
                <a:solidFill>
                  <a:srgbClr val="0F172A"/>
                </a:solidFill>
                <a:latin typeface="DM Sans"/>
              </a:rPr>
              <a:t>Scope:</a:t>
            </a:r>
            <a:r>
              <a:rPr sz="936" b="0" i="0">
                <a:solidFill>
                  <a:srgbClr val="334155"/>
                </a:solidFill>
                <a:latin typeface="DM Sans"/>
              </a:rPr>
              <a:t> training-only in controlled indoor exercises until safety, environment, security and PPE compatibility are verified. These are design controls, not tested results.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3"/>
          <a:stretch>
            <a:fillRect/>
          </a:stretch>
        </p:blipFill>
        <p:spPr>
          <a:xfrm>
            <a:off x="0" y="0"/>
            <a:ext cx="12191695" cy="6858000"/>
          </a:xfrm>
          <a:prstGeom prst="rect">
            <a:avLst/>
          </a:prstGeom>
        </p:spPr>
      </p:pic>
      <p:pic>
        <p:nvPicPr>
          <p:cNvPr id="3" name="Logo Vishwakarma" descr="image.png"/>
          <p:cNvPicPr>
            <a:picLocks noChangeAspect="1"/>
          </p:cNvPicPr>
          <p:nvPr/>
        </p:nvPicPr>
        <p:blipFill>
          <a:blip r:embed="rId4"/>
          <a:srcRect l="14673" t="33074" r="15820" b="44466"/>
          <a:stretch>
            <a:fillRect/>
          </a:stretch>
        </p:blipFill>
        <p:spPr>
          <a:xfrm>
            <a:off x="0" y="6281928"/>
            <a:ext cx="1783080" cy="576072"/>
          </a:xfrm>
          <a:prstGeom prst="rect">
            <a:avLst/>
          </a:prstGeom>
        </p:spPr>
      </p:pic>
      <p:pic>
        <p:nvPicPr>
          <p:cNvPr id="4" name="Logo Maker Bhavan" descr="image.png"/>
          <p:cNvPicPr>
            <a:picLocks noChangeAspect="1"/>
          </p:cNvPicPr>
          <p:nvPr/>
        </p:nvPicPr>
        <p:blipFill>
          <a:blip r:embed="rId5"/>
          <a:stretch>
            <a:fillRect/>
          </a:stretch>
        </p:blipFill>
        <p:spPr>
          <a:xfrm>
            <a:off x="11091672" y="6281928"/>
            <a:ext cx="1097280" cy="576072"/>
          </a:xfrm>
          <a:prstGeom prst="rect">
            <a:avLst/>
          </a:prstGeom>
        </p:spPr>
      </p:pic>
      <p:sp>
        <p:nvSpPr>
          <p:cNvPr id="5" name="Title"/>
          <p:cNvSpPr txBox="1"/>
          <p:nvPr/>
        </p:nvSpPr>
        <p:spPr>
          <a:xfrm>
            <a:off x="530352" y="438912"/>
            <a:ext cx="11128248" cy="310896"/>
          </a:xfrm>
          <a:prstGeom prst="rect">
            <a:avLst/>
          </a:prstGeom>
          <a:noFill/>
        </p:spPr>
        <p:txBody>
          <a:bodyPr wrap="square" lIns="0" tIns="0" rIns="0" bIns="0" anchor="ctr">
            <a:noAutofit/>
          </a:bodyPr>
          <a:lstStyle/>
          <a:p>
            <a:pPr marL="0" indent="0" algn="l">
              <a:lnSpc>
                <a:spcPct val="120000"/>
              </a:lnSpc>
              <a:spcBef>
                <a:spcPts val="0"/>
              </a:spcBef>
              <a:spcAft>
                <a:spcPts val="0"/>
              </a:spcAft>
              <a:buNone/>
            </a:pPr>
            <a:r>
              <a:rPr sz="2025" b="1" i="0">
                <a:solidFill>
                  <a:srgbClr val="0F172A"/>
                </a:solidFill>
                <a:latin typeface="Poppins SemiBold"/>
              </a:rPr>
              <a:t>Fabrication Roadmap</a:t>
            </a:r>
          </a:p>
        </p:txBody>
      </p:sp>
      <p:sp>
        <p:nvSpPr>
          <p:cNvPr id="6" name="Footer"/>
          <p:cNvSpPr txBox="1"/>
          <p:nvPr/>
        </p:nvSpPr>
        <p:spPr>
          <a:xfrm>
            <a:off x="3840480" y="6455664"/>
            <a:ext cx="4507992" cy="164592"/>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861" b="0" i="0">
                <a:solidFill>
                  <a:srgbClr val="64748B"/>
                </a:solidFill>
                <a:latin typeface="DM Sans"/>
              </a:rPr>
              <a:t>VK26-AU-HCI-0032  ·  HCI 2.0  ·  11 / 16</a:t>
            </a:r>
          </a:p>
        </p:txBody>
      </p:sp>
      <p:sp>
        <p:nvSpPr>
          <p:cNvPr id="7" name="Card (green)"/>
          <p:cNvSpPr/>
          <p:nvPr/>
        </p:nvSpPr>
        <p:spPr>
          <a:xfrm>
            <a:off x="530352" y="960120"/>
            <a:ext cx="11128248" cy="1554480"/>
          </a:xfrm>
          <a:prstGeom prst="roundRect">
            <a:avLst>
              <a:gd name="adj" fmla="val 4705"/>
            </a:avLst>
          </a:prstGeom>
          <a:solidFill>
            <a:srgbClr val="F0FDF4"/>
          </a:solidFill>
          <a:ln w="9525">
            <a:solidFill>
              <a:srgbClr val="BBF7D0"/>
            </a:solidFill>
          </a:ln>
        </p:spPr>
        <p:txBody>
          <a:bodyPr rtlCol="0" anchor="ctr"/>
          <a:lstStyle/>
          <a:p>
            <a:pPr algn="ctr"/>
            <a:endParaRPr/>
          </a:p>
        </p:txBody>
      </p:sp>
      <p:pic>
        <p:nvPicPr>
          <p:cNvPr id="8" name="Icon" descr="image.png"/>
          <p:cNvPicPr>
            <a:picLocks noChangeAspect="1"/>
          </p:cNvPicPr>
          <p:nvPr/>
        </p:nvPicPr>
        <p:blipFill>
          <a:blip r:embed="rId6"/>
          <a:stretch>
            <a:fillRect/>
          </a:stretch>
        </p:blipFill>
        <p:spPr>
          <a:xfrm>
            <a:off x="749808" y="1179576"/>
            <a:ext cx="155448" cy="155448"/>
          </a:xfrm>
          <a:prstGeom prst="rect">
            <a:avLst/>
          </a:prstGeom>
        </p:spPr>
      </p:pic>
      <p:sp>
        <p:nvSpPr>
          <p:cNvPr id="9" name="Card header"/>
          <p:cNvSpPr txBox="1"/>
          <p:nvPr/>
        </p:nvSpPr>
        <p:spPr>
          <a:xfrm>
            <a:off x="1005840" y="1161288"/>
            <a:ext cx="7315200" cy="192024"/>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25" b="1" i="0">
                <a:solidFill>
                  <a:srgbClr val="0F172A"/>
                </a:solidFill>
                <a:latin typeface="DM Sans"/>
              </a:rPr>
              <a:t>Four phases to a working loop and measured comparison</a:t>
            </a:r>
          </a:p>
        </p:txBody>
      </p:sp>
      <p:sp>
        <p:nvSpPr>
          <p:cNvPr id="10" name="Rounded Rectangle 9"/>
          <p:cNvSpPr/>
          <p:nvPr/>
        </p:nvSpPr>
        <p:spPr>
          <a:xfrm>
            <a:off x="713232" y="1536192"/>
            <a:ext cx="2484882" cy="731520"/>
          </a:xfrm>
          <a:prstGeom prst="roundRect">
            <a:avLst>
              <a:gd name="adj" fmla="val 8750"/>
            </a:avLst>
          </a:prstGeom>
          <a:solidFill>
            <a:srgbClr val="FFFFFF"/>
          </a:solidFill>
          <a:ln w="12700">
            <a:solidFill>
              <a:srgbClr val="CBD5E1"/>
            </a:solidFill>
          </a:ln>
        </p:spPr>
        <p:txBody>
          <a:bodyPr wrap="square" lIns="54864" tIns="27432" rIns="54864" bIns="27432" rtlCol="0" anchor="ctr"/>
          <a:lstStyle/>
          <a:p>
            <a:pPr marL="0" indent="0" algn="ctr">
              <a:lnSpc>
                <a:spcPct val="110000"/>
              </a:lnSpc>
              <a:spcBef>
                <a:spcPts val="0"/>
              </a:spcBef>
              <a:spcAft>
                <a:spcPts val="200"/>
              </a:spcAft>
              <a:buNone/>
            </a:pPr>
            <a:r>
              <a:rPr sz="861" b="1" i="0">
                <a:solidFill>
                  <a:srgbClr val="059669"/>
                </a:solidFill>
                <a:latin typeface="DM Sans"/>
              </a:rPr>
              <a:t>Phase 1</a:t>
            </a:r>
          </a:p>
          <a:p>
            <a:pPr marL="0" indent="0" algn="ctr">
              <a:lnSpc>
                <a:spcPct val="110000"/>
              </a:lnSpc>
              <a:spcBef>
                <a:spcPts val="0"/>
              </a:spcBef>
              <a:spcAft>
                <a:spcPts val="0"/>
              </a:spcAft>
              <a:buNone/>
            </a:pPr>
            <a:r>
              <a:rPr sz="1011" b="1" i="0">
                <a:solidFill>
                  <a:srgbClr val="0F172A"/>
                </a:solidFill>
                <a:latin typeface="DM Sans"/>
              </a:rPr>
              <a:t>Specification and procurement</a:t>
            </a:r>
          </a:p>
        </p:txBody>
      </p:sp>
      <p:cxnSp>
        <p:nvCxnSpPr>
          <p:cNvPr id="11" name="Connector 10"/>
          <p:cNvCxnSpPr/>
          <p:nvPr/>
        </p:nvCxnSpPr>
        <p:spPr>
          <a:xfrm>
            <a:off x="3225546" y="1901952"/>
            <a:ext cx="219456" cy="0"/>
          </a:xfrm>
          <a:prstGeom prst="line">
            <a:avLst/>
          </a:prstGeom>
          <a:ln w="15875">
            <a:solidFill>
              <a:srgbClr val="64748B"/>
            </a:solidFill>
            <a:tailEnd type="triangle" w="med" len="med"/>
          </a:ln>
        </p:spPr>
      </p:cxnSp>
      <p:sp>
        <p:nvSpPr>
          <p:cNvPr id="12" name="Rounded Rectangle 11"/>
          <p:cNvSpPr/>
          <p:nvPr/>
        </p:nvSpPr>
        <p:spPr>
          <a:xfrm>
            <a:off x="3472434" y="1536192"/>
            <a:ext cx="2484882" cy="731520"/>
          </a:xfrm>
          <a:prstGeom prst="roundRect">
            <a:avLst>
              <a:gd name="adj" fmla="val 8750"/>
            </a:avLst>
          </a:prstGeom>
          <a:solidFill>
            <a:srgbClr val="FFFFFF"/>
          </a:solidFill>
          <a:ln w="12700">
            <a:solidFill>
              <a:srgbClr val="CBD5E1"/>
            </a:solidFill>
          </a:ln>
        </p:spPr>
        <p:txBody>
          <a:bodyPr wrap="square" lIns="54864" tIns="27432" rIns="54864" bIns="27432" rtlCol="0" anchor="ctr"/>
          <a:lstStyle/>
          <a:p>
            <a:pPr marL="0" indent="0" algn="ctr">
              <a:lnSpc>
                <a:spcPct val="110000"/>
              </a:lnSpc>
              <a:spcBef>
                <a:spcPts val="0"/>
              </a:spcBef>
              <a:spcAft>
                <a:spcPts val="200"/>
              </a:spcAft>
              <a:buNone/>
            </a:pPr>
            <a:r>
              <a:rPr sz="861" b="1" i="0">
                <a:solidFill>
                  <a:srgbClr val="059669"/>
                </a:solidFill>
                <a:latin typeface="DM Sans"/>
              </a:rPr>
              <a:t>Phase 2</a:t>
            </a:r>
          </a:p>
          <a:p>
            <a:pPr marL="0" indent="0" algn="ctr">
              <a:lnSpc>
                <a:spcPct val="110000"/>
              </a:lnSpc>
              <a:spcBef>
                <a:spcPts val="0"/>
              </a:spcBef>
              <a:spcAft>
                <a:spcPts val="0"/>
              </a:spcAft>
              <a:buNone/>
            </a:pPr>
            <a:r>
              <a:rPr sz="1011" b="1" i="0">
                <a:solidFill>
                  <a:srgbClr val="0F172A"/>
                </a:solidFill>
                <a:latin typeface="DM Sans"/>
              </a:rPr>
              <a:t>Interaction loop</a:t>
            </a:r>
          </a:p>
        </p:txBody>
      </p:sp>
      <p:cxnSp>
        <p:nvCxnSpPr>
          <p:cNvPr id="13" name="Connector 12"/>
          <p:cNvCxnSpPr/>
          <p:nvPr/>
        </p:nvCxnSpPr>
        <p:spPr>
          <a:xfrm>
            <a:off x="5984748" y="1901952"/>
            <a:ext cx="219456" cy="0"/>
          </a:xfrm>
          <a:prstGeom prst="line">
            <a:avLst/>
          </a:prstGeom>
          <a:ln w="15875">
            <a:solidFill>
              <a:srgbClr val="64748B"/>
            </a:solidFill>
            <a:tailEnd type="triangle" w="med" len="med"/>
          </a:ln>
        </p:spPr>
      </p:cxnSp>
      <p:sp>
        <p:nvSpPr>
          <p:cNvPr id="14" name="Rounded Rectangle 13"/>
          <p:cNvSpPr/>
          <p:nvPr/>
        </p:nvSpPr>
        <p:spPr>
          <a:xfrm>
            <a:off x="6231636" y="1536192"/>
            <a:ext cx="2484882" cy="731520"/>
          </a:xfrm>
          <a:prstGeom prst="roundRect">
            <a:avLst>
              <a:gd name="adj" fmla="val 8750"/>
            </a:avLst>
          </a:prstGeom>
          <a:solidFill>
            <a:srgbClr val="FFFFFF"/>
          </a:solidFill>
          <a:ln w="12700">
            <a:solidFill>
              <a:srgbClr val="CBD5E1"/>
            </a:solidFill>
          </a:ln>
        </p:spPr>
        <p:txBody>
          <a:bodyPr wrap="square" lIns="54864" tIns="27432" rIns="54864" bIns="27432" rtlCol="0" anchor="ctr"/>
          <a:lstStyle/>
          <a:p>
            <a:pPr marL="0" indent="0" algn="ctr">
              <a:lnSpc>
                <a:spcPct val="110000"/>
              </a:lnSpc>
              <a:spcBef>
                <a:spcPts val="0"/>
              </a:spcBef>
              <a:spcAft>
                <a:spcPts val="200"/>
              </a:spcAft>
              <a:buNone/>
            </a:pPr>
            <a:r>
              <a:rPr sz="861" b="1" i="0">
                <a:solidFill>
                  <a:srgbClr val="059669"/>
                </a:solidFill>
                <a:latin typeface="DM Sans"/>
              </a:rPr>
              <a:t>Phase 3</a:t>
            </a:r>
          </a:p>
          <a:p>
            <a:pPr marL="0" indent="0" algn="ctr">
              <a:lnSpc>
                <a:spcPct val="110000"/>
              </a:lnSpc>
              <a:spcBef>
                <a:spcPts val="0"/>
              </a:spcBef>
              <a:spcAft>
                <a:spcPts val="0"/>
              </a:spcAft>
              <a:buNone/>
            </a:pPr>
            <a:r>
              <a:rPr sz="1011" b="1" i="0">
                <a:solidFill>
                  <a:srgbClr val="0F172A"/>
                </a:solidFill>
                <a:latin typeface="DM Sans"/>
              </a:rPr>
              <a:t>Evidence loop</a:t>
            </a:r>
          </a:p>
        </p:txBody>
      </p:sp>
      <p:cxnSp>
        <p:nvCxnSpPr>
          <p:cNvPr id="15" name="Connector 14"/>
          <p:cNvCxnSpPr/>
          <p:nvPr/>
        </p:nvCxnSpPr>
        <p:spPr>
          <a:xfrm>
            <a:off x="8743950" y="1901952"/>
            <a:ext cx="219456" cy="0"/>
          </a:xfrm>
          <a:prstGeom prst="line">
            <a:avLst/>
          </a:prstGeom>
          <a:ln w="15875">
            <a:solidFill>
              <a:srgbClr val="64748B"/>
            </a:solidFill>
            <a:tailEnd type="triangle" w="med" len="med"/>
          </a:ln>
        </p:spPr>
      </p:cxnSp>
      <p:sp>
        <p:nvSpPr>
          <p:cNvPr id="16" name="Rounded Rectangle 15"/>
          <p:cNvSpPr/>
          <p:nvPr/>
        </p:nvSpPr>
        <p:spPr>
          <a:xfrm>
            <a:off x="8990838" y="1536192"/>
            <a:ext cx="2484882" cy="731520"/>
          </a:xfrm>
          <a:prstGeom prst="roundRect">
            <a:avLst>
              <a:gd name="adj" fmla="val 8750"/>
            </a:avLst>
          </a:prstGeom>
          <a:solidFill>
            <a:srgbClr val="FFFFFF"/>
          </a:solidFill>
          <a:ln w="22225">
            <a:solidFill>
              <a:srgbClr val="059669"/>
            </a:solidFill>
          </a:ln>
        </p:spPr>
        <p:txBody>
          <a:bodyPr wrap="square" lIns="54864" tIns="27432" rIns="54864" bIns="27432" rtlCol="0" anchor="ctr"/>
          <a:lstStyle/>
          <a:p>
            <a:pPr marL="0" indent="0" algn="ctr">
              <a:lnSpc>
                <a:spcPct val="110000"/>
              </a:lnSpc>
              <a:spcBef>
                <a:spcPts val="0"/>
              </a:spcBef>
              <a:spcAft>
                <a:spcPts val="200"/>
              </a:spcAft>
              <a:buNone/>
            </a:pPr>
            <a:r>
              <a:rPr sz="861" b="1" i="0">
                <a:solidFill>
                  <a:srgbClr val="059669"/>
                </a:solidFill>
                <a:latin typeface="DM Sans"/>
              </a:rPr>
              <a:t>Phase 4</a:t>
            </a:r>
          </a:p>
          <a:p>
            <a:pPr marL="0" indent="0" algn="ctr">
              <a:lnSpc>
                <a:spcPct val="110000"/>
              </a:lnSpc>
              <a:spcBef>
                <a:spcPts val="0"/>
              </a:spcBef>
              <a:spcAft>
                <a:spcPts val="0"/>
              </a:spcAft>
              <a:buNone/>
            </a:pPr>
            <a:r>
              <a:rPr sz="1011" b="1" i="0">
                <a:solidFill>
                  <a:srgbClr val="0F172A"/>
                </a:solidFill>
                <a:latin typeface="DM Sans"/>
              </a:rPr>
              <a:t>Supervised evaluation</a:t>
            </a:r>
          </a:p>
        </p:txBody>
      </p:sp>
      <p:sp>
        <p:nvSpPr>
          <p:cNvPr id="17" name="Card (gray)"/>
          <p:cNvSpPr/>
          <p:nvPr/>
        </p:nvSpPr>
        <p:spPr>
          <a:xfrm>
            <a:off x="530352" y="2651760"/>
            <a:ext cx="5431536" cy="2697480"/>
          </a:xfrm>
          <a:prstGeom prst="roundRect">
            <a:avLst>
              <a:gd name="adj" fmla="val 2711"/>
            </a:avLst>
          </a:prstGeom>
          <a:solidFill>
            <a:srgbClr val="F8FAFC"/>
          </a:solidFill>
          <a:ln w="9525">
            <a:solidFill>
              <a:srgbClr val="E2E8F0"/>
            </a:solidFill>
          </a:ln>
        </p:spPr>
        <p:txBody>
          <a:bodyPr rtlCol="0" anchor="ctr"/>
          <a:lstStyle/>
          <a:p>
            <a:pPr algn="ctr"/>
            <a:endParaRPr/>
          </a:p>
        </p:txBody>
      </p:sp>
      <p:pic>
        <p:nvPicPr>
          <p:cNvPr id="18" name="Icon" descr="image.png"/>
          <p:cNvPicPr>
            <a:picLocks noChangeAspect="1"/>
          </p:cNvPicPr>
          <p:nvPr/>
        </p:nvPicPr>
        <p:blipFill>
          <a:blip r:embed="rId7"/>
          <a:stretch>
            <a:fillRect/>
          </a:stretch>
        </p:blipFill>
        <p:spPr>
          <a:xfrm>
            <a:off x="749808" y="2871216"/>
            <a:ext cx="155448" cy="155448"/>
          </a:xfrm>
          <a:prstGeom prst="rect">
            <a:avLst/>
          </a:prstGeom>
        </p:spPr>
      </p:pic>
      <p:sp>
        <p:nvSpPr>
          <p:cNvPr id="19" name="Card header"/>
          <p:cNvSpPr txBox="1"/>
          <p:nvPr/>
        </p:nvSpPr>
        <p:spPr>
          <a:xfrm>
            <a:off x="1005840" y="2852928"/>
            <a:ext cx="4754880" cy="192024"/>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25" b="1" i="0">
                <a:solidFill>
                  <a:srgbClr val="0F172A"/>
                </a:solidFill>
                <a:latin typeface="DM Sans"/>
              </a:rPr>
              <a:t>Phases 1 and 2: Specify, then Build the Loop</a:t>
            </a:r>
          </a:p>
        </p:txBody>
      </p:sp>
      <p:sp>
        <p:nvSpPr>
          <p:cNvPr id="20" name="TextBox 19"/>
          <p:cNvSpPr txBox="1"/>
          <p:nvPr/>
        </p:nvSpPr>
        <p:spPr>
          <a:xfrm>
            <a:off x="749808" y="3200400"/>
            <a:ext cx="5029200" cy="2240280"/>
          </a:xfrm>
          <a:prstGeom prst="rect">
            <a:avLst/>
          </a:prstGeom>
          <a:noFill/>
        </p:spPr>
        <p:txBody>
          <a:bodyPr wrap="square" lIns="0" tIns="0" rIns="0" bIns="0" anchor="t">
            <a:noAutofit/>
          </a:bodyPr>
          <a:lstStyle/>
          <a:p>
            <a:pPr marL="0" indent="0" algn="l">
              <a:lnSpc>
                <a:spcPct val="145000"/>
              </a:lnSpc>
              <a:spcBef>
                <a:spcPts val="0"/>
              </a:spcBef>
              <a:spcAft>
                <a:spcPts val="1200"/>
              </a:spcAft>
              <a:buNone/>
            </a:pPr>
            <a:r>
              <a:rPr sz="1011" b="1" i="0">
                <a:solidFill>
                  <a:srgbClr val="334155"/>
                </a:solidFill>
                <a:latin typeface="DM Sans"/>
              </a:rPr>
              <a:t>Phase 1, specification and procurement: </a:t>
            </a:r>
            <a:r>
              <a:rPr sz="1011" b="0" i="0">
                <a:solidFill>
                  <a:srgbClr val="334155"/>
                </a:solidFill>
                <a:latin typeface="DM Sans"/>
              </a:rPr>
              <a:t>confirm the exact instructor-approved exercise and baseline. Select a compatible eye tracker, scene camera, display and frame. Collect supplier eye-safety documents and quotes. Measure frame geometry.</a:t>
            </a:r>
          </a:p>
          <a:p>
            <a:pPr marL="0" indent="0" algn="l">
              <a:lnSpc>
                <a:spcPct val="145000"/>
              </a:lnSpc>
              <a:spcBef>
                <a:spcPts val="0"/>
              </a:spcBef>
              <a:spcAft>
                <a:spcPts val="0"/>
              </a:spcAft>
              <a:buNone/>
            </a:pPr>
            <a:r>
              <a:rPr sz="1011" b="1" i="0">
                <a:solidFill>
                  <a:srgbClr val="334155"/>
                </a:solidFill>
                <a:latin typeface="DM Sans"/>
              </a:rPr>
              <a:t>Phase 2, interaction loop: </a:t>
            </a:r>
            <a:r>
              <a:rPr sz="1011" b="0" i="0">
                <a:solidFill>
                  <a:srgbClr val="334155"/>
                </a:solidFill>
                <a:latin typeface="DM Sans"/>
              </a:rPr>
              <a:t>build gaze-to-scene calibration, candidate highlight, physical confirmation and approved checklist display. Add a head-centred fallback.</a:t>
            </a:r>
          </a:p>
        </p:txBody>
      </p:sp>
      <p:sp>
        <p:nvSpPr>
          <p:cNvPr id="21" name="Card (gray)"/>
          <p:cNvSpPr/>
          <p:nvPr/>
        </p:nvSpPr>
        <p:spPr>
          <a:xfrm>
            <a:off x="6227064" y="2651760"/>
            <a:ext cx="5431536" cy="2697480"/>
          </a:xfrm>
          <a:prstGeom prst="roundRect">
            <a:avLst>
              <a:gd name="adj" fmla="val 2711"/>
            </a:avLst>
          </a:prstGeom>
          <a:solidFill>
            <a:srgbClr val="F8FAFC"/>
          </a:solidFill>
          <a:ln w="9525">
            <a:solidFill>
              <a:srgbClr val="E2E8F0"/>
            </a:solidFill>
          </a:ln>
        </p:spPr>
        <p:txBody>
          <a:bodyPr rtlCol="0" anchor="ctr"/>
          <a:lstStyle/>
          <a:p>
            <a:pPr algn="ctr"/>
            <a:endParaRPr/>
          </a:p>
        </p:txBody>
      </p:sp>
      <p:pic>
        <p:nvPicPr>
          <p:cNvPr id="22" name="Icon" descr="image.png"/>
          <p:cNvPicPr>
            <a:picLocks noChangeAspect="1"/>
          </p:cNvPicPr>
          <p:nvPr/>
        </p:nvPicPr>
        <p:blipFill>
          <a:blip r:embed="rId6"/>
          <a:stretch>
            <a:fillRect/>
          </a:stretch>
        </p:blipFill>
        <p:spPr>
          <a:xfrm>
            <a:off x="6446520" y="2871216"/>
            <a:ext cx="155448" cy="155448"/>
          </a:xfrm>
          <a:prstGeom prst="rect">
            <a:avLst/>
          </a:prstGeom>
        </p:spPr>
      </p:pic>
      <p:sp>
        <p:nvSpPr>
          <p:cNvPr id="23" name="Card header"/>
          <p:cNvSpPr txBox="1"/>
          <p:nvPr/>
        </p:nvSpPr>
        <p:spPr>
          <a:xfrm>
            <a:off x="6702552" y="2852928"/>
            <a:ext cx="4754880" cy="192024"/>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25" b="1" i="0">
                <a:solidFill>
                  <a:srgbClr val="0F172A"/>
                </a:solidFill>
                <a:latin typeface="DM Sans"/>
              </a:rPr>
              <a:t>Phases 3 and 4: Link Evidence, then Evaluate</a:t>
            </a:r>
          </a:p>
        </p:txBody>
      </p:sp>
      <p:sp>
        <p:nvSpPr>
          <p:cNvPr id="24" name="TextBox 23"/>
          <p:cNvSpPr txBox="1"/>
          <p:nvPr/>
        </p:nvSpPr>
        <p:spPr>
          <a:xfrm>
            <a:off x="6446520" y="3200400"/>
            <a:ext cx="5029200" cy="2240280"/>
          </a:xfrm>
          <a:prstGeom prst="rect">
            <a:avLst/>
          </a:prstGeom>
          <a:noFill/>
        </p:spPr>
        <p:txBody>
          <a:bodyPr wrap="square" lIns="0" tIns="0" rIns="0" bIns="0" anchor="t">
            <a:noAutofit/>
          </a:bodyPr>
          <a:lstStyle/>
          <a:p>
            <a:pPr marL="0" indent="0" algn="l">
              <a:lnSpc>
                <a:spcPct val="145000"/>
              </a:lnSpc>
              <a:spcBef>
                <a:spcPts val="0"/>
              </a:spcBef>
              <a:spcAft>
                <a:spcPts val="1200"/>
              </a:spcAft>
              <a:buNone/>
            </a:pPr>
            <a:r>
              <a:rPr sz="1011" b="1" i="0">
                <a:solidFill>
                  <a:srgbClr val="334155"/>
                </a:solidFill>
                <a:latin typeface="DM Sans"/>
              </a:rPr>
              <a:t>Phase 3, evidence loop: </a:t>
            </a:r>
            <a:r>
              <a:rPr sz="1011" b="0" i="0">
                <a:solidFill>
                  <a:srgbClr val="334155"/>
                </a:solidFill>
                <a:latin typeface="DM Sans"/>
              </a:rPr>
              <a:t>link selected item, prompt, controls and captured clip in one timestamped record. Add dropout flags, replay and deletion. Measure latency, drift, endurance and heat.</a:t>
            </a:r>
          </a:p>
          <a:p>
            <a:pPr marL="0" indent="0" algn="l">
              <a:lnSpc>
                <a:spcPct val="145000"/>
              </a:lnSpc>
              <a:spcBef>
                <a:spcPts val="0"/>
              </a:spcBef>
              <a:spcAft>
                <a:spcPts val="0"/>
              </a:spcAft>
              <a:buNone/>
            </a:pPr>
            <a:r>
              <a:rPr sz="1011" b="1" i="0">
                <a:solidFill>
                  <a:srgbClr val="334155"/>
                </a:solidFill>
                <a:latin typeface="DM Sans"/>
              </a:rPr>
              <a:t>Phase 4, supervised evaluation: </a:t>
            </a:r>
            <a:r>
              <a:rPr sz="1011" b="0" i="0">
                <a:solidFill>
                  <a:srgbClr val="334155"/>
                </a:solidFill>
                <a:latin typeface="DM Sans"/>
              </a:rPr>
              <a:t>if access permits, run an exploratory 8 to 12-adult indoor pilot with equivalent kits and counterbalanced order. Report every failure.</a:t>
            </a:r>
          </a:p>
        </p:txBody>
      </p:sp>
      <p:pic>
        <p:nvPicPr>
          <p:cNvPr id="25" name="Note bar" descr="image.png"/>
          <p:cNvPicPr>
            <a:picLocks noChangeAspect="1"/>
          </p:cNvPicPr>
          <p:nvPr/>
        </p:nvPicPr>
        <p:blipFill>
          <a:blip r:embed="rId8"/>
          <a:stretch>
            <a:fillRect/>
          </a:stretch>
        </p:blipFill>
        <p:spPr>
          <a:xfrm>
            <a:off x="530352" y="5532120"/>
            <a:ext cx="11128248" cy="566928"/>
          </a:xfrm>
          <a:prstGeom prst="rect">
            <a:avLst/>
          </a:prstGeom>
        </p:spPr>
      </p:pic>
      <p:sp>
        <p:nvSpPr>
          <p:cNvPr id="26" name="Note text"/>
          <p:cNvSpPr txBox="1"/>
          <p:nvPr/>
        </p:nvSpPr>
        <p:spPr>
          <a:xfrm>
            <a:off x="722376" y="5614416"/>
            <a:ext cx="10789920" cy="475488"/>
          </a:xfrm>
          <a:prstGeom prst="rect">
            <a:avLst/>
          </a:prstGeom>
          <a:noFill/>
        </p:spPr>
        <p:txBody>
          <a:bodyPr wrap="square" lIns="0" tIns="0" rIns="0" bIns="0" anchor="t">
            <a:noAutofit/>
          </a:bodyPr>
          <a:lstStyle/>
          <a:p>
            <a:pPr marL="0" indent="0" algn="l">
              <a:lnSpc>
                <a:spcPct val="145000"/>
              </a:lnSpc>
              <a:spcBef>
                <a:spcPts val="0"/>
              </a:spcBef>
              <a:spcAft>
                <a:spcPts val="0"/>
              </a:spcAft>
              <a:buNone/>
            </a:pPr>
            <a:r>
              <a:rPr sz="936" b="1" i="0">
                <a:solidFill>
                  <a:srgbClr val="0F172A"/>
                </a:solidFill>
                <a:latin typeface="DM Sans"/>
              </a:rPr>
              <a:t>Stage 3 deliverable:</a:t>
            </a:r>
            <a:r>
              <a:rPr sz="936" b="0" i="0">
                <a:solidFill>
                  <a:srgbClr val="334155"/>
                </a:solidFill>
                <a:latin typeface="DM Sans"/>
              </a:rPr>
              <a:t> a working loop plus a measured comparison, not a claim of field readiness. No procurement, build or pilot has happened yet; calendar dates are set once supplier lead times are known.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3"/>
          <a:stretch>
            <a:fillRect/>
          </a:stretch>
        </p:blipFill>
        <p:spPr>
          <a:xfrm>
            <a:off x="0" y="0"/>
            <a:ext cx="12191695" cy="6858000"/>
          </a:xfrm>
          <a:prstGeom prst="rect">
            <a:avLst/>
          </a:prstGeom>
        </p:spPr>
      </p:pic>
      <p:pic>
        <p:nvPicPr>
          <p:cNvPr id="3" name="Logo Vishwakarma" descr="image.png"/>
          <p:cNvPicPr>
            <a:picLocks noChangeAspect="1"/>
          </p:cNvPicPr>
          <p:nvPr/>
        </p:nvPicPr>
        <p:blipFill>
          <a:blip r:embed="rId4"/>
          <a:srcRect l="14673" t="33074" r="15820" b="44466"/>
          <a:stretch>
            <a:fillRect/>
          </a:stretch>
        </p:blipFill>
        <p:spPr>
          <a:xfrm>
            <a:off x="0" y="6281928"/>
            <a:ext cx="1783080" cy="576072"/>
          </a:xfrm>
          <a:prstGeom prst="rect">
            <a:avLst/>
          </a:prstGeom>
        </p:spPr>
      </p:pic>
      <p:pic>
        <p:nvPicPr>
          <p:cNvPr id="4" name="Logo Maker Bhavan" descr="image.png"/>
          <p:cNvPicPr>
            <a:picLocks noChangeAspect="1"/>
          </p:cNvPicPr>
          <p:nvPr/>
        </p:nvPicPr>
        <p:blipFill>
          <a:blip r:embed="rId5"/>
          <a:stretch>
            <a:fillRect/>
          </a:stretch>
        </p:blipFill>
        <p:spPr>
          <a:xfrm>
            <a:off x="11091672" y="6281928"/>
            <a:ext cx="1097280" cy="576072"/>
          </a:xfrm>
          <a:prstGeom prst="rect">
            <a:avLst/>
          </a:prstGeom>
        </p:spPr>
      </p:pic>
      <p:sp>
        <p:nvSpPr>
          <p:cNvPr id="5" name="Title"/>
          <p:cNvSpPr txBox="1"/>
          <p:nvPr/>
        </p:nvSpPr>
        <p:spPr>
          <a:xfrm>
            <a:off x="530352" y="438912"/>
            <a:ext cx="11128248" cy="310896"/>
          </a:xfrm>
          <a:prstGeom prst="rect">
            <a:avLst/>
          </a:prstGeom>
          <a:noFill/>
        </p:spPr>
        <p:txBody>
          <a:bodyPr wrap="square" lIns="0" tIns="0" rIns="0" bIns="0" anchor="ctr">
            <a:noAutofit/>
          </a:bodyPr>
          <a:lstStyle/>
          <a:p>
            <a:pPr marL="0" indent="0" algn="l">
              <a:lnSpc>
                <a:spcPct val="120000"/>
              </a:lnSpc>
              <a:spcBef>
                <a:spcPts val="0"/>
              </a:spcBef>
              <a:spcAft>
                <a:spcPts val="0"/>
              </a:spcAft>
              <a:buNone/>
            </a:pPr>
            <a:r>
              <a:rPr sz="2025" b="1" i="0">
                <a:solidFill>
                  <a:srgbClr val="0F172A"/>
                </a:solidFill>
                <a:latin typeface="Poppins SemiBold"/>
              </a:rPr>
              <a:t>Technical Challenges &amp; Risks</a:t>
            </a:r>
          </a:p>
        </p:txBody>
      </p:sp>
      <p:sp>
        <p:nvSpPr>
          <p:cNvPr id="6" name="Footer"/>
          <p:cNvSpPr txBox="1"/>
          <p:nvPr/>
        </p:nvSpPr>
        <p:spPr>
          <a:xfrm>
            <a:off x="3840480" y="6455664"/>
            <a:ext cx="4507992" cy="164592"/>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861" b="0" i="0">
                <a:solidFill>
                  <a:srgbClr val="64748B"/>
                </a:solidFill>
                <a:latin typeface="DM Sans"/>
              </a:rPr>
              <a:t>VK26-AU-HCI-0032  ·  HCI 2.0  ·  12 / 16</a:t>
            </a:r>
          </a:p>
        </p:txBody>
      </p:sp>
      <p:sp>
        <p:nvSpPr>
          <p:cNvPr id="7" name="Card (gray)"/>
          <p:cNvSpPr/>
          <p:nvPr/>
        </p:nvSpPr>
        <p:spPr>
          <a:xfrm>
            <a:off x="530352" y="960120"/>
            <a:ext cx="3566160" cy="2331720"/>
          </a:xfrm>
          <a:prstGeom prst="roundRect">
            <a:avLst>
              <a:gd name="adj" fmla="val 3137"/>
            </a:avLst>
          </a:prstGeom>
          <a:solidFill>
            <a:srgbClr val="F8FAFC"/>
          </a:solidFill>
          <a:ln w="9525">
            <a:solidFill>
              <a:srgbClr val="E2E8F0"/>
            </a:solidFill>
          </a:ln>
        </p:spPr>
        <p:txBody>
          <a:bodyPr rtlCol="0" anchor="ctr"/>
          <a:lstStyle/>
          <a:p>
            <a:pPr algn="ctr"/>
            <a:endParaRPr/>
          </a:p>
        </p:txBody>
      </p:sp>
      <p:pic>
        <p:nvPicPr>
          <p:cNvPr id="8" name="Icon" descr="image.png"/>
          <p:cNvPicPr>
            <a:picLocks noChangeAspect="1"/>
          </p:cNvPicPr>
          <p:nvPr/>
        </p:nvPicPr>
        <p:blipFill>
          <a:blip r:embed="rId6"/>
          <a:stretch>
            <a:fillRect/>
          </a:stretch>
        </p:blipFill>
        <p:spPr>
          <a:xfrm>
            <a:off x="749808" y="1179576"/>
            <a:ext cx="155448" cy="155448"/>
          </a:xfrm>
          <a:prstGeom prst="rect">
            <a:avLst/>
          </a:prstGeom>
        </p:spPr>
      </p:pic>
      <p:sp>
        <p:nvSpPr>
          <p:cNvPr id="9" name="Card header"/>
          <p:cNvSpPr txBox="1"/>
          <p:nvPr/>
        </p:nvSpPr>
        <p:spPr>
          <a:xfrm>
            <a:off x="1005840" y="1161288"/>
            <a:ext cx="2834640" cy="192024"/>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25" b="1" i="0">
                <a:solidFill>
                  <a:srgbClr val="0F172A"/>
                </a:solidFill>
                <a:latin typeface="DM Sans"/>
              </a:rPr>
              <a:t>Gaze drift</a:t>
            </a:r>
          </a:p>
        </p:txBody>
      </p:sp>
      <p:sp>
        <p:nvSpPr>
          <p:cNvPr id="10" name="TextBox 9"/>
          <p:cNvSpPr txBox="1"/>
          <p:nvPr/>
        </p:nvSpPr>
        <p:spPr>
          <a:xfrm>
            <a:off x="749808" y="1490472"/>
            <a:ext cx="3127248" cy="1737360"/>
          </a:xfrm>
          <a:prstGeom prst="rect">
            <a:avLst/>
          </a:prstGeom>
          <a:noFill/>
        </p:spPr>
        <p:txBody>
          <a:bodyPr wrap="square" lIns="0" tIns="0" rIns="0" bIns="0" anchor="t">
            <a:noAutofit/>
          </a:bodyPr>
          <a:lstStyle/>
          <a:p>
            <a:pPr marL="0" indent="0" algn="l">
              <a:lnSpc>
                <a:spcPct val="145000"/>
              </a:lnSpc>
              <a:spcBef>
                <a:spcPts val="0"/>
              </a:spcBef>
              <a:spcAft>
                <a:spcPts val="900"/>
              </a:spcAft>
              <a:buNone/>
            </a:pPr>
            <a:r>
              <a:rPr sz="1011" b="0" i="0">
                <a:solidFill>
                  <a:srgbClr val="334155"/>
                </a:solidFill>
                <a:latin typeface="DM Sans"/>
              </a:rPr>
              <a:t>Head movement or frame slip changes the mapping between eye and scene.</a:t>
            </a:r>
          </a:p>
          <a:p>
            <a:pPr marL="0" indent="0" algn="l">
              <a:lnSpc>
                <a:spcPct val="145000"/>
              </a:lnSpc>
              <a:spcBef>
                <a:spcPts val="0"/>
              </a:spcBef>
              <a:spcAft>
                <a:spcPts val="0"/>
              </a:spcAft>
              <a:buNone/>
            </a:pPr>
            <a:r>
              <a:rPr sz="1011" b="1" i="0">
                <a:solidFill>
                  <a:srgbClr val="059669"/>
                </a:solidFill>
                <a:latin typeface="DM Sans"/>
              </a:rPr>
              <a:t>Tested by: </a:t>
            </a:r>
            <a:r>
              <a:rPr sz="1011" b="0" i="0">
                <a:solidFill>
                  <a:srgbClr val="334155"/>
                </a:solidFill>
                <a:latin typeface="DM Sans"/>
              </a:rPr>
              <a:t>wrong-item rate and calibration failures by item position.</a:t>
            </a:r>
          </a:p>
        </p:txBody>
      </p:sp>
      <p:sp>
        <p:nvSpPr>
          <p:cNvPr id="11" name="Card (gray)"/>
          <p:cNvSpPr/>
          <p:nvPr/>
        </p:nvSpPr>
        <p:spPr>
          <a:xfrm>
            <a:off x="4315968" y="960120"/>
            <a:ext cx="3566160" cy="2331720"/>
          </a:xfrm>
          <a:prstGeom prst="roundRect">
            <a:avLst>
              <a:gd name="adj" fmla="val 3137"/>
            </a:avLst>
          </a:prstGeom>
          <a:solidFill>
            <a:srgbClr val="F8FAFC"/>
          </a:solidFill>
          <a:ln w="9525">
            <a:solidFill>
              <a:srgbClr val="E2E8F0"/>
            </a:solidFill>
          </a:ln>
        </p:spPr>
        <p:txBody>
          <a:bodyPr rtlCol="0" anchor="ctr"/>
          <a:lstStyle/>
          <a:p>
            <a:pPr algn="ctr"/>
            <a:endParaRPr/>
          </a:p>
        </p:txBody>
      </p:sp>
      <p:pic>
        <p:nvPicPr>
          <p:cNvPr id="12" name="Icon" descr="image.png"/>
          <p:cNvPicPr>
            <a:picLocks noChangeAspect="1"/>
          </p:cNvPicPr>
          <p:nvPr/>
        </p:nvPicPr>
        <p:blipFill>
          <a:blip r:embed="rId7"/>
          <a:stretch>
            <a:fillRect/>
          </a:stretch>
        </p:blipFill>
        <p:spPr>
          <a:xfrm>
            <a:off x="4535424" y="1179576"/>
            <a:ext cx="155448" cy="155448"/>
          </a:xfrm>
          <a:prstGeom prst="rect">
            <a:avLst/>
          </a:prstGeom>
        </p:spPr>
      </p:pic>
      <p:sp>
        <p:nvSpPr>
          <p:cNvPr id="13" name="Card header"/>
          <p:cNvSpPr txBox="1"/>
          <p:nvPr/>
        </p:nvSpPr>
        <p:spPr>
          <a:xfrm>
            <a:off x="4791456" y="1161288"/>
            <a:ext cx="2834640" cy="192024"/>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25" b="1" i="0">
                <a:solidFill>
                  <a:srgbClr val="0F172A"/>
                </a:solidFill>
                <a:latin typeface="DM Sans"/>
              </a:rPr>
              <a:t>Small item ambiguity</a:t>
            </a:r>
          </a:p>
        </p:txBody>
      </p:sp>
      <p:sp>
        <p:nvSpPr>
          <p:cNvPr id="14" name="TextBox 13"/>
          <p:cNvSpPr txBox="1"/>
          <p:nvPr/>
        </p:nvSpPr>
        <p:spPr>
          <a:xfrm>
            <a:off x="4535424" y="1490472"/>
            <a:ext cx="3127248" cy="1737360"/>
          </a:xfrm>
          <a:prstGeom prst="rect">
            <a:avLst/>
          </a:prstGeom>
          <a:noFill/>
        </p:spPr>
        <p:txBody>
          <a:bodyPr wrap="square" lIns="0" tIns="0" rIns="0" bIns="0" anchor="t">
            <a:noAutofit/>
          </a:bodyPr>
          <a:lstStyle/>
          <a:p>
            <a:pPr marL="0" indent="0" algn="l">
              <a:lnSpc>
                <a:spcPct val="145000"/>
              </a:lnSpc>
              <a:spcBef>
                <a:spcPts val="0"/>
              </a:spcBef>
              <a:spcAft>
                <a:spcPts val="900"/>
              </a:spcAft>
              <a:buNone/>
            </a:pPr>
            <a:r>
              <a:rPr sz="1011" b="0" i="0">
                <a:solidFill>
                  <a:srgbClr val="334155"/>
                </a:solidFill>
                <a:latin typeface="DM Sans"/>
              </a:rPr>
              <a:t>Adjacent objects may be difficult to distinguish with gaze alone.</a:t>
            </a:r>
          </a:p>
          <a:p>
            <a:pPr marL="0" indent="0" algn="l">
              <a:lnSpc>
                <a:spcPct val="145000"/>
              </a:lnSpc>
              <a:spcBef>
                <a:spcPts val="0"/>
              </a:spcBef>
              <a:spcAft>
                <a:spcPts val="0"/>
              </a:spcAft>
              <a:buNone/>
            </a:pPr>
            <a:r>
              <a:rPr sz="1011" b="1" i="0">
                <a:solidFill>
                  <a:srgbClr val="059669"/>
                </a:solidFill>
                <a:latin typeface="DM Sans"/>
              </a:rPr>
              <a:t>Tested by: </a:t>
            </a:r>
            <a:r>
              <a:rPr sz="1011" b="0" i="0">
                <a:solidFill>
                  <a:srgbClr val="334155"/>
                </a:solidFill>
                <a:latin typeface="DM Sans"/>
              </a:rPr>
              <a:t>wrong-item rate by item position; head-centred fallback.</a:t>
            </a:r>
          </a:p>
        </p:txBody>
      </p:sp>
      <p:sp>
        <p:nvSpPr>
          <p:cNvPr id="15" name="Card (gray)"/>
          <p:cNvSpPr/>
          <p:nvPr/>
        </p:nvSpPr>
        <p:spPr>
          <a:xfrm>
            <a:off x="8092440" y="960120"/>
            <a:ext cx="3566160" cy="2331720"/>
          </a:xfrm>
          <a:prstGeom prst="roundRect">
            <a:avLst>
              <a:gd name="adj" fmla="val 3137"/>
            </a:avLst>
          </a:prstGeom>
          <a:solidFill>
            <a:srgbClr val="F8FAFC"/>
          </a:solidFill>
          <a:ln w="9525">
            <a:solidFill>
              <a:srgbClr val="E2E8F0"/>
            </a:solidFill>
          </a:ln>
        </p:spPr>
        <p:txBody>
          <a:bodyPr rtlCol="0" anchor="ctr"/>
          <a:lstStyle/>
          <a:p>
            <a:pPr algn="ctr"/>
            <a:endParaRPr/>
          </a:p>
        </p:txBody>
      </p:sp>
      <p:pic>
        <p:nvPicPr>
          <p:cNvPr id="16" name="Icon" descr="image.png"/>
          <p:cNvPicPr>
            <a:picLocks noChangeAspect="1"/>
          </p:cNvPicPr>
          <p:nvPr/>
        </p:nvPicPr>
        <p:blipFill>
          <a:blip r:embed="rId8"/>
          <a:stretch>
            <a:fillRect/>
          </a:stretch>
        </p:blipFill>
        <p:spPr>
          <a:xfrm>
            <a:off x="8311896" y="1179576"/>
            <a:ext cx="155448" cy="155448"/>
          </a:xfrm>
          <a:prstGeom prst="rect">
            <a:avLst/>
          </a:prstGeom>
        </p:spPr>
      </p:pic>
      <p:sp>
        <p:nvSpPr>
          <p:cNvPr id="17" name="Card header"/>
          <p:cNvSpPr txBox="1"/>
          <p:nvPr/>
        </p:nvSpPr>
        <p:spPr>
          <a:xfrm>
            <a:off x="8567928" y="1161288"/>
            <a:ext cx="2834640" cy="192024"/>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25" b="1" i="0">
                <a:solidFill>
                  <a:srgbClr val="0F172A"/>
                </a:solidFill>
                <a:latin typeface="DM Sans"/>
              </a:rPr>
              <a:t>Optical and mechanical integration</a:t>
            </a:r>
          </a:p>
        </p:txBody>
      </p:sp>
      <p:sp>
        <p:nvSpPr>
          <p:cNvPr id="18" name="TextBox 17"/>
          <p:cNvSpPr txBox="1"/>
          <p:nvPr/>
        </p:nvSpPr>
        <p:spPr>
          <a:xfrm>
            <a:off x="8311896" y="1490472"/>
            <a:ext cx="3127248" cy="1737360"/>
          </a:xfrm>
          <a:prstGeom prst="rect">
            <a:avLst/>
          </a:prstGeom>
          <a:noFill/>
        </p:spPr>
        <p:txBody>
          <a:bodyPr wrap="square" lIns="0" tIns="0" rIns="0" bIns="0" anchor="t">
            <a:noAutofit/>
          </a:bodyPr>
          <a:lstStyle/>
          <a:p>
            <a:pPr marL="0" indent="0" algn="l">
              <a:lnSpc>
                <a:spcPct val="145000"/>
              </a:lnSpc>
              <a:spcBef>
                <a:spcPts val="0"/>
              </a:spcBef>
              <a:spcAft>
                <a:spcPts val="900"/>
              </a:spcAft>
              <a:buNone/>
            </a:pPr>
            <a:r>
              <a:rPr sz="1011" b="0" i="0">
                <a:solidFill>
                  <a:srgbClr val="334155"/>
                </a:solidFill>
                <a:latin typeface="DM Sans"/>
              </a:rPr>
              <a:t>The display, eye sensor and camera may compete for frame space and comfort.</a:t>
            </a:r>
          </a:p>
          <a:p>
            <a:pPr marL="0" indent="0" algn="l">
              <a:lnSpc>
                <a:spcPct val="145000"/>
              </a:lnSpc>
              <a:spcBef>
                <a:spcPts val="0"/>
              </a:spcBef>
              <a:spcAft>
                <a:spcPts val="0"/>
              </a:spcAft>
              <a:buNone/>
            </a:pPr>
            <a:r>
              <a:rPr sz="1011" b="1" i="0">
                <a:solidFill>
                  <a:srgbClr val="059669"/>
                </a:solidFill>
                <a:latin typeface="DM Sans"/>
              </a:rPr>
              <a:t>Tested by: </a:t>
            </a:r>
            <a:r>
              <a:rPr sz="1011" b="0" i="0">
                <a:solidFill>
                  <a:srgbClr val="334155"/>
                </a:solidFill>
                <a:latin typeface="DM Sans"/>
              </a:rPr>
              <a:t>readability, comfort, mount retention and rapid removal.</a:t>
            </a:r>
          </a:p>
        </p:txBody>
      </p:sp>
      <p:sp>
        <p:nvSpPr>
          <p:cNvPr id="19" name="Card (gray)"/>
          <p:cNvSpPr/>
          <p:nvPr/>
        </p:nvSpPr>
        <p:spPr>
          <a:xfrm>
            <a:off x="530352" y="3429000"/>
            <a:ext cx="5431536" cy="2103120"/>
          </a:xfrm>
          <a:prstGeom prst="roundRect">
            <a:avLst>
              <a:gd name="adj" fmla="val 3478"/>
            </a:avLst>
          </a:prstGeom>
          <a:solidFill>
            <a:srgbClr val="F8FAFC"/>
          </a:solidFill>
          <a:ln w="9525">
            <a:solidFill>
              <a:srgbClr val="E2E8F0"/>
            </a:solidFill>
          </a:ln>
        </p:spPr>
        <p:txBody>
          <a:bodyPr rtlCol="0" anchor="ctr"/>
          <a:lstStyle/>
          <a:p>
            <a:pPr algn="ctr"/>
            <a:endParaRPr/>
          </a:p>
        </p:txBody>
      </p:sp>
      <p:pic>
        <p:nvPicPr>
          <p:cNvPr id="20" name="Icon" descr="image.png"/>
          <p:cNvPicPr>
            <a:picLocks noChangeAspect="1"/>
          </p:cNvPicPr>
          <p:nvPr/>
        </p:nvPicPr>
        <p:blipFill>
          <a:blip r:embed="rId9"/>
          <a:stretch>
            <a:fillRect/>
          </a:stretch>
        </p:blipFill>
        <p:spPr>
          <a:xfrm>
            <a:off x="749808" y="3648456"/>
            <a:ext cx="155448" cy="155448"/>
          </a:xfrm>
          <a:prstGeom prst="rect">
            <a:avLst/>
          </a:prstGeom>
        </p:spPr>
      </p:pic>
      <p:sp>
        <p:nvSpPr>
          <p:cNvPr id="21" name="Card header"/>
          <p:cNvSpPr txBox="1"/>
          <p:nvPr/>
        </p:nvSpPr>
        <p:spPr>
          <a:xfrm>
            <a:off x="1005840" y="3630168"/>
            <a:ext cx="4700016" cy="192024"/>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25" b="1" i="0">
                <a:solidFill>
                  <a:srgbClr val="0F172A"/>
                </a:solidFill>
                <a:latin typeface="DM Sans"/>
              </a:rPr>
              <a:t>Timing and power</a:t>
            </a:r>
          </a:p>
        </p:txBody>
      </p:sp>
      <p:sp>
        <p:nvSpPr>
          <p:cNvPr id="22" name="TextBox 21"/>
          <p:cNvSpPr txBox="1"/>
          <p:nvPr/>
        </p:nvSpPr>
        <p:spPr>
          <a:xfrm>
            <a:off x="749808" y="3959352"/>
            <a:ext cx="4992624" cy="1508760"/>
          </a:xfrm>
          <a:prstGeom prst="rect">
            <a:avLst/>
          </a:prstGeom>
          <a:noFill/>
        </p:spPr>
        <p:txBody>
          <a:bodyPr wrap="square" lIns="0" tIns="0" rIns="0" bIns="0" anchor="t">
            <a:noAutofit/>
          </a:bodyPr>
          <a:lstStyle/>
          <a:p>
            <a:pPr marL="0" indent="0" algn="l">
              <a:lnSpc>
                <a:spcPct val="145000"/>
              </a:lnSpc>
              <a:spcBef>
                <a:spcPts val="0"/>
              </a:spcBef>
              <a:spcAft>
                <a:spcPts val="900"/>
              </a:spcAft>
              <a:buNone/>
            </a:pPr>
            <a:r>
              <a:rPr sz="1011" b="0" i="0">
                <a:solidFill>
                  <a:srgbClr val="334155"/>
                </a:solidFill>
                <a:latin typeface="DM Sans"/>
              </a:rPr>
              <a:t>Video, gaze and controls need trustworthy timestamps. Continuous capture consumes energy and generates heat.</a:t>
            </a:r>
          </a:p>
          <a:p>
            <a:pPr marL="0" indent="0" algn="l">
              <a:lnSpc>
                <a:spcPct val="145000"/>
              </a:lnSpc>
              <a:spcBef>
                <a:spcPts val="0"/>
              </a:spcBef>
              <a:spcAft>
                <a:spcPts val="0"/>
              </a:spcAft>
              <a:buNone/>
            </a:pPr>
            <a:r>
              <a:rPr sz="1011" b="1" i="0">
                <a:solidFill>
                  <a:srgbClr val="059669"/>
                </a:solidFill>
                <a:latin typeface="DM Sans"/>
              </a:rPr>
              <a:t>Tested by: </a:t>
            </a:r>
            <a:r>
              <a:rPr sz="1011" b="0" i="0">
                <a:solidFill>
                  <a:srgbClr val="334155"/>
                </a:solidFill>
                <a:latin typeface="DM Sans"/>
              </a:rPr>
              <a:t>injected dropped frames and delayed signals; measured runtime and enclosure temperature.</a:t>
            </a:r>
          </a:p>
        </p:txBody>
      </p:sp>
      <p:sp>
        <p:nvSpPr>
          <p:cNvPr id="23" name="Card (gray)"/>
          <p:cNvSpPr/>
          <p:nvPr/>
        </p:nvSpPr>
        <p:spPr>
          <a:xfrm>
            <a:off x="6227064" y="3429000"/>
            <a:ext cx="5431536" cy="2103120"/>
          </a:xfrm>
          <a:prstGeom prst="roundRect">
            <a:avLst>
              <a:gd name="adj" fmla="val 3478"/>
            </a:avLst>
          </a:prstGeom>
          <a:solidFill>
            <a:srgbClr val="F8FAFC"/>
          </a:solidFill>
          <a:ln w="9525">
            <a:solidFill>
              <a:srgbClr val="E2E8F0"/>
            </a:solidFill>
          </a:ln>
        </p:spPr>
        <p:txBody>
          <a:bodyPr rtlCol="0" anchor="ctr"/>
          <a:lstStyle/>
          <a:p>
            <a:pPr algn="ctr"/>
            <a:endParaRPr/>
          </a:p>
        </p:txBody>
      </p:sp>
      <p:pic>
        <p:nvPicPr>
          <p:cNvPr id="24" name="Icon" descr="image.png"/>
          <p:cNvPicPr>
            <a:picLocks noChangeAspect="1"/>
          </p:cNvPicPr>
          <p:nvPr/>
        </p:nvPicPr>
        <p:blipFill>
          <a:blip r:embed="rId10"/>
          <a:stretch>
            <a:fillRect/>
          </a:stretch>
        </p:blipFill>
        <p:spPr>
          <a:xfrm>
            <a:off x="6446520" y="3648456"/>
            <a:ext cx="155448" cy="155448"/>
          </a:xfrm>
          <a:prstGeom prst="rect">
            <a:avLst/>
          </a:prstGeom>
        </p:spPr>
      </p:pic>
      <p:sp>
        <p:nvSpPr>
          <p:cNvPr id="25" name="Card header"/>
          <p:cNvSpPr txBox="1"/>
          <p:nvPr/>
        </p:nvSpPr>
        <p:spPr>
          <a:xfrm>
            <a:off x="6702552" y="3630168"/>
            <a:ext cx="4700016" cy="192024"/>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25" b="1" i="0">
                <a:solidFill>
                  <a:srgbClr val="0F172A"/>
                </a:solidFill>
                <a:latin typeface="DM Sans"/>
              </a:rPr>
              <a:t>Training effect</a:t>
            </a:r>
          </a:p>
        </p:txBody>
      </p:sp>
      <p:sp>
        <p:nvSpPr>
          <p:cNvPr id="26" name="TextBox 25"/>
          <p:cNvSpPr txBox="1"/>
          <p:nvPr/>
        </p:nvSpPr>
        <p:spPr>
          <a:xfrm>
            <a:off x="6446520" y="3959352"/>
            <a:ext cx="4992624" cy="1508760"/>
          </a:xfrm>
          <a:prstGeom prst="rect">
            <a:avLst/>
          </a:prstGeom>
          <a:noFill/>
        </p:spPr>
        <p:txBody>
          <a:bodyPr wrap="square" lIns="0" tIns="0" rIns="0" bIns="0" anchor="t">
            <a:noAutofit/>
          </a:bodyPr>
          <a:lstStyle/>
          <a:p>
            <a:pPr marL="0" indent="0" algn="l">
              <a:lnSpc>
                <a:spcPct val="145000"/>
              </a:lnSpc>
              <a:spcBef>
                <a:spcPts val="0"/>
              </a:spcBef>
              <a:spcAft>
                <a:spcPts val="900"/>
              </a:spcAft>
              <a:buNone/>
            </a:pPr>
            <a:r>
              <a:rPr sz="1011" b="0" i="0">
                <a:solidFill>
                  <a:srgbClr val="334155"/>
                </a:solidFill>
                <a:latin typeface="DM Sans"/>
              </a:rPr>
              <a:t>Prompts may distract, or may cause trainees to follow the display without understanding the task.</a:t>
            </a:r>
          </a:p>
          <a:p>
            <a:pPr marL="0" indent="0" algn="l">
              <a:lnSpc>
                <a:spcPct val="145000"/>
              </a:lnSpc>
              <a:spcBef>
                <a:spcPts val="0"/>
              </a:spcBef>
              <a:spcAft>
                <a:spcPts val="0"/>
              </a:spcAft>
              <a:buNone/>
            </a:pPr>
            <a:r>
              <a:rPr sz="1011" b="1" i="0">
                <a:solidFill>
                  <a:srgbClr val="059669"/>
                </a:solidFill>
                <a:latin typeface="DM Sans"/>
              </a:rPr>
              <a:t>Tested by: </a:t>
            </a:r>
            <a:r>
              <a:rPr sz="1011" b="0" i="0">
                <a:solidFill>
                  <a:srgbClr val="334155"/>
                </a:solidFill>
                <a:latin typeface="DM Sans"/>
              </a:rPr>
              <a:t>interruptions and total task time against a phone or paper baseline.</a:t>
            </a:r>
          </a:p>
        </p:txBody>
      </p:sp>
      <p:pic>
        <p:nvPicPr>
          <p:cNvPr id="27" name="Note bar" descr="image.png"/>
          <p:cNvPicPr>
            <a:picLocks noChangeAspect="1"/>
          </p:cNvPicPr>
          <p:nvPr/>
        </p:nvPicPr>
        <p:blipFill>
          <a:blip r:embed="rId11"/>
          <a:stretch>
            <a:fillRect/>
          </a:stretch>
        </p:blipFill>
        <p:spPr>
          <a:xfrm>
            <a:off x="530352" y="5715000"/>
            <a:ext cx="11128248" cy="365760"/>
          </a:xfrm>
          <a:prstGeom prst="rect">
            <a:avLst/>
          </a:prstGeom>
        </p:spPr>
      </p:pic>
      <p:sp>
        <p:nvSpPr>
          <p:cNvPr id="28" name="Note text"/>
          <p:cNvSpPr txBox="1"/>
          <p:nvPr/>
        </p:nvSpPr>
        <p:spPr>
          <a:xfrm>
            <a:off x="722376" y="5797296"/>
            <a:ext cx="10789920" cy="274320"/>
          </a:xfrm>
          <a:prstGeom prst="rect">
            <a:avLst/>
          </a:prstGeom>
          <a:noFill/>
        </p:spPr>
        <p:txBody>
          <a:bodyPr wrap="square" lIns="0" tIns="0" rIns="0" bIns="0" anchor="t">
            <a:noAutofit/>
          </a:bodyPr>
          <a:lstStyle/>
          <a:p>
            <a:pPr marL="0" indent="0" algn="l">
              <a:lnSpc>
                <a:spcPct val="145000"/>
              </a:lnSpc>
              <a:spcBef>
                <a:spcPts val="0"/>
              </a:spcBef>
              <a:spcAft>
                <a:spcPts val="0"/>
              </a:spcAft>
              <a:buNone/>
            </a:pPr>
            <a:r>
              <a:rPr sz="936" b="1" i="0">
                <a:solidFill>
                  <a:srgbClr val="0F172A"/>
                </a:solidFill>
                <a:latin typeface="DM Sans"/>
              </a:rPr>
              <a:t>Evidence rule:</a:t>
            </a:r>
            <a:r>
              <a:rPr sz="936" b="0" i="0">
                <a:solidFill>
                  <a:srgbClr val="334155"/>
                </a:solidFill>
                <a:latin typeface="DM Sans"/>
              </a:rPr>
              <a:t> these are known design risks, not problems already observed in GIG tests.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3"/>
          <a:stretch>
            <a:fillRect/>
          </a:stretch>
        </p:blipFill>
        <p:spPr>
          <a:xfrm>
            <a:off x="0" y="0"/>
            <a:ext cx="12191695" cy="6858000"/>
          </a:xfrm>
          <a:prstGeom prst="rect">
            <a:avLst/>
          </a:prstGeom>
        </p:spPr>
      </p:pic>
      <p:pic>
        <p:nvPicPr>
          <p:cNvPr id="3" name="Logo Vishwakarma" descr="image.png"/>
          <p:cNvPicPr>
            <a:picLocks noChangeAspect="1"/>
          </p:cNvPicPr>
          <p:nvPr/>
        </p:nvPicPr>
        <p:blipFill>
          <a:blip r:embed="rId4"/>
          <a:srcRect l="14673" t="33074" r="15820" b="44466"/>
          <a:stretch>
            <a:fillRect/>
          </a:stretch>
        </p:blipFill>
        <p:spPr>
          <a:xfrm>
            <a:off x="0" y="6281928"/>
            <a:ext cx="1783080" cy="576072"/>
          </a:xfrm>
          <a:prstGeom prst="rect">
            <a:avLst/>
          </a:prstGeom>
        </p:spPr>
      </p:pic>
      <p:pic>
        <p:nvPicPr>
          <p:cNvPr id="4" name="Logo Maker Bhavan" descr="image.png"/>
          <p:cNvPicPr>
            <a:picLocks noChangeAspect="1"/>
          </p:cNvPicPr>
          <p:nvPr/>
        </p:nvPicPr>
        <p:blipFill>
          <a:blip r:embed="rId5"/>
          <a:stretch>
            <a:fillRect/>
          </a:stretch>
        </p:blipFill>
        <p:spPr>
          <a:xfrm>
            <a:off x="11091672" y="6281928"/>
            <a:ext cx="1097280" cy="576072"/>
          </a:xfrm>
          <a:prstGeom prst="rect">
            <a:avLst/>
          </a:prstGeom>
        </p:spPr>
      </p:pic>
      <p:sp>
        <p:nvSpPr>
          <p:cNvPr id="5" name="Title"/>
          <p:cNvSpPr txBox="1"/>
          <p:nvPr/>
        </p:nvSpPr>
        <p:spPr>
          <a:xfrm>
            <a:off x="530352" y="438912"/>
            <a:ext cx="11128248" cy="310896"/>
          </a:xfrm>
          <a:prstGeom prst="rect">
            <a:avLst/>
          </a:prstGeom>
          <a:noFill/>
        </p:spPr>
        <p:txBody>
          <a:bodyPr wrap="square" lIns="0" tIns="0" rIns="0" bIns="0" anchor="ctr">
            <a:noAutofit/>
          </a:bodyPr>
          <a:lstStyle/>
          <a:p>
            <a:pPr marL="0" indent="0" algn="l">
              <a:lnSpc>
                <a:spcPct val="120000"/>
              </a:lnSpc>
              <a:spcBef>
                <a:spcPts val="0"/>
              </a:spcBef>
              <a:spcAft>
                <a:spcPts val="0"/>
              </a:spcAft>
              <a:buNone/>
            </a:pPr>
            <a:r>
              <a:rPr sz="2025" b="1" i="0">
                <a:solidFill>
                  <a:srgbClr val="0F172A"/>
                </a:solidFill>
                <a:latin typeface="Poppins SemiBold"/>
              </a:rPr>
              <a:t>Mitigations &amp; Go/No-Go Tests</a:t>
            </a:r>
          </a:p>
        </p:txBody>
      </p:sp>
      <p:sp>
        <p:nvSpPr>
          <p:cNvPr id="6" name="Footer"/>
          <p:cNvSpPr txBox="1"/>
          <p:nvPr/>
        </p:nvSpPr>
        <p:spPr>
          <a:xfrm>
            <a:off x="3840480" y="6455664"/>
            <a:ext cx="4507992" cy="164592"/>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861" b="0" i="0">
                <a:solidFill>
                  <a:srgbClr val="64748B"/>
                </a:solidFill>
                <a:latin typeface="DM Sans"/>
              </a:rPr>
              <a:t>VK26-AU-HCI-0032  ·  HCI 2.0  ·  13 / 16</a:t>
            </a:r>
          </a:p>
        </p:txBody>
      </p:sp>
      <p:sp>
        <p:nvSpPr>
          <p:cNvPr id="7" name="Card (green)"/>
          <p:cNvSpPr/>
          <p:nvPr/>
        </p:nvSpPr>
        <p:spPr>
          <a:xfrm>
            <a:off x="530352" y="960120"/>
            <a:ext cx="11128248" cy="4526280"/>
          </a:xfrm>
          <a:prstGeom prst="roundRect">
            <a:avLst>
              <a:gd name="adj" fmla="val 1616"/>
            </a:avLst>
          </a:prstGeom>
          <a:solidFill>
            <a:srgbClr val="F0FDF4"/>
          </a:solidFill>
          <a:ln w="9525">
            <a:solidFill>
              <a:srgbClr val="BBF7D0"/>
            </a:solidFill>
          </a:ln>
        </p:spPr>
        <p:txBody>
          <a:bodyPr rtlCol="0" anchor="ctr"/>
          <a:lstStyle/>
          <a:p>
            <a:pPr algn="ctr"/>
            <a:endParaRPr/>
          </a:p>
        </p:txBody>
      </p:sp>
      <p:pic>
        <p:nvPicPr>
          <p:cNvPr id="8" name="Icon" descr="image.png"/>
          <p:cNvPicPr>
            <a:picLocks noChangeAspect="1"/>
          </p:cNvPicPr>
          <p:nvPr/>
        </p:nvPicPr>
        <p:blipFill>
          <a:blip r:embed="rId6"/>
          <a:stretch>
            <a:fillRect/>
          </a:stretch>
        </p:blipFill>
        <p:spPr>
          <a:xfrm>
            <a:off x="749808" y="1179576"/>
            <a:ext cx="155448" cy="155448"/>
          </a:xfrm>
          <a:prstGeom prst="rect">
            <a:avLst/>
          </a:prstGeom>
        </p:spPr>
      </p:pic>
      <p:sp>
        <p:nvSpPr>
          <p:cNvPr id="9" name="Card header"/>
          <p:cNvSpPr txBox="1"/>
          <p:nvPr/>
        </p:nvSpPr>
        <p:spPr>
          <a:xfrm>
            <a:off x="1005840" y="1161288"/>
            <a:ext cx="7315200" cy="192024"/>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25" b="1" i="0">
                <a:solidFill>
                  <a:srgbClr val="0F172A"/>
                </a:solidFill>
                <a:latin typeface="DM Sans"/>
              </a:rPr>
              <a:t>Design response and the evidence that decides go or no-go</a:t>
            </a:r>
          </a:p>
        </p:txBody>
      </p:sp>
      <p:graphicFrame>
        <p:nvGraphicFramePr>
          <p:cNvPr id="10" name="Mitigation table"/>
          <p:cNvGraphicFramePr>
            <a:graphicFrameLocks noGrp="1"/>
          </p:cNvGraphicFramePr>
          <p:nvPr/>
        </p:nvGraphicFramePr>
        <p:xfrm>
          <a:off x="749808" y="1508760"/>
          <a:ext cx="10698480" cy="3749040"/>
        </p:xfrm>
        <a:graphic>
          <a:graphicData uri="http://schemas.openxmlformats.org/drawingml/2006/table">
            <a:tbl>
              <a:tblPr firstRow="1" bandRow="1">
                <a:noFill/>
                <a:tableStyleId>{56046466-F724-4CB5-896F-67C00AF2974A}</a:tableStyleId>
              </a:tblPr>
              <a:tblGrid>
                <a:gridCol w="210312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tblGrid>
              <a:tr h="365760">
                <a:tc>
                  <a:txBody>
                    <a:bodyPr/>
                    <a:lstStyle/>
                    <a:p>
                      <a:pPr marL="0" marR="0" lvl="0" indent="0" algn="l" rtl="0">
                        <a:spcBef>
                          <a:spcPts val="0"/>
                        </a:spcBef>
                        <a:spcAft>
                          <a:spcPts val="0"/>
                        </a:spcAft>
                        <a:buNone/>
                      </a:pPr>
                      <a:r>
                        <a:rPr lang="en-US" sz="980" b="1" i="0" u="none">
                          <a:solidFill>
                            <a:srgbClr val="1E293B"/>
                          </a:solidFill>
                          <a:latin typeface="DM Sans"/>
                          <a:ea typeface="DM Sans"/>
                          <a:cs typeface="DM Sans"/>
                          <a:sym typeface="DM Sans"/>
                        </a:rPr>
                        <a:t>Risk</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980" b="1" i="0" u="none">
                          <a:solidFill>
                            <a:srgbClr val="1E293B"/>
                          </a:solidFill>
                          <a:latin typeface="DM Sans"/>
                          <a:ea typeface="DM Sans"/>
                          <a:cs typeface="DM Sans"/>
                          <a:sym typeface="DM Sans"/>
                        </a:rPr>
                        <a:t>Design Response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980" b="1" i="0" u="none">
                          <a:solidFill>
                            <a:srgbClr val="1E293B"/>
                          </a:solidFill>
                          <a:latin typeface="DM Sans"/>
                          <a:ea typeface="DM Sans"/>
                          <a:cs typeface="DM Sans"/>
                          <a:sym typeface="DM Sans"/>
                        </a:rPr>
                        <a:t>Go/No-Go Evidence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extLst>
                  <a:ext uri="{0D108BD9-81ED-4DB2-BD59-A6C34878D82A}">
                    <a16:rowId xmlns:a16="http://schemas.microsoft.com/office/drawing/2014/main" val="10000"/>
                  </a:ext>
                </a:extLst>
              </a:tr>
              <a:tr h="676656">
                <a:tc>
                  <a:txBody>
                    <a:bodyPr/>
                    <a:lstStyle/>
                    <a:p>
                      <a:pPr marL="0" marR="0" lvl="0" indent="0" algn="l" rtl="0">
                        <a:spcBef>
                          <a:spcPts val="0"/>
                        </a:spcBef>
                        <a:spcAft>
                          <a:spcPts val="0"/>
                        </a:spcAft>
                        <a:buNone/>
                      </a:pPr>
                      <a:r>
                        <a:rPr lang="en-US" sz="980" b="0" i="0" u="none">
                          <a:solidFill>
                            <a:srgbClr val="334155"/>
                          </a:solidFill>
                          <a:latin typeface="DM Sans"/>
                          <a:ea typeface="DM Sans"/>
                          <a:cs typeface="DM Sans"/>
                          <a:sym typeface="DM Sans"/>
                        </a:rPr>
                        <a:t>Drift / ambiguous item</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80" b="0" i="0" u="none">
                          <a:solidFill>
                            <a:srgbClr val="334155"/>
                          </a:solidFill>
                          <a:latin typeface="DM Sans"/>
                          <a:ea typeface="DM Sans"/>
                          <a:cs typeface="DM Sans"/>
                          <a:sym typeface="DM Sans"/>
                        </a:rPr>
                        <a:t>Recalibrate; confidence threshold; head-centred fallback</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80" b="0" i="0" u="none">
                          <a:solidFill>
                            <a:srgbClr val="334155"/>
                          </a:solidFill>
                          <a:latin typeface="DM Sans"/>
                          <a:ea typeface="DM Sans"/>
                          <a:cs typeface="DM Sans"/>
                          <a:sym typeface="DM Sans"/>
                        </a:rPr>
                        <a:t>Wrong-item rate and calibration failures by item position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76656">
                <a:tc>
                  <a:txBody>
                    <a:bodyPr/>
                    <a:lstStyle/>
                    <a:p>
                      <a:pPr marL="0" marR="0" lvl="0" indent="0" algn="l" rtl="0">
                        <a:spcBef>
                          <a:spcPts val="0"/>
                        </a:spcBef>
                        <a:spcAft>
                          <a:spcPts val="0"/>
                        </a:spcAft>
                        <a:buNone/>
                      </a:pPr>
                      <a:r>
                        <a:rPr lang="en-US" sz="980" b="0" i="0" u="none">
                          <a:solidFill>
                            <a:srgbClr val="334155"/>
                          </a:solidFill>
                          <a:latin typeface="DM Sans"/>
                          <a:ea typeface="DM Sans"/>
                          <a:cs typeface="DM Sans"/>
                          <a:sym typeface="DM Sans"/>
                        </a:rPr>
                        <a:t>Fit / optics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80" b="0" i="0" u="none">
                          <a:solidFill>
                            <a:srgbClr val="334155"/>
                          </a:solidFill>
                          <a:latin typeface="DM Sans"/>
                          <a:ea typeface="DM Sans"/>
                          <a:cs typeface="DM Sans"/>
                          <a:sym typeface="DM Sans"/>
                        </a:rPr>
                        <a:t>Adjustable modules and measured component placement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80" b="0" i="0" u="none">
                          <a:solidFill>
                            <a:srgbClr val="334155"/>
                          </a:solidFill>
                          <a:latin typeface="DM Sans"/>
                          <a:ea typeface="DM Sans"/>
                          <a:cs typeface="DM Sans"/>
                          <a:sym typeface="DM Sans"/>
                        </a:rPr>
                        <a:t>Readability, comfort, mount retention and rapid removal</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676656">
                <a:tc>
                  <a:txBody>
                    <a:bodyPr/>
                    <a:lstStyle/>
                    <a:p>
                      <a:pPr marL="0" marR="0" lvl="0" indent="0" algn="l" rtl="0">
                        <a:spcBef>
                          <a:spcPts val="0"/>
                        </a:spcBef>
                        <a:spcAft>
                          <a:spcPts val="0"/>
                        </a:spcAft>
                        <a:buNone/>
                      </a:pPr>
                      <a:r>
                        <a:rPr lang="en-US" sz="980" b="0" i="0" u="none">
                          <a:solidFill>
                            <a:srgbClr val="334155"/>
                          </a:solidFill>
                          <a:latin typeface="DM Sans"/>
                          <a:ea typeface="DM Sans"/>
                          <a:cs typeface="DM Sans"/>
                          <a:sym typeface="DM Sans"/>
                        </a:rPr>
                        <a:t>Timing gaps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80" b="0" i="0" u="none">
                          <a:solidFill>
                            <a:srgbClr val="334155"/>
                          </a:solidFill>
                          <a:latin typeface="DM Sans"/>
                          <a:ea typeface="DM Sans"/>
                          <a:cs typeface="DM Sans"/>
                          <a:sym typeface="DM Sans"/>
                        </a:rPr>
                        <a:t>Source timestamps, start/end markers, visible uncertainty</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80" b="0" i="0" u="none">
                          <a:solidFill>
                            <a:srgbClr val="334155"/>
                          </a:solidFill>
                          <a:latin typeface="DM Sans"/>
                          <a:ea typeface="DM Sans"/>
                          <a:cs typeface="DM Sans"/>
                          <a:sym typeface="DM Sans"/>
                        </a:rPr>
                        <a:t>Inject dropped frames and delayed signals; verify record integrity</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676656">
                <a:tc>
                  <a:txBody>
                    <a:bodyPr/>
                    <a:lstStyle/>
                    <a:p>
                      <a:pPr marL="0" marR="0" lvl="0" indent="0" algn="l" rtl="0">
                        <a:spcBef>
                          <a:spcPts val="0"/>
                        </a:spcBef>
                        <a:spcAft>
                          <a:spcPts val="0"/>
                        </a:spcAft>
                        <a:buNone/>
                      </a:pPr>
                      <a:r>
                        <a:rPr lang="en-US" sz="980" b="0" i="0" u="none">
                          <a:solidFill>
                            <a:srgbClr val="334155"/>
                          </a:solidFill>
                          <a:latin typeface="DM Sans"/>
                          <a:ea typeface="DM Sans"/>
                          <a:cs typeface="DM Sans"/>
                          <a:sym typeface="DM Sans"/>
                        </a:rPr>
                        <a:t>Power / heat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80" b="0" i="0" u="none">
                          <a:solidFill>
                            <a:srgbClr val="334155"/>
                          </a:solidFill>
                          <a:latin typeface="DM Sans"/>
                          <a:ea typeface="DM Sans"/>
                          <a:cs typeface="DM Sans"/>
                          <a:sym typeface="DM Sans"/>
                        </a:rPr>
                        <a:t>Pocket compute; configurable capture duration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80" b="0" i="0" u="none">
                          <a:solidFill>
                            <a:srgbClr val="334155"/>
                          </a:solidFill>
                          <a:latin typeface="DM Sans"/>
                          <a:ea typeface="DM Sans"/>
                          <a:cs typeface="DM Sans"/>
                          <a:sym typeface="DM Sans"/>
                        </a:rPr>
                        <a:t>Measured runtime and enclosure temperature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676656">
                <a:tc>
                  <a:txBody>
                    <a:bodyPr/>
                    <a:lstStyle/>
                    <a:p>
                      <a:pPr marL="0" marR="0" lvl="0" indent="0" algn="l" rtl="0">
                        <a:spcBef>
                          <a:spcPts val="0"/>
                        </a:spcBef>
                        <a:spcAft>
                          <a:spcPts val="0"/>
                        </a:spcAft>
                        <a:buNone/>
                      </a:pPr>
                      <a:r>
                        <a:rPr lang="en-US" sz="980" b="0" i="0" u="none">
                          <a:solidFill>
                            <a:srgbClr val="334155"/>
                          </a:solidFill>
                          <a:latin typeface="DM Sans"/>
                          <a:ea typeface="DM Sans"/>
                          <a:cs typeface="DM Sans"/>
                          <a:sym typeface="DM Sans"/>
                        </a:rPr>
                        <a:t>Cognitive burden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80" b="0" i="0" u="none">
                          <a:solidFill>
                            <a:srgbClr val="334155"/>
                          </a:solidFill>
                          <a:latin typeface="DM Sans"/>
                          <a:ea typeface="DM Sans"/>
                          <a:cs typeface="DM Sans"/>
                          <a:sym typeface="DM Sans"/>
                        </a:rPr>
                        <a:t>Short approved prompts; physical cancel; display blanking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80" b="0" i="0" u="none">
                          <a:solidFill>
                            <a:srgbClr val="334155"/>
                          </a:solidFill>
                          <a:latin typeface="DM Sans"/>
                          <a:ea typeface="DM Sans"/>
                          <a:cs typeface="DM Sans"/>
                          <a:sym typeface="DM Sans"/>
                        </a:rPr>
                        <a:t>Compare interruptions and total task time with phone/paper baseline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pic>
        <p:nvPicPr>
          <p:cNvPr id="11" name="Note bar" descr="image.png"/>
          <p:cNvPicPr>
            <a:picLocks noChangeAspect="1"/>
          </p:cNvPicPr>
          <p:nvPr/>
        </p:nvPicPr>
        <p:blipFill>
          <a:blip r:embed="rId7"/>
          <a:stretch>
            <a:fillRect/>
          </a:stretch>
        </p:blipFill>
        <p:spPr>
          <a:xfrm>
            <a:off x="530352" y="5669280"/>
            <a:ext cx="11128248" cy="457200"/>
          </a:xfrm>
          <a:prstGeom prst="rect">
            <a:avLst/>
          </a:prstGeom>
        </p:spPr>
      </p:pic>
      <p:sp>
        <p:nvSpPr>
          <p:cNvPr id="12" name="Note text"/>
          <p:cNvSpPr txBox="1"/>
          <p:nvPr/>
        </p:nvSpPr>
        <p:spPr>
          <a:xfrm>
            <a:off x="722376" y="5751576"/>
            <a:ext cx="10789920" cy="365760"/>
          </a:xfrm>
          <a:prstGeom prst="rect">
            <a:avLst/>
          </a:prstGeom>
          <a:noFill/>
        </p:spPr>
        <p:txBody>
          <a:bodyPr wrap="square" lIns="0" tIns="0" rIns="0" bIns="0" anchor="t">
            <a:noAutofit/>
          </a:bodyPr>
          <a:lstStyle/>
          <a:p>
            <a:pPr marL="0" indent="0" algn="l">
              <a:lnSpc>
                <a:spcPct val="145000"/>
              </a:lnSpc>
              <a:spcBef>
                <a:spcPts val="0"/>
              </a:spcBef>
              <a:spcAft>
                <a:spcPts val="0"/>
              </a:spcAft>
              <a:buNone/>
            </a:pPr>
            <a:r>
              <a:rPr sz="936" b="1" i="0">
                <a:solidFill>
                  <a:srgbClr val="0F172A"/>
                </a:solidFill>
                <a:latin typeface="DM Sans"/>
              </a:rPr>
              <a:t>Optional wrist target:</a:t>
            </a:r>
            <a:r>
              <a:rPr sz="936" b="0" i="0">
                <a:solidFill>
                  <a:srgbClr val="334155"/>
                </a:solidFill>
                <a:latin typeface="DM Sans"/>
              </a:rPr>
              <a:t> if integrated, verify wrist-to-video alignment within one second and report the actual error. Retain the module only if it adds useful instructor feedback beyond video.</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3"/>
          <a:stretch>
            <a:fillRect/>
          </a:stretch>
        </p:blipFill>
        <p:spPr>
          <a:xfrm>
            <a:off x="0" y="0"/>
            <a:ext cx="12191695" cy="6858000"/>
          </a:xfrm>
          <a:prstGeom prst="rect">
            <a:avLst/>
          </a:prstGeom>
        </p:spPr>
      </p:pic>
      <p:pic>
        <p:nvPicPr>
          <p:cNvPr id="3" name="Logo Vishwakarma" descr="image.png"/>
          <p:cNvPicPr>
            <a:picLocks noChangeAspect="1"/>
          </p:cNvPicPr>
          <p:nvPr/>
        </p:nvPicPr>
        <p:blipFill>
          <a:blip r:embed="rId4"/>
          <a:srcRect l="14673" t="33074" r="15820" b="44466"/>
          <a:stretch>
            <a:fillRect/>
          </a:stretch>
        </p:blipFill>
        <p:spPr>
          <a:xfrm>
            <a:off x="0" y="6281928"/>
            <a:ext cx="1783080" cy="576072"/>
          </a:xfrm>
          <a:prstGeom prst="rect">
            <a:avLst/>
          </a:prstGeom>
        </p:spPr>
      </p:pic>
      <p:pic>
        <p:nvPicPr>
          <p:cNvPr id="4" name="Logo Maker Bhavan" descr="image.png"/>
          <p:cNvPicPr>
            <a:picLocks noChangeAspect="1"/>
          </p:cNvPicPr>
          <p:nvPr/>
        </p:nvPicPr>
        <p:blipFill>
          <a:blip r:embed="rId5"/>
          <a:stretch>
            <a:fillRect/>
          </a:stretch>
        </p:blipFill>
        <p:spPr>
          <a:xfrm>
            <a:off x="11091672" y="6281928"/>
            <a:ext cx="1097280" cy="576072"/>
          </a:xfrm>
          <a:prstGeom prst="rect">
            <a:avLst/>
          </a:prstGeom>
        </p:spPr>
      </p:pic>
      <p:sp>
        <p:nvSpPr>
          <p:cNvPr id="5" name="Title"/>
          <p:cNvSpPr txBox="1"/>
          <p:nvPr/>
        </p:nvSpPr>
        <p:spPr>
          <a:xfrm>
            <a:off x="530352" y="438912"/>
            <a:ext cx="11128248" cy="310896"/>
          </a:xfrm>
          <a:prstGeom prst="rect">
            <a:avLst/>
          </a:prstGeom>
          <a:noFill/>
        </p:spPr>
        <p:txBody>
          <a:bodyPr wrap="square" lIns="0" tIns="0" rIns="0" bIns="0" anchor="ctr">
            <a:noAutofit/>
          </a:bodyPr>
          <a:lstStyle/>
          <a:p>
            <a:pPr marL="0" indent="0" algn="l">
              <a:lnSpc>
                <a:spcPct val="120000"/>
              </a:lnSpc>
              <a:spcBef>
                <a:spcPts val="0"/>
              </a:spcBef>
              <a:spcAft>
                <a:spcPts val="0"/>
              </a:spcAft>
              <a:buNone/>
            </a:pPr>
            <a:r>
              <a:rPr sz="2025" b="1" i="0">
                <a:solidFill>
                  <a:srgbClr val="0F172A"/>
                </a:solidFill>
                <a:latin typeface="Poppins SemiBold"/>
              </a:rPr>
              <a:t>Differentiation, Prior Art &amp; Pilot Decision</a:t>
            </a:r>
          </a:p>
        </p:txBody>
      </p:sp>
      <p:sp>
        <p:nvSpPr>
          <p:cNvPr id="6" name="Footer"/>
          <p:cNvSpPr txBox="1"/>
          <p:nvPr/>
        </p:nvSpPr>
        <p:spPr>
          <a:xfrm>
            <a:off x="3840480" y="6455664"/>
            <a:ext cx="4507992" cy="164592"/>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861" b="0" i="0">
                <a:solidFill>
                  <a:srgbClr val="64748B"/>
                </a:solidFill>
                <a:latin typeface="DM Sans"/>
              </a:rPr>
              <a:t>VK26-AU-HCI-0032  ·  HCI 2.0  ·  14 / 16</a:t>
            </a:r>
          </a:p>
        </p:txBody>
      </p:sp>
      <p:sp>
        <p:nvSpPr>
          <p:cNvPr id="7" name="Card (gray)"/>
          <p:cNvSpPr/>
          <p:nvPr/>
        </p:nvSpPr>
        <p:spPr>
          <a:xfrm>
            <a:off x="530352" y="960120"/>
            <a:ext cx="3566160" cy="4434840"/>
          </a:xfrm>
          <a:prstGeom prst="roundRect">
            <a:avLst>
              <a:gd name="adj" fmla="val 2051"/>
            </a:avLst>
          </a:prstGeom>
          <a:solidFill>
            <a:srgbClr val="F8FAFC"/>
          </a:solidFill>
          <a:ln w="9525">
            <a:solidFill>
              <a:srgbClr val="E2E8F0"/>
            </a:solidFill>
          </a:ln>
        </p:spPr>
        <p:txBody>
          <a:bodyPr rtlCol="0" anchor="ctr"/>
          <a:lstStyle/>
          <a:p>
            <a:pPr algn="ctr"/>
            <a:endParaRPr/>
          </a:p>
        </p:txBody>
      </p:sp>
      <p:pic>
        <p:nvPicPr>
          <p:cNvPr id="8" name="Icon" descr="image.png"/>
          <p:cNvPicPr>
            <a:picLocks noChangeAspect="1"/>
          </p:cNvPicPr>
          <p:nvPr/>
        </p:nvPicPr>
        <p:blipFill>
          <a:blip r:embed="rId6"/>
          <a:stretch>
            <a:fillRect/>
          </a:stretch>
        </p:blipFill>
        <p:spPr>
          <a:xfrm>
            <a:off x="749808" y="1179576"/>
            <a:ext cx="155448" cy="155448"/>
          </a:xfrm>
          <a:prstGeom prst="rect">
            <a:avLst/>
          </a:prstGeom>
        </p:spPr>
      </p:pic>
      <p:sp>
        <p:nvSpPr>
          <p:cNvPr id="9" name="Card header"/>
          <p:cNvSpPr txBox="1"/>
          <p:nvPr/>
        </p:nvSpPr>
        <p:spPr>
          <a:xfrm>
            <a:off x="1005840" y="1161288"/>
            <a:ext cx="3017520" cy="192024"/>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25" b="1" i="0">
                <a:solidFill>
                  <a:srgbClr val="0F172A"/>
                </a:solidFill>
                <a:latin typeface="DM Sans"/>
              </a:rPr>
              <a:t>What already exists</a:t>
            </a:r>
          </a:p>
        </p:txBody>
      </p:sp>
      <p:sp>
        <p:nvSpPr>
          <p:cNvPr id="10" name="TextBox 9"/>
          <p:cNvSpPr txBox="1"/>
          <p:nvPr/>
        </p:nvSpPr>
        <p:spPr>
          <a:xfrm>
            <a:off x="749808" y="1508760"/>
            <a:ext cx="3127248" cy="3840480"/>
          </a:xfrm>
          <a:prstGeom prst="rect">
            <a:avLst/>
          </a:prstGeom>
          <a:noFill/>
        </p:spPr>
        <p:txBody>
          <a:bodyPr wrap="square" lIns="0" tIns="0" rIns="0" bIns="0" anchor="t">
            <a:noAutofit/>
          </a:bodyPr>
          <a:lstStyle/>
          <a:p>
            <a:pPr marL="173736" indent="-173736" algn="l">
              <a:lnSpc>
                <a:spcPct val="145000"/>
              </a:lnSpc>
              <a:spcBef>
                <a:spcPts val="0"/>
              </a:spcBef>
              <a:spcAft>
                <a:spcPts val="700"/>
              </a:spcAft>
              <a:buClr>
                <a:srgbClr val="059669"/>
              </a:buClr>
              <a:buFont typeface="DM Sans"/>
              <a:buChar char="▪"/>
            </a:pPr>
            <a:r>
              <a:rPr sz="1011" b="0" i="0">
                <a:solidFill>
                  <a:srgbClr val="334155"/>
                </a:solidFill>
                <a:latin typeface="DM Sans"/>
              </a:rPr>
              <a:t>Open eye-tracking software and APIs [S5]</a:t>
            </a:r>
          </a:p>
          <a:p>
            <a:pPr marL="173736" indent="-173736" algn="l">
              <a:lnSpc>
                <a:spcPct val="145000"/>
              </a:lnSpc>
              <a:spcBef>
                <a:spcPts val="0"/>
              </a:spcBef>
              <a:spcAft>
                <a:spcPts val="700"/>
              </a:spcAft>
              <a:buClr>
                <a:srgbClr val="059669"/>
              </a:buClr>
              <a:buFont typeface="DM Sans"/>
              <a:buChar char="▪"/>
            </a:pPr>
            <a:r>
              <a:rPr sz="1011" b="0" i="0">
                <a:solidFill>
                  <a:srgbClr val="334155"/>
                </a:solidFill>
                <a:latin typeface="DM Sans"/>
              </a:rPr>
              <a:t>Gaze-directed contextual AI research [S6]</a:t>
            </a:r>
          </a:p>
          <a:p>
            <a:pPr marL="173736" indent="-173736" algn="l">
              <a:lnSpc>
                <a:spcPct val="145000"/>
              </a:lnSpc>
              <a:spcBef>
                <a:spcPts val="0"/>
              </a:spcBef>
              <a:spcAft>
                <a:spcPts val="700"/>
              </a:spcAft>
              <a:buClr>
                <a:srgbClr val="059669"/>
              </a:buClr>
              <a:buFont typeface="DM Sans"/>
              <a:buChar char="▪"/>
            </a:pPr>
            <a:r>
              <a:rPr sz="1011" b="0" i="0">
                <a:solidFill>
                  <a:srgbClr val="334155"/>
                </a:solidFill>
                <a:latin typeface="DM Sans"/>
              </a:rPr>
              <a:t>Video-based simulation debriefing [S7]</a:t>
            </a:r>
          </a:p>
          <a:p>
            <a:pPr marL="173736" indent="-173736" algn="l">
              <a:lnSpc>
                <a:spcPct val="145000"/>
              </a:lnSpc>
              <a:spcBef>
                <a:spcPts val="0"/>
              </a:spcBef>
              <a:spcAft>
                <a:spcPts val="1000"/>
              </a:spcAft>
              <a:buClr>
                <a:srgbClr val="059669"/>
              </a:buClr>
              <a:buFont typeface="DM Sans"/>
              <a:buChar char="▪"/>
            </a:pPr>
            <a:r>
              <a:rPr sz="1011" b="0" i="0">
                <a:solidFill>
                  <a:srgbClr val="334155"/>
                </a:solidFill>
                <a:latin typeface="DM Sans"/>
              </a:rPr>
              <a:t>Printable research gaze frames [S8]</a:t>
            </a:r>
          </a:p>
          <a:p>
            <a:pPr marL="0" indent="0" algn="l">
              <a:lnSpc>
                <a:spcPct val="145000"/>
              </a:lnSpc>
              <a:spcBef>
                <a:spcPts val="0"/>
              </a:spcBef>
              <a:spcAft>
                <a:spcPts val="1000"/>
              </a:spcAft>
              <a:buNone/>
            </a:pPr>
            <a:r>
              <a:rPr sz="1011" b="1" i="0">
                <a:solidFill>
                  <a:srgbClr val="334155"/>
                </a:solidFill>
                <a:latin typeface="DM Sans"/>
              </a:rPr>
              <a:t>The existence of these tools is not evidence that GIG works.</a:t>
            </a:r>
          </a:p>
          <a:p>
            <a:pPr marL="0" indent="0" algn="l">
              <a:lnSpc>
                <a:spcPct val="120000"/>
              </a:lnSpc>
              <a:spcBef>
                <a:spcPts val="0"/>
              </a:spcBef>
              <a:spcAft>
                <a:spcPts val="700"/>
              </a:spcAft>
              <a:buNone/>
            </a:pPr>
            <a:r>
              <a:rPr sz="1080" b="1" i="0">
                <a:solidFill>
                  <a:srgbClr val="0F172A"/>
                </a:solidFill>
                <a:latin typeface="DM Sans"/>
              </a:rPr>
              <a:t>GIG contribution to test</a:t>
            </a:r>
          </a:p>
          <a:p>
            <a:pPr marL="0" indent="0" algn="l">
              <a:lnSpc>
                <a:spcPct val="145000"/>
              </a:lnSpc>
              <a:spcBef>
                <a:spcPts val="0"/>
              </a:spcBef>
              <a:spcAft>
                <a:spcPts val="0"/>
              </a:spcAft>
              <a:buNone/>
            </a:pPr>
            <a:r>
              <a:rPr sz="1011" b="0" i="0">
                <a:solidFill>
                  <a:srgbClr val="334155"/>
                </a:solidFill>
                <a:latin typeface="DM Sans"/>
              </a:rPr>
              <a:t>An approved equipment-check workflow that binds a deliberately confirmed physical item to the instruction shown, the person’s completion action and a first-person event for review.</a:t>
            </a:r>
          </a:p>
        </p:txBody>
      </p:sp>
      <p:sp>
        <p:nvSpPr>
          <p:cNvPr id="11" name="Card (gray)"/>
          <p:cNvSpPr/>
          <p:nvPr/>
        </p:nvSpPr>
        <p:spPr>
          <a:xfrm>
            <a:off x="4315968" y="960120"/>
            <a:ext cx="3566160" cy="4434840"/>
          </a:xfrm>
          <a:prstGeom prst="roundRect">
            <a:avLst>
              <a:gd name="adj" fmla="val 2051"/>
            </a:avLst>
          </a:prstGeom>
          <a:solidFill>
            <a:srgbClr val="F8FAFC"/>
          </a:solidFill>
          <a:ln w="9525">
            <a:solidFill>
              <a:srgbClr val="E2E8F0"/>
            </a:solidFill>
          </a:ln>
        </p:spPr>
        <p:txBody>
          <a:bodyPr rtlCol="0" anchor="ctr"/>
          <a:lstStyle/>
          <a:p>
            <a:pPr algn="ctr"/>
            <a:endParaRPr/>
          </a:p>
        </p:txBody>
      </p:sp>
      <p:pic>
        <p:nvPicPr>
          <p:cNvPr id="12" name="Icon" descr="image.png"/>
          <p:cNvPicPr>
            <a:picLocks noChangeAspect="1"/>
          </p:cNvPicPr>
          <p:nvPr/>
        </p:nvPicPr>
        <p:blipFill>
          <a:blip r:embed="rId7"/>
          <a:stretch>
            <a:fillRect/>
          </a:stretch>
        </p:blipFill>
        <p:spPr>
          <a:xfrm>
            <a:off x="4535424" y="1179576"/>
            <a:ext cx="155448" cy="155448"/>
          </a:xfrm>
          <a:prstGeom prst="rect">
            <a:avLst/>
          </a:prstGeom>
        </p:spPr>
      </p:pic>
      <p:sp>
        <p:nvSpPr>
          <p:cNvPr id="13" name="Card header"/>
          <p:cNvSpPr txBox="1"/>
          <p:nvPr/>
        </p:nvSpPr>
        <p:spPr>
          <a:xfrm>
            <a:off x="4791456" y="1161288"/>
            <a:ext cx="3017520" cy="192024"/>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25" b="1" i="0">
                <a:solidFill>
                  <a:srgbClr val="0F172A"/>
                </a:solidFill>
                <a:latin typeface="DM Sans"/>
              </a:rPr>
              <a:t>Three fair comparisons</a:t>
            </a:r>
          </a:p>
        </p:txBody>
      </p:sp>
      <p:sp>
        <p:nvSpPr>
          <p:cNvPr id="14" name="TextBox 13"/>
          <p:cNvSpPr txBox="1"/>
          <p:nvPr/>
        </p:nvSpPr>
        <p:spPr>
          <a:xfrm>
            <a:off x="4535424" y="1508760"/>
            <a:ext cx="3127248" cy="3840480"/>
          </a:xfrm>
          <a:prstGeom prst="rect">
            <a:avLst/>
          </a:prstGeom>
          <a:noFill/>
        </p:spPr>
        <p:txBody>
          <a:bodyPr wrap="square" lIns="0" tIns="0" rIns="0" bIns="0" anchor="t">
            <a:noAutofit/>
          </a:bodyPr>
          <a:lstStyle/>
          <a:p>
            <a:pPr marL="237744" indent="-237744" algn="l">
              <a:lnSpc>
                <a:spcPct val="145000"/>
              </a:lnSpc>
              <a:spcBef>
                <a:spcPts val="0"/>
              </a:spcBef>
              <a:spcAft>
                <a:spcPts val="1000"/>
              </a:spcAft>
              <a:buClr>
                <a:srgbClr val="059669"/>
              </a:buClr>
              <a:buFont typeface="DM Sans"/>
              <a:buAutoNum type="arabicPeriod"/>
            </a:pPr>
            <a:r>
              <a:rPr sz="1011" b="1" i="0">
                <a:solidFill>
                  <a:srgbClr val="334155"/>
                </a:solidFill>
                <a:latin typeface="DM Sans"/>
              </a:rPr>
              <a:t>Gaze plus confirmation </a:t>
            </a:r>
            <a:r>
              <a:rPr sz="1011" b="0" i="0">
                <a:solidFill>
                  <a:srgbClr val="334155"/>
                </a:solidFill>
                <a:latin typeface="DM Sans"/>
              </a:rPr>
              <a:t>versus head-centred selection.</a:t>
            </a:r>
          </a:p>
          <a:p>
            <a:pPr marL="237744" indent="-237744" algn="l">
              <a:lnSpc>
                <a:spcPct val="145000"/>
              </a:lnSpc>
              <a:spcBef>
                <a:spcPts val="0"/>
              </a:spcBef>
              <a:spcAft>
                <a:spcPts val="1000"/>
              </a:spcAft>
              <a:buClr>
                <a:srgbClr val="059669"/>
              </a:buClr>
              <a:buFont typeface="DM Sans"/>
              <a:buAutoNum type="arabicPeriod"/>
            </a:pPr>
            <a:r>
              <a:rPr sz="1011" b="1" i="0">
                <a:solidFill>
                  <a:srgbClr val="334155"/>
                </a:solidFill>
                <a:latin typeface="DM Sans"/>
              </a:rPr>
              <a:t>GIG </a:t>
            </a:r>
            <a:r>
              <a:rPr sz="1011" b="0" i="0">
                <a:solidFill>
                  <a:srgbClr val="334155"/>
                </a:solidFill>
                <a:latin typeface="DM Sans"/>
              </a:rPr>
              <a:t>versus a phone or paper checklist on wrong-item choices, omissions, interruptions and task time.</a:t>
            </a:r>
          </a:p>
          <a:p>
            <a:pPr marL="237744" indent="-237744" algn="l">
              <a:lnSpc>
                <a:spcPct val="145000"/>
              </a:lnSpc>
              <a:spcBef>
                <a:spcPts val="0"/>
              </a:spcBef>
              <a:spcAft>
                <a:spcPts val="0"/>
              </a:spcAft>
              <a:buClr>
                <a:srgbClr val="059669"/>
              </a:buClr>
              <a:buFont typeface="DM Sans"/>
              <a:buAutoNum type="arabicPeriod"/>
            </a:pPr>
            <a:r>
              <a:rPr sz="1011" b="1" i="0">
                <a:solidFill>
                  <a:srgbClr val="334155"/>
                </a:solidFill>
                <a:latin typeface="DM Sans"/>
              </a:rPr>
              <a:t>Event-linked replay </a:t>
            </a:r>
            <a:r>
              <a:rPr sz="1011" b="0" i="0">
                <a:solidFill>
                  <a:srgbClr val="334155"/>
                </a:solidFill>
                <a:latin typeface="DM Sans"/>
              </a:rPr>
              <a:t>versus unindexed video on time to find and explain a marked moment.</a:t>
            </a:r>
          </a:p>
        </p:txBody>
      </p:sp>
      <p:sp>
        <p:nvSpPr>
          <p:cNvPr id="15" name="Card (green)"/>
          <p:cNvSpPr/>
          <p:nvPr/>
        </p:nvSpPr>
        <p:spPr>
          <a:xfrm>
            <a:off x="8092440" y="960120"/>
            <a:ext cx="3566160" cy="4434840"/>
          </a:xfrm>
          <a:prstGeom prst="roundRect">
            <a:avLst>
              <a:gd name="adj" fmla="val 2051"/>
            </a:avLst>
          </a:prstGeom>
          <a:solidFill>
            <a:srgbClr val="F0FDF4"/>
          </a:solidFill>
          <a:ln w="9525">
            <a:solidFill>
              <a:srgbClr val="BBF7D0"/>
            </a:solidFill>
          </a:ln>
        </p:spPr>
        <p:txBody>
          <a:bodyPr rtlCol="0" anchor="ctr"/>
          <a:lstStyle/>
          <a:p>
            <a:pPr algn="ctr"/>
            <a:endParaRPr/>
          </a:p>
        </p:txBody>
      </p:sp>
      <p:pic>
        <p:nvPicPr>
          <p:cNvPr id="16" name="Icon" descr="image.png"/>
          <p:cNvPicPr>
            <a:picLocks noChangeAspect="1"/>
          </p:cNvPicPr>
          <p:nvPr/>
        </p:nvPicPr>
        <p:blipFill>
          <a:blip r:embed="rId8"/>
          <a:stretch>
            <a:fillRect/>
          </a:stretch>
        </p:blipFill>
        <p:spPr>
          <a:xfrm>
            <a:off x="8311896" y="1179576"/>
            <a:ext cx="155448" cy="155448"/>
          </a:xfrm>
          <a:prstGeom prst="rect">
            <a:avLst/>
          </a:prstGeom>
        </p:spPr>
      </p:pic>
      <p:sp>
        <p:nvSpPr>
          <p:cNvPr id="17" name="Card header"/>
          <p:cNvSpPr txBox="1"/>
          <p:nvPr/>
        </p:nvSpPr>
        <p:spPr>
          <a:xfrm>
            <a:off x="8567928" y="1161288"/>
            <a:ext cx="3017520" cy="192024"/>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sz="1125" b="1" i="0">
                <a:solidFill>
                  <a:srgbClr val="0F172A"/>
                </a:solidFill>
                <a:latin typeface="DM Sans"/>
              </a:rPr>
              <a:t>Decision rule</a:t>
            </a:r>
          </a:p>
        </p:txBody>
      </p:sp>
      <p:sp>
        <p:nvSpPr>
          <p:cNvPr id="18" name="TextBox 17"/>
          <p:cNvSpPr txBox="1"/>
          <p:nvPr/>
        </p:nvSpPr>
        <p:spPr>
          <a:xfrm>
            <a:off x="8311896" y="1508760"/>
            <a:ext cx="3127248" cy="3840480"/>
          </a:xfrm>
          <a:prstGeom prst="rect">
            <a:avLst/>
          </a:prstGeom>
          <a:noFill/>
        </p:spPr>
        <p:txBody>
          <a:bodyPr wrap="square" lIns="0" tIns="0" rIns="0" bIns="0" anchor="t">
            <a:noAutofit/>
          </a:bodyPr>
          <a:lstStyle/>
          <a:p>
            <a:pPr marL="0" indent="0" algn="l">
              <a:lnSpc>
                <a:spcPct val="145000"/>
              </a:lnSpc>
              <a:spcBef>
                <a:spcPts val="0"/>
              </a:spcBef>
              <a:spcAft>
                <a:spcPts val="1000"/>
              </a:spcAft>
              <a:buNone/>
            </a:pPr>
            <a:r>
              <a:rPr sz="1011" b="1" i="0">
                <a:solidFill>
                  <a:srgbClr val="334155"/>
                </a:solidFill>
                <a:latin typeface="DM Sans"/>
              </a:rPr>
              <a:t>Keep gaze </a:t>
            </a:r>
            <a:r>
              <a:rPr sz="1011" b="0" i="0">
                <a:solidFill>
                  <a:srgbClr val="334155"/>
                </a:solidFill>
                <a:latin typeface="DM Sans"/>
              </a:rPr>
              <a:t>if it improves selection or checklist completeness without a meaningful distraction or time penalty.</a:t>
            </a:r>
          </a:p>
          <a:p>
            <a:pPr marL="0" indent="0" algn="l">
              <a:lnSpc>
                <a:spcPct val="145000"/>
              </a:lnSpc>
              <a:spcBef>
                <a:spcPts val="0"/>
              </a:spcBef>
              <a:spcAft>
                <a:spcPts val="1000"/>
              </a:spcAft>
              <a:buNone/>
            </a:pPr>
            <a:r>
              <a:rPr sz="1011" b="1" i="0">
                <a:solidFill>
                  <a:srgbClr val="334155"/>
                </a:solidFill>
                <a:latin typeface="DM Sans"/>
              </a:rPr>
              <a:t>Keep wrist sensing </a:t>
            </a:r>
            <a:r>
              <a:rPr sz="1011" b="0" i="0">
                <a:solidFill>
                  <a:srgbClr val="334155"/>
                </a:solidFill>
                <a:latin typeface="DM Sans"/>
              </a:rPr>
              <a:t>only if it improves review.</a:t>
            </a:r>
          </a:p>
          <a:p>
            <a:pPr marL="0" indent="0" algn="l">
              <a:lnSpc>
                <a:spcPct val="145000"/>
              </a:lnSpc>
              <a:spcBef>
                <a:spcPts val="0"/>
              </a:spcBef>
              <a:spcAft>
                <a:spcPts val="0"/>
              </a:spcAft>
              <a:buNone/>
            </a:pPr>
            <a:r>
              <a:rPr sz="1011" b="1" i="0">
                <a:solidFill>
                  <a:srgbClr val="334155"/>
                </a:solidFill>
                <a:latin typeface="DM Sans"/>
              </a:rPr>
              <a:t>If simple tools perform as well, simplify the product.</a:t>
            </a:r>
          </a:p>
        </p:txBody>
      </p:sp>
      <p:pic>
        <p:nvPicPr>
          <p:cNvPr id="19" name="Note bar" descr="image.png"/>
          <p:cNvPicPr>
            <a:picLocks noChangeAspect="1"/>
          </p:cNvPicPr>
          <p:nvPr/>
        </p:nvPicPr>
        <p:blipFill>
          <a:blip r:embed="rId9"/>
          <a:stretch>
            <a:fillRect/>
          </a:stretch>
        </p:blipFill>
        <p:spPr>
          <a:xfrm>
            <a:off x="530352" y="5532120"/>
            <a:ext cx="11128248" cy="566928"/>
          </a:xfrm>
          <a:prstGeom prst="rect">
            <a:avLst/>
          </a:prstGeom>
        </p:spPr>
      </p:pic>
      <p:sp>
        <p:nvSpPr>
          <p:cNvPr id="20" name="Note text"/>
          <p:cNvSpPr txBox="1"/>
          <p:nvPr/>
        </p:nvSpPr>
        <p:spPr>
          <a:xfrm>
            <a:off x="722376" y="5614416"/>
            <a:ext cx="10789920" cy="475488"/>
          </a:xfrm>
          <a:prstGeom prst="rect">
            <a:avLst/>
          </a:prstGeom>
          <a:noFill/>
        </p:spPr>
        <p:txBody>
          <a:bodyPr wrap="square" lIns="0" tIns="0" rIns="0" bIns="0" anchor="t">
            <a:noAutofit/>
          </a:bodyPr>
          <a:lstStyle/>
          <a:p>
            <a:pPr marL="0" indent="0" algn="l">
              <a:lnSpc>
                <a:spcPct val="145000"/>
              </a:lnSpc>
              <a:spcBef>
                <a:spcPts val="0"/>
              </a:spcBef>
              <a:spcAft>
                <a:spcPts val="0"/>
              </a:spcAft>
              <a:buNone/>
            </a:pPr>
            <a:r>
              <a:rPr sz="1011" b="1" i="0">
                <a:solidFill>
                  <a:srgbClr val="0F172A"/>
                </a:solidFill>
                <a:latin typeface="DM Sans"/>
              </a:rPr>
              <a:t>Prior-art caution:</a:t>
            </a:r>
            <a:r>
              <a:rPr sz="1011" b="0" i="0">
                <a:solidFill>
                  <a:srgbClr val="334155"/>
                </a:solidFill>
                <a:latin typeface="DM Sans"/>
              </a:rPr>
              <a:t> video debriefing is established (Laerdal SimCapture [S7]); GIG does not claim it as new. The open-source tools [S5, S8] do not make the GIG hardware open or compatible.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3"/>
          <a:stretch>
            <a:fillRect/>
          </a:stretch>
        </p:blipFill>
        <p:spPr>
          <a:xfrm>
            <a:off x="0" y="0"/>
            <a:ext cx="12191695" cy="6858000"/>
          </a:xfrm>
          <a:prstGeom prst="rect">
            <a:avLst/>
          </a:prstGeom>
        </p:spPr>
      </p:pic>
      <p:pic>
        <p:nvPicPr>
          <p:cNvPr id="3" name="Logo Vishwakarma" descr="image.png"/>
          <p:cNvPicPr>
            <a:picLocks noChangeAspect="1"/>
          </p:cNvPicPr>
          <p:nvPr/>
        </p:nvPicPr>
        <p:blipFill>
          <a:blip r:embed="rId4"/>
          <a:srcRect l="14673" t="33074" r="15820" b="44466"/>
          <a:stretch>
            <a:fillRect/>
          </a:stretch>
        </p:blipFill>
        <p:spPr>
          <a:xfrm>
            <a:off x="0" y="6281928"/>
            <a:ext cx="1783080" cy="576072"/>
          </a:xfrm>
          <a:prstGeom prst="rect">
            <a:avLst/>
          </a:prstGeom>
        </p:spPr>
      </p:pic>
      <p:pic>
        <p:nvPicPr>
          <p:cNvPr id="4" name="Logo Maker Bhavan" descr="image.png"/>
          <p:cNvPicPr>
            <a:picLocks noChangeAspect="1"/>
          </p:cNvPicPr>
          <p:nvPr/>
        </p:nvPicPr>
        <p:blipFill>
          <a:blip r:embed="rId5"/>
          <a:stretch>
            <a:fillRect/>
          </a:stretch>
        </p:blipFill>
        <p:spPr>
          <a:xfrm>
            <a:off x="11091672" y="6281928"/>
            <a:ext cx="1097280" cy="576072"/>
          </a:xfrm>
          <a:prstGeom prst="rect">
            <a:avLst/>
          </a:prstGeom>
        </p:spPr>
      </p:pic>
      <p:sp>
        <p:nvSpPr>
          <p:cNvPr id="5" name="Title"/>
          <p:cNvSpPr txBox="1"/>
          <p:nvPr/>
        </p:nvSpPr>
        <p:spPr>
          <a:xfrm>
            <a:off x="530352" y="438912"/>
            <a:ext cx="11128248" cy="310896"/>
          </a:xfrm>
          <a:prstGeom prst="rect">
            <a:avLst/>
          </a:prstGeom>
          <a:noFill/>
        </p:spPr>
        <p:txBody>
          <a:bodyPr wrap="square" lIns="0" tIns="0" rIns="0" bIns="0" anchor="ctr">
            <a:noAutofit/>
          </a:bodyPr>
          <a:lstStyle/>
          <a:p>
            <a:pPr marL="0" indent="0" algn="l">
              <a:lnSpc>
                <a:spcPct val="120000"/>
              </a:lnSpc>
              <a:spcBef>
                <a:spcPts val="0"/>
              </a:spcBef>
              <a:spcAft>
                <a:spcPts val="0"/>
              </a:spcAft>
              <a:buNone/>
            </a:pPr>
            <a:r>
              <a:rPr sz="2025" b="1" i="0">
                <a:solidFill>
                  <a:srgbClr val="0F172A"/>
                </a:solidFill>
                <a:latin typeface="Poppins SemiBold"/>
              </a:rPr>
              <a:t>References &amp; Sources</a:t>
            </a:r>
          </a:p>
        </p:txBody>
      </p:sp>
      <p:sp>
        <p:nvSpPr>
          <p:cNvPr id="6" name="Footer"/>
          <p:cNvSpPr txBox="1"/>
          <p:nvPr/>
        </p:nvSpPr>
        <p:spPr>
          <a:xfrm>
            <a:off x="3840480" y="6455664"/>
            <a:ext cx="4507992" cy="164592"/>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861" b="0" i="0">
                <a:solidFill>
                  <a:srgbClr val="64748B"/>
                </a:solidFill>
                <a:latin typeface="DM Sans"/>
              </a:rPr>
              <a:t>VK26-AU-HCI-0032  ·  HCI 2.0  ·  15 / 16</a:t>
            </a:r>
          </a:p>
        </p:txBody>
      </p:sp>
      <p:sp>
        <p:nvSpPr>
          <p:cNvPr id="7" name="Ref tag"/>
          <p:cNvSpPr/>
          <p:nvPr/>
        </p:nvSpPr>
        <p:spPr>
          <a:xfrm>
            <a:off x="530352" y="978408"/>
            <a:ext cx="457200" cy="237744"/>
          </a:xfrm>
          <a:prstGeom prst="roundRect">
            <a:avLst>
              <a:gd name="adj" fmla="val 23076"/>
            </a:avLst>
          </a:prstGeom>
          <a:solidFill>
            <a:srgbClr val="F0FDF4"/>
          </a:solidFill>
          <a:ln w="9525">
            <a:solidFill>
              <a:srgbClr val="BBF7D0"/>
            </a:solidFill>
          </a:ln>
        </p:spPr>
        <p:txBody>
          <a:bodyPr rtlCol="0" anchor="ctr"/>
          <a:lstStyle/>
          <a:p>
            <a:pPr algn="ctr"/>
            <a:endParaRPr/>
          </a:p>
        </p:txBody>
      </p:sp>
      <p:sp>
        <p:nvSpPr>
          <p:cNvPr id="8" name="TextBox 7"/>
          <p:cNvSpPr txBox="1"/>
          <p:nvPr/>
        </p:nvSpPr>
        <p:spPr>
          <a:xfrm>
            <a:off x="530352" y="978408"/>
            <a:ext cx="457200" cy="237744"/>
          </a:xfrm>
          <a:prstGeom prst="rect">
            <a:avLst/>
          </a:prstGeom>
          <a:noFill/>
        </p:spPr>
        <p:txBody>
          <a:bodyPr wrap="square" lIns="0" tIns="0" rIns="0" bIns="0" anchor="ctr">
            <a:noAutofit/>
          </a:bodyPr>
          <a:lstStyle/>
          <a:p>
            <a:pPr marL="0" indent="0" algn="ctr">
              <a:lnSpc>
                <a:spcPct val="100000"/>
              </a:lnSpc>
              <a:spcBef>
                <a:spcPts val="0"/>
              </a:spcBef>
              <a:spcAft>
                <a:spcPts val="0"/>
              </a:spcAft>
              <a:buNone/>
            </a:pPr>
            <a:r>
              <a:rPr sz="936" b="1" i="0">
                <a:solidFill>
                  <a:srgbClr val="059669"/>
                </a:solidFill>
                <a:latin typeface="DM Sans"/>
              </a:rPr>
              <a:t>[S1]</a:t>
            </a:r>
          </a:p>
        </p:txBody>
      </p:sp>
      <p:sp>
        <p:nvSpPr>
          <p:cNvPr id="9" name="TextBox 8"/>
          <p:cNvSpPr txBox="1"/>
          <p:nvPr/>
        </p:nvSpPr>
        <p:spPr>
          <a:xfrm>
            <a:off x="1097280" y="960120"/>
            <a:ext cx="4937760" cy="1078992"/>
          </a:xfrm>
          <a:prstGeom prst="rect">
            <a:avLst/>
          </a:prstGeom>
          <a:noFill/>
        </p:spPr>
        <p:txBody>
          <a:bodyPr wrap="square" lIns="0" tIns="0" rIns="0" bIns="0" anchor="t">
            <a:noAutofit/>
          </a:bodyPr>
          <a:lstStyle/>
          <a:p>
            <a:pPr marL="0" indent="0" algn="l">
              <a:lnSpc>
                <a:spcPct val="130000"/>
              </a:lnSpc>
              <a:spcBef>
                <a:spcPts val="0"/>
              </a:spcBef>
              <a:spcAft>
                <a:spcPts val="200"/>
              </a:spcAft>
              <a:buNone/>
            </a:pPr>
            <a:r>
              <a:rPr sz="936" b="1" i="0">
                <a:solidFill>
                  <a:srgbClr val="0F172A"/>
                </a:solidFill>
                <a:latin typeface="DM Sans"/>
              </a:rPr>
              <a:t>National Disaster Response Force, NDRF Raising Day 2025</a:t>
            </a:r>
          </a:p>
          <a:p>
            <a:pPr marL="0" indent="0" algn="l">
              <a:lnSpc>
                <a:spcPct val="130000"/>
              </a:lnSpc>
              <a:spcBef>
                <a:spcPts val="0"/>
              </a:spcBef>
              <a:spcAft>
                <a:spcPts val="200"/>
              </a:spcAft>
              <a:buNone/>
            </a:pPr>
            <a:r>
              <a:rPr sz="861" b="0" i="0">
                <a:solidFill>
                  <a:srgbClr val="334155"/>
                </a:solidFill>
                <a:latin typeface="DM Sans"/>
              </a:rPr>
              <a:t>691 mock exercises in 2024; 2025 “Year of Training.”</a:t>
            </a:r>
          </a:p>
          <a:p>
            <a:pPr marL="0" indent="0" algn="l">
              <a:lnSpc>
                <a:spcPct val="120000"/>
              </a:lnSpc>
              <a:spcBef>
                <a:spcPts val="0"/>
              </a:spcBef>
              <a:spcAft>
                <a:spcPts val="0"/>
              </a:spcAft>
              <a:buNone/>
            </a:pPr>
            <a:r>
              <a:rPr sz="800" b="0" i="0" u="sng">
                <a:solidFill>
                  <a:srgbClr val="0369A1"/>
                </a:solidFill>
                <a:latin typeface="DM Sans"/>
                <a:hlinkClick r:id="rId6"/>
              </a:rPr>
              <a:t>ndrf.gov.in/en/pressrelease/national-disaster-response-force-ndrf-raising-day-2025</a:t>
            </a:r>
          </a:p>
        </p:txBody>
      </p:sp>
      <p:cxnSp>
        <p:nvCxnSpPr>
          <p:cNvPr id="10" name="Connector 9"/>
          <p:cNvCxnSpPr/>
          <p:nvPr/>
        </p:nvCxnSpPr>
        <p:spPr>
          <a:xfrm>
            <a:off x="530352" y="2057400"/>
            <a:ext cx="5486400" cy="0"/>
          </a:xfrm>
          <a:prstGeom prst="line">
            <a:avLst/>
          </a:prstGeom>
          <a:ln w="6350">
            <a:solidFill>
              <a:srgbClr val="CBD5E1"/>
            </a:solidFill>
          </a:ln>
        </p:spPr>
      </p:cxnSp>
      <p:sp>
        <p:nvSpPr>
          <p:cNvPr id="11" name="Ref tag"/>
          <p:cNvSpPr/>
          <p:nvPr/>
        </p:nvSpPr>
        <p:spPr>
          <a:xfrm>
            <a:off x="530352" y="2139696"/>
            <a:ext cx="457200" cy="237744"/>
          </a:xfrm>
          <a:prstGeom prst="roundRect">
            <a:avLst>
              <a:gd name="adj" fmla="val 23076"/>
            </a:avLst>
          </a:prstGeom>
          <a:solidFill>
            <a:srgbClr val="F0FDF4"/>
          </a:solidFill>
          <a:ln w="9525">
            <a:solidFill>
              <a:srgbClr val="BBF7D0"/>
            </a:solidFill>
          </a:ln>
        </p:spPr>
        <p:txBody>
          <a:bodyPr rtlCol="0" anchor="ctr"/>
          <a:lstStyle/>
          <a:p>
            <a:pPr algn="ctr"/>
            <a:endParaRPr/>
          </a:p>
        </p:txBody>
      </p:sp>
      <p:sp>
        <p:nvSpPr>
          <p:cNvPr id="12" name="TextBox 11"/>
          <p:cNvSpPr txBox="1"/>
          <p:nvPr/>
        </p:nvSpPr>
        <p:spPr>
          <a:xfrm>
            <a:off x="530352" y="2139696"/>
            <a:ext cx="457200" cy="237744"/>
          </a:xfrm>
          <a:prstGeom prst="rect">
            <a:avLst/>
          </a:prstGeom>
          <a:noFill/>
        </p:spPr>
        <p:txBody>
          <a:bodyPr wrap="square" lIns="0" tIns="0" rIns="0" bIns="0" anchor="ctr">
            <a:noAutofit/>
          </a:bodyPr>
          <a:lstStyle/>
          <a:p>
            <a:pPr marL="0" indent="0" algn="ctr">
              <a:lnSpc>
                <a:spcPct val="100000"/>
              </a:lnSpc>
              <a:spcBef>
                <a:spcPts val="0"/>
              </a:spcBef>
              <a:spcAft>
                <a:spcPts val="0"/>
              </a:spcAft>
              <a:buNone/>
            </a:pPr>
            <a:r>
              <a:rPr sz="936" b="1" i="0">
                <a:solidFill>
                  <a:srgbClr val="059669"/>
                </a:solidFill>
                <a:latin typeface="DM Sans"/>
              </a:rPr>
              <a:t>[S2]</a:t>
            </a:r>
          </a:p>
        </p:txBody>
      </p:sp>
      <p:sp>
        <p:nvSpPr>
          <p:cNvPr id="13" name="TextBox 12"/>
          <p:cNvSpPr txBox="1"/>
          <p:nvPr/>
        </p:nvSpPr>
        <p:spPr>
          <a:xfrm>
            <a:off x="1097280" y="2121408"/>
            <a:ext cx="4937760" cy="1078992"/>
          </a:xfrm>
          <a:prstGeom prst="rect">
            <a:avLst/>
          </a:prstGeom>
          <a:noFill/>
        </p:spPr>
        <p:txBody>
          <a:bodyPr wrap="square" lIns="0" tIns="0" rIns="0" bIns="0" anchor="t">
            <a:noAutofit/>
          </a:bodyPr>
          <a:lstStyle/>
          <a:p>
            <a:pPr marL="0" indent="0" algn="l">
              <a:lnSpc>
                <a:spcPct val="130000"/>
              </a:lnSpc>
              <a:spcBef>
                <a:spcPts val="0"/>
              </a:spcBef>
              <a:spcAft>
                <a:spcPts val="200"/>
              </a:spcAft>
              <a:buNone/>
            </a:pPr>
            <a:r>
              <a:rPr sz="936" b="1" i="0">
                <a:solidFill>
                  <a:srgbClr val="0F172A"/>
                </a:solidFill>
                <a:latin typeface="DM Sans"/>
              </a:rPr>
              <a:t>NDRF, Mock Exercise procedure</a:t>
            </a:r>
          </a:p>
          <a:p>
            <a:pPr marL="0" indent="0" algn="l">
              <a:lnSpc>
                <a:spcPct val="130000"/>
              </a:lnSpc>
              <a:spcBef>
                <a:spcPts val="0"/>
              </a:spcBef>
              <a:spcAft>
                <a:spcPts val="200"/>
              </a:spcAft>
              <a:buNone/>
            </a:pPr>
            <a:r>
              <a:rPr sz="861" b="0" i="0">
                <a:solidFill>
                  <a:srgbClr val="334155"/>
                </a:solidFill>
                <a:latin typeface="DM Sans"/>
              </a:rPr>
              <a:t>Equipment checks, debrief and the value of photographs and video.</a:t>
            </a:r>
          </a:p>
          <a:p>
            <a:pPr marL="0" indent="0" algn="l">
              <a:lnSpc>
                <a:spcPct val="120000"/>
              </a:lnSpc>
              <a:spcBef>
                <a:spcPts val="0"/>
              </a:spcBef>
              <a:spcAft>
                <a:spcPts val="0"/>
              </a:spcAft>
              <a:buNone/>
            </a:pPr>
            <a:r>
              <a:rPr sz="800" b="0" i="0" u="sng">
                <a:solidFill>
                  <a:srgbClr val="0369A1"/>
                </a:solidFill>
                <a:latin typeface="DM Sans"/>
                <a:hlinkClick r:id="rId7"/>
              </a:rPr>
              <a:t>ndrf.gov.in/sites/default/files/MOCK EXERCISE.pdf</a:t>
            </a:r>
          </a:p>
        </p:txBody>
      </p:sp>
      <p:cxnSp>
        <p:nvCxnSpPr>
          <p:cNvPr id="14" name="Connector 13"/>
          <p:cNvCxnSpPr/>
          <p:nvPr/>
        </p:nvCxnSpPr>
        <p:spPr>
          <a:xfrm>
            <a:off x="530352" y="3218688"/>
            <a:ext cx="5486400" cy="0"/>
          </a:xfrm>
          <a:prstGeom prst="line">
            <a:avLst/>
          </a:prstGeom>
          <a:ln w="6350">
            <a:solidFill>
              <a:srgbClr val="CBD5E1"/>
            </a:solidFill>
          </a:ln>
        </p:spPr>
      </p:cxnSp>
      <p:sp>
        <p:nvSpPr>
          <p:cNvPr id="15" name="Ref tag"/>
          <p:cNvSpPr/>
          <p:nvPr/>
        </p:nvSpPr>
        <p:spPr>
          <a:xfrm>
            <a:off x="530352" y="3300984"/>
            <a:ext cx="457200" cy="237744"/>
          </a:xfrm>
          <a:prstGeom prst="roundRect">
            <a:avLst>
              <a:gd name="adj" fmla="val 23076"/>
            </a:avLst>
          </a:prstGeom>
          <a:solidFill>
            <a:srgbClr val="F0FDF4"/>
          </a:solidFill>
          <a:ln w="9525">
            <a:solidFill>
              <a:srgbClr val="BBF7D0"/>
            </a:solidFill>
          </a:ln>
        </p:spPr>
        <p:txBody>
          <a:bodyPr rtlCol="0" anchor="ctr"/>
          <a:lstStyle/>
          <a:p>
            <a:pPr algn="ctr"/>
            <a:endParaRPr/>
          </a:p>
        </p:txBody>
      </p:sp>
      <p:sp>
        <p:nvSpPr>
          <p:cNvPr id="16" name="TextBox 15"/>
          <p:cNvSpPr txBox="1"/>
          <p:nvPr/>
        </p:nvSpPr>
        <p:spPr>
          <a:xfrm>
            <a:off x="530352" y="3300984"/>
            <a:ext cx="457200" cy="237744"/>
          </a:xfrm>
          <a:prstGeom prst="rect">
            <a:avLst/>
          </a:prstGeom>
          <a:noFill/>
        </p:spPr>
        <p:txBody>
          <a:bodyPr wrap="square" lIns="0" tIns="0" rIns="0" bIns="0" anchor="ctr">
            <a:noAutofit/>
          </a:bodyPr>
          <a:lstStyle/>
          <a:p>
            <a:pPr marL="0" indent="0" algn="ctr">
              <a:lnSpc>
                <a:spcPct val="100000"/>
              </a:lnSpc>
              <a:spcBef>
                <a:spcPts val="0"/>
              </a:spcBef>
              <a:spcAft>
                <a:spcPts val="0"/>
              </a:spcAft>
              <a:buNone/>
            </a:pPr>
            <a:r>
              <a:rPr sz="936" b="1" i="0">
                <a:solidFill>
                  <a:srgbClr val="059669"/>
                </a:solidFill>
                <a:latin typeface="DM Sans"/>
              </a:rPr>
              <a:t>[S3]</a:t>
            </a:r>
          </a:p>
        </p:txBody>
      </p:sp>
      <p:sp>
        <p:nvSpPr>
          <p:cNvPr id="17" name="TextBox 16"/>
          <p:cNvSpPr txBox="1"/>
          <p:nvPr/>
        </p:nvSpPr>
        <p:spPr>
          <a:xfrm>
            <a:off x="1097280" y="3282696"/>
            <a:ext cx="4937760" cy="1078992"/>
          </a:xfrm>
          <a:prstGeom prst="rect">
            <a:avLst/>
          </a:prstGeom>
          <a:noFill/>
        </p:spPr>
        <p:txBody>
          <a:bodyPr wrap="square" lIns="0" tIns="0" rIns="0" bIns="0" anchor="t">
            <a:noAutofit/>
          </a:bodyPr>
          <a:lstStyle/>
          <a:p>
            <a:pPr marL="0" indent="0" algn="l">
              <a:lnSpc>
                <a:spcPct val="130000"/>
              </a:lnSpc>
              <a:spcBef>
                <a:spcPts val="0"/>
              </a:spcBef>
              <a:spcAft>
                <a:spcPts val="200"/>
              </a:spcAft>
              <a:buNone/>
            </a:pPr>
            <a:r>
              <a:rPr sz="936" b="1" i="0">
                <a:solidFill>
                  <a:srgbClr val="0F172A"/>
                </a:solidFill>
                <a:latin typeface="DM Sans"/>
              </a:rPr>
              <a:t>WHO, 2018 review of 17 simulation exercise reports</a:t>
            </a:r>
          </a:p>
          <a:p>
            <a:pPr marL="0" indent="0" algn="l">
              <a:lnSpc>
                <a:spcPct val="130000"/>
              </a:lnSpc>
              <a:spcBef>
                <a:spcPts val="0"/>
              </a:spcBef>
              <a:spcAft>
                <a:spcPts val="200"/>
              </a:spcAft>
              <a:buNone/>
            </a:pPr>
            <a:r>
              <a:rPr sz="861" b="0" i="0">
                <a:solidFill>
                  <a:srgbClr val="334155"/>
                </a:solidFill>
                <a:latin typeface="DM Sans"/>
              </a:rPr>
              <a:t>4/17 unfamiliar with procedures; 4/17 coordination difficulty. Mostly tabletop or public-health cases outside India; context only.</a:t>
            </a:r>
          </a:p>
          <a:p>
            <a:pPr marL="0" indent="0" algn="l">
              <a:lnSpc>
                <a:spcPct val="120000"/>
              </a:lnSpc>
              <a:spcBef>
                <a:spcPts val="0"/>
              </a:spcBef>
              <a:spcAft>
                <a:spcPts val="0"/>
              </a:spcAft>
              <a:buNone/>
            </a:pPr>
            <a:r>
              <a:rPr sz="800" b="0" i="0" u="sng">
                <a:solidFill>
                  <a:srgbClr val="0369A1"/>
                </a:solidFill>
                <a:latin typeface="DM Sans"/>
                <a:hlinkClick r:id="rId8"/>
              </a:rPr>
              <a:t>who.int/news-room/articles-detail/after-action-reviews-and-simulations-exercises-within-the-monitoring-and-evaluation-framework-for-the-international-health-regulations-(2005)-main-trends-in-2018</a:t>
            </a:r>
          </a:p>
        </p:txBody>
      </p:sp>
      <p:cxnSp>
        <p:nvCxnSpPr>
          <p:cNvPr id="18" name="Connector 17"/>
          <p:cNvCxnSpPr/>
          <p:nvPr/>
        </p:nvCxnSpPr>
        <p:spPr>
          <a:xfrm>
            <a:off x="530352" y="4379976"/>
            <a:ext cx="5486400" cy="0"/>
          </a:xfrm>
          <a:prstGeom prst="line">
            <a:avLst/>
          </a:prstGeom>
          <a:ln w="6350">
            <a:solidFill>
              <a:srgbClr val="CBD5E1"/>
            </a:solidFill>
          </a:ln>
        </p:spPr>
      </p:cxnSp>
      <p:sp>
        <p:nvSpPr>
          <p:cNvPr id="19" name="Ref tag"/>
          <p:cNvSpPr/>
          <p:nvPr/>
        </p:nvSpPr>
        <p:spPr>
          <a:xfrm>
            <a:off x="530352" y="4462272"/>
            <a:ext cx="457200" cy="237744"/>
          </a:xfrm>
          <a:prstGeom prst="roundRect">
            <a:avLst>
              <a:gd name="adj" fmla="val 23076"/>
            </a:avLst>
          </a:prstGeom>
          <a:solidFill>
            <a:srgbClr val="F0FDF4"/>
          </a:solidFill>
          <a:ln w="9525">
            <a:solidFill>
              <a:srgbClr val="BBF7D0"/>
            </a:solidFill>
          </a:ln>
        </p:spPr>
        <p:txBody>
          <a:bodyPr rtlCol="0" anchor="ctr"/>
          <a:lstStyle/>
          <a:p>
            <a:pPr algn="ctr"/>
            <a:endParaRPr/>
          </a:p>
        </p:txBody>
      </p:sp>
      <p:sp>
        <p:nvSpPr>
          <p:cNvPr id="20" name="TextBox 19"/>
          <p:cNvSpPr txBox="1"/>
          <p:nvPr/>
        </p:nvSpPr>
        <p:spPr>
          <a:xfrm>
            <a:off x="530352" y="4462272"/>
            <a:ext cx="457200" cy="237744"/>
          </a:xfrm>
          <a:prstGeom prst="rect">
            <a:avLst/>
          </a:prstGeom>
          <a:noFill/>
        </p:spPr>
        <p:txBody>
          <a:bodyPr wrap="square" lIns="0" tIns="0" rIns="0" bIns="0" anchor="ctr">
            <a:noAutofit/>
          </a:bodyPr>
          <a:lstStyle/>
          <a:p>
            <a:pPr marL="0" indent="0" algn="ctr">
              <a:lnSpc>
                <a:spcPct val="100000"/>
              </a:lnSpc>
              <a:spcBef>
                <a:spcPts val="0"/>
              </a:spcBef>
              <a:spcAft>
                <a:spcPts val="0"/>
              </a:spcAft>
              <a:buNone/>
            </a:pPr>
            <a:r>
              <a:rPr sz="936" b="1" i="0">
                <a:solidFill>
                  <a:srgbClr val="059669"/>
                </a:solidFill>
                <a:latin typeface="DM Sans"/>
              </a:rPr>
              <a:t>[S4]</a:t>
            </a:r>
          </a:p>
        </p:txBody>
      </p:sp>
      <p:sp>
        <p:nvSpPr>
          <p:cNvPr id="21" name="TextBox 20"/>
          <p:cNvSpPr txBox="1"/>
          <p:nvPr/>
        </p:nvSpPr>
        <p:spPr>
          <a:xfrm>
            <a:off x="1097280" y="4443984"/>
            <a:ext cx="4937760" cy="1078992"/>
          </a:xfrm>
          <a:prstGeom prst="rect">
            <a:avLst/>
          </a:prstGeom>
          <a:noFill/>
        </p:spPr>
        <p:txBody>
          <a:bodyPr wrap="square" lIns="0" tIns="0" rIns="0" bIns="0" anchor="t">
            <a:noAutofit/>
          </a:bodyPr>
          <a:lstStyle/>
          <a:p>
            <a:pPr marL="0" indent="0" algn="l">
              <a:lnSpc>
                <a:spcPct val="130000"/>
              </a:lnSpc>
              <a:spcBef>
                <a:spcPts val="0"/>
              </a:spcBef>
              <a:spcAft>
                <a:spcPts val="200"/>
              </a:spcAft>
              <a:buNone/>
            </a:pPr>
            <a:r>
              <a:rPr sz="936" b="1" i="0">
                <a:solidFill>
                  <a:srgbClr val="0F172A"/>
                </a:solidFill>
                <a:latin typeface="DM Sans"/>
              </a:rPr>
              <a:t>Vishwakarma Awards 2026-27 official site</a:t>
            </a:r>
          </a:p>
          <a:p>
            <a:pPr marL="0" indent="0" algn="l">
              <a:lnSpc>
                <a:spcPct val="130000"/>
              </a:lnSpc>
              <a:spcBef>
                <a:spcPts val="0"/>
              </a:spcBef>
              <a:spcAft>
                <a:spcPts val="200"/>
              </a:spcAft>
              <a:buNone/>
            </a:pPr>
            <a:r>
              <a:rPr sz="861" b="0" i="0">
                <a:solidFill>
                  <a:srgbClr val="334155"/>
                </a:solidFill>
                <a:latin typeface="DM Sans"/>
              </a:rPr>
              <a:t>Stage 2 design specification; prototype video belongs to Stage 3; judging criteria.</a:t>
            </a:r>
          </a:p>
          <a:p>
            <a:pPr marL="0" indent="0" algn="l">
              <a:lnSpc>
                <a:spcPct val="120000"/>
              </a:lnSpc>
              <a:spcBef>
                <a:spcPts val="0"/>
              </a:spcBef>
              <a:spcAft>
                <a:spcPts val="0"/>
              </a:spcAft>
              <a:buNone/>
            </a:pPr>
            <a:r>
              <a:rPr sz="800" b="0" i="0" u="sng">
                <a:solidFill>
                  <a:srgbClr val="0369A1"/>
                </a:solidFill>
                <a:latin typeface="DM Sans"/>
                <a:hlinkClick r:id="rId9"/>
              </a:rPr>
              <a:t>vishwakarma-awards.org</a:t>
            </a:r>
          </a:p>
        </p:txBody>
      </p:sp>
      <p:sp>
        <p:nvSpPr>
          <p:cNvPr id="22" name="Ref tag"/>
          <p:cNvSpPr/>
          <p:nvPr/>
        </p:nvSpPr>
        <p:spPr>
          <a:xfrm>
            <a:off x="6227064" y="978408"/>
            <a:ext cx="457200" cy="237744"/>
          </a:xfrm>
          <a:prstGeom prst="roundRect">
            <a:avLst>
              <a:gd name="adj" fmla="val 23076"/>
            </a:avLst>
          </a:prstGeom>
          <a:solidFill>
            <a:srgbClr val="F0FDF4"/>
          </a:solidFill>
          <a:ln w="9525">
            <a:solidFill>
              <a:srgbClr val="BBF7D0"/>
            </a:solidFill>
          </a:ln>
        </p:spPr>
        <p:txBody>
          <a:bodyPr rtlCol="0" anchor="ctr"/>
          <a:lstStyle/>
          <a:p>
            <a:pPr algn="ctr"/>
            <a:endParaRPr/>
          </a:p>
        </p:txBody>
      </p:sp>
      <p:sp>
        <p:nvSpPr>
          <p:cNvPr id="23" name="TextBox 22"/>
          <p:cNvSpPr txBox="1"/>
          <p:nvPr/>
        </p:nvSpPr>
        <p:spPr>
          <a:xfrm>
            <a:off x="6227064" y="978408"/>
            <a:ext cx="457200" cy="237744"/>
          </a:xfrm>
          <a:prstGeom prst="rect">
            <a:avLst/>
          </a:prstGeom>
          <a:noFill/>
        </p:spPr>
        <p:txBody>
          <a:bodyPr wrap="square" lIns="0" tIns="0" rIns="0" bIns="0" anchor="ctr">
            <a:noAutofit/>
          </a:bodyPr>
          <a:lstStyle/>
          <a:p>
            <a:pPr marL="0" indent="0" algn="ctr">
              <a:lnSpc>
                <a:spcPct val="100000"/>
              </a:lnSpc>
              <a:spcBef>
                <a:spcPts val="0"/>
              </a:spcBef>
              <a:spcAft>
                <a:spcPts val="0"/>
              </a:spcAft>
              <a:buNone/>
            </a:pPr>
            <a:r>
              <a:rPr sz="936" b="1" i="0">
                <a:solidFill>
                  <a:srgbClr val="059669"/>
                </a:solidFill>
                <a:latin typeface="DM Sans"/>
              </a:rPr>
              <a:t>[S5]</a:t>
            </a:r>
          </a:p>
        </p:txBody>
      </p:sp>
      <p:sp>
        <p:nvSpPr>
          <p:cNvPr id="24" name="TextBox 23"/>
          <p:cNvSpPr txBox="1"/>
          <p:nvPr/>
        </p:nvSpPr>
        <p:spPr>
          <a:xfrm>
            <a:off x="6793992" y="960120"/>
            <a:ext cx="4937760" cy="1078992"/>
          </a:xfrm>
          <a:prstGeom prst="rect">
            <a:avLst/>
          </a:prstGeom>
          <a:noFill/>
        </p:spPr>
        <p:txBody>
          <a:bodyPr wrap="square" lIns="0" tIns="0" rIns="0" bIns="0" anchor="t">
            <a:noAutofit/>
          </a:bodyPr>
          <a:lstStyle/>
          <a:p>
            <a:pPr marL="0" indent="0" algn="l">
              <a:lnSpc>
                <a:spcPct val="130000"/>
              </a:lnSpc>
              <a:spcBef>
                <a:spcPts val="0"/>
              </a:spcBef>
              <a:spcAft>
                <a:spcPts val="200"/>
              </a:spcAft>
              <a:buNone/>
            </a:pPr>
            <a:r>
              <a:rPr sz="936" b="1" i="0">
                <a:solidFill>
                  <a:srgbClr val="0F172A"/>
                </a:solidFill>
                <a:latin typeface="DM Sans"/>
              </a:rPr>
              <a:t>Pupil Labs, open-source eye tracking and developer API</a:t>
            </a:r>
          </a:p>
          <a:p>
            <a:pPr marL="0" indent="0" algn="l">
              <a:lnSpc>
                <a:spcPct val="130000"/>
              </a:lnSpc>
              <a:spcBef>
                <a:spcPts val="0"/>
              </a:spcBef>
              <a:spcAft>
                <a:spcPts val="200"/>
              </a:spcAft>
              <a:buNone/>
            </a:pPr>
            <a:r>
              <a:rPr sz="861" b="0" i="0">
                <a:solidFill>
                  <a:srgbClr val="334155"/>
                </a:solidFill>
                <a:latin typeface="DM Sans"/>
              </a:rPr>
              <a:t>Software availability does not make the hardware open or compatible with our frame. Check component licences before reuse.</a:t>
            </a:r>
          </a:p>
          <a:p>
            <a:pPr marL="0" indent="0" algn="l">
              <a:lnSpc>
                <a:spcPct val="120000"/>
              </a:lnSpc>
              <a:spcBef>
                <a:spcPts val="0"/>
              </a:spcBef>
              <a:spcAft>
                <a:spcPts val="0"/>
              </a:spcAft>
              <a:buNone/>
            </a:pPr>
            <a:r>
              <a:rPr sz="800" b="0" i="0" u="sng">
                <a:solidFill>
                  <a:srgbClr val="0369A1"/>
                </a:solidFill>
                <a:latin typeface="DM Sans"/>
                <a:hlinkClick r:id="rId10"/>
              </a:rPr>
              <a:t>github.com/pupil-labs/pupil  and  docs.pupil-labs.com/neon/open-source-libs/</a:t>
            </a:r>
          </a:p>
        </p:txBody>
      </p:sp>
      <p:cxnSp>
        <p:nvCxnSpPr>
          <p:cNvPr id="25" name="Connector 24"/>
          <p:cNvCxnSpPr/>
          <p:nvPr/>
        </p:nvCxnSpPr>
        <p:spPr>
          <a:xfrm>
            <a:off x="6227064" y="2057400"/>
            <a:ext cx="5486400" cy="0"/>
          </a:xfrm>
          <a:prstGeom prst="line">
            <a:avLst/>
          </a:prstGeom>
          <a:ln w="6350">
            <a:solidFill>
              <a:srgbClr val="CBD5E1"/>
            </a:solidFill>
          </a:ln>
        </p:spPr>
      </p:cxnSp>
      <p:sp>
        <p:nvSpPr>
          <p:cNvPr id="26" name="Ref tag"/>
          <p:cNvSpPr/>
          <p:nvPr/>
        </p:nvSpPr>
        <p:spPr>
          <a:xfrm>
            <a:off x="6227064" y="2139696"/>
            <a:ext cx="457200" cy="237744"/>
          </a:xfrm>
          <a:prstGeom prst="roundRect">
            <a:avLst>
              <a:gd name="adj" fmla="val 23076"/>
            </a:avLst>
          </a:prstGeom>
          <a:solidFill>
            <a:srgbClr val="F0FDF4"/>
          </a:solidFill>
          <a:ln w="9525">
            <a:solidFill>
              <a:srgbClr val="BBF7D0"/>
            </a:solidFill>
          </a:ln>
        </p:spPr>
        <p:txBody>
          <a:bodyPr rtlCol="0" anchor="ctr"/>
          <a:lstStyle/>
          <a:p>
            <a:pPr algn="ctr"/>
            <a:endParaRPr/>
          </a:p>
        </p:txBody>
      </p:sp>
      <p:sp>
        <p:nvSpPr>
          <p:cNvPr id="27" name="TextBox 26"/>
          <p:cNvSpPr txBox="1"/>
          <p:nvPr/>
        </p:nvSpPr>
        <p:spPr>
          <a:xfrm>
            <a:off x="6227064" y="2139696"/>
            <a:ext cx="457200" cy="237744"/>
          </a:xfrm>
          <a:prstGeom prst="rect">
            <a:avLst/>
          </a:prstGeom>
          <a:noFill/>
        </p:spPr>
        <p:txBody>
          <a:bodyPr wrap="square" lIns="0" tIns="0" rIns="0" bIns="0" anchor="ctr">
            <a:noAutofit/>
          </a:bodyPr>
          <a:lstStyle/>
          <a:p>
            <a:pPr marL="0" indent="0" algn="ctr">
              <a:lnSpc>
                <a:spcPct val="100000"/>
              </a:lnSpc>
              <a:spcBef>
                <a:spcPts val="0"/>
              </a:spcBef>
              <a:spcAft>
                <a:spcPts val="0"/>
              </a:spcAft>
              <a:buNone/>
            </a:pPr>
            <a:r>
              <a:rPr sz="936" b="1" i="0">
                <a:solidFill>
                  <a:srgbClr val="059669"/>
                </a:solidFill>
                <a:latin typeface="DM Sans"/>
              </a:rPr>
              <a:t>[S6]</a:t>
            </a:r>
          </a:p>
        </p:txBody>
      </p:sp>
      <p:sp>
        <p:nvSpPr>
          <p:cNvPr id="28" name="TextBox 27"/>
          <p:cNvSpPr txBox="1"/>
          <p:nvPr/>
        </p:nvSpPr>
        <p:spPr>
          <a:xfrm>
            <a:off x="6793992" y="2121408"/>
            <a:ext cx="4937760" cy="1078992"/>
          </a:xfrm>
          <a:prstGeom prst="rect">
            <a:avLst/>
          </a:prstGeom>
          <a:noFill/>
        </p:spPr>
        <p:txBody>
          <a:bodyPr wrap="square" lIns="0" tIns="0" rIns="0" bIns="0" anchor="t">
            <a:noAutofit/>
          </a:bodyPr>
          <a:lstStyle/>
          <a:p>
            <a:pPr marL="0" indent="0" algn="l">
              <a:lnSpc>
                <a:spcPct val="130000"/>
              </a:lnSpc>
              <a:spcBef>
                <a:spcPts val="0"/>
              </a:spcBef>
              <a:spcAft>
                <a:spcPts val="200"/>
              </a:spcAft>
              <a:buNone/>
            </a:pPr>
            <a:r>
              <a:rPr sz="936" b="1" i="0">
                <a:solidFill>
                  <a:srgbClr val="0F172A"/>
                </a:solidFill>
                <a:latin typeface="DM Sans"/>
              </a:rPr>
              <a:t>Konrad et al., GazeGPT (2024)</a:t>
            </a:r>
          </a:p>
          <a:p>
            <a:pPr marL="0" indent="0" algn="l">
              <a:lnSpc>
                <a:spcPct val="130000"/>
              </a:lnSpc>
              <a:spcBef>
                <a:spcPts val="0"/>
              </a:spcBef>
              <a:spcAft>
                <a:spcPts val="200"/>
              </a:spcAft>
              <a:buNone/>
            </a:pPr>
            <a:r>
              <a:rPr sz="861" b="0" i="0">
                <a:solidFill>
                  <a:srgbClr val="334155"/>
                </a:solidFill>
                <a:latin typeface="DM Sans"/>
              </a:rPr>
              <a:t>Gaze-directed contextual queries; a research baseline for selection, not a responder training workflow.</a:t>
            </a:r>
          </a:p>
          <a:p>
            <a:pPr marL="0" indent="0" algn="l">
              <a:lnSpc>
                <a:spcPct val="120000"/>
              </a:lnSpc>
              <a:spcBef>
                <a:spcPts val="0"/>
              </a:spcBef>
              <a:spcAft>
                <a:spcPts val="0"/>
              </a:spcAft>
              <a:buNone/>
            </a:pPr>
            <a:r>
              <a:rPr sz="800" b="0" i="0" u="sng">
                <a:solidFill>
                  <a:srgbClr val="0369A1"/>
                </a:solidFill>
                <a:latin typeface="DM Sans"/>
                <a:hlinkClick r:id="rId11"/>
              </a:rPr>
              <a:t>computationalimaging.org/publications/gazegpt-2024/</a:t>
            </a:r>
          </a:p>
        </p:txBody>
      </p:sp>
      <p:cxnSp>
        <p:nvCxnSpPr>
          <p:cNvPr id="29" name="Connector 28"/>
          <p:cNvCxnSpPr/>
          <p:nvPr/>
        </p:nvCxnSpPr>
        <p:spPr>
          <a:xfrm>
            <a:off x="6227064" y="3218688"/>
            <a:ext cx="5486400" cy="0"/>
          </a:xfrm>
          <a:prstGeom prst="line">
            <a:avLst/>
          </a:prstGeom>
          <a:ln w="6350">
            <a:solidFill>
              <a:srgbClr val="CBD5E1"/>
            </a:solidFill>
          </a:ln>
        </p:spPr>
      </p:cxnSp>
      <p:sp>
        <p:nvSpPr>
          <p:cNvPr id="30" name="Ref tag"/>
          <p:cNvSpPr/>
          <p:nvPr/>
        </p:nvSpPr>
        <p:spPr>
          <a:xfrm>
            <a:off x="6227064" y="3300984"/>
            <a:ext cx="457200" cy="237744"/>
          </a:xfrm>
          <a:prstGeom prst="roundRect">
            <a:avLst>
              <a:gd name="adj" fmla="val 23076"/>
            </a:avLst>
          </a:prstGeom>
          <a:solidFill>
            <a:srgbClr val="F0FDF4"/>
          </a:solidFill>
          <a:ln w="9525">
            <a:solidFill>
              <a:srgbClr val="BBF7D0"/>
            </a:solidFill>
          </a:ln>
        </p:spPr>
        <p:txBody>
          <a:bodyPr rtlCol="0" anchor="ctr"/>
          <a:lstStyle/>
          <a:p>
            <a:pPr algn="ctr"/>
            <a:endParaRPr/>
          </a:p>
        </p:txBody>
      </p:sp>
      <p:sp>
        <p:nvSpPr>
          <p:cNvPr id="31" name="TextBox 30"/>
          <p:cNvSpPr txBox="1"/>
          <p:nvPr/>
        </p:nvSpPr>
        <p:spPr>
          <a:xfrm>
            <a:off x="6227064" y="3300984"/>
            <a:ext cx="457200" cy="237744"/>
          </a:xfrm>
          <a:prstGeom prst="rect">
            <a:avLst/>
          </a:prstGeom>
          <a:noFill/>
        </p:spPr>
        <p:txBody>
          <a:bodyPr wrap="square" lIns="0" tIns="0" rIns="0" bIns="0" anchor="ctr">
            <a:noAutofit/>
          </a:bodyPr>
          <a:lstStyle/>
          <a:p>
            <a:pPr marL="0" indent="0" algn="ctr">
              <a:lnSpc>
                <a:spcPct val="100000"/>
              </a:lnSpc>
              <a:spcBef>
                <a:spcPts val="0"/>
              </a:spcBef>
              <a:spcAft>
                <a:spcPts val="0"/>
              </a:spcAft>
              <a:buNone/>
            </a:pPr>
            <a:r>
              <a:rPr sz="936" b="1" i="0">
                <a:solidFill>
                  <a:srgbClr val="059669"/>
                </a:solidFill>
                <a:latin typeface="DM Sans"/>
              </a:rPr>
              <a:t>[S7]</a:t>
            </a:r>
          </a:p>
        </p:txBody>
      </p:sp>
      <p:sp>
        <p:nvSpPr>
          <p:cNvPr id="32" name="TextBox 31"/>
          <p:cNvSpPr txBox="1"/>
          <p:nvPr/>
        </p:nvSpPr>
        <p:spPr>
          <a:xfrm>
            <a:off x="6793992" y="3282696"/>
            <a:ext cx="4937760" cy="1078992"/>
          </a:xfrm>
          <a:prstGeom prst="rect">
            <a:avLst/>
          </a:prstGeom>
          <a:noFill/>
        </p:spPr>
        <p:txBody>
          <a:bodyPr wrap="square" lIns="0" tIns="0" rIns="0" bIns="0" anchor="t">
            <a:noAutofit/>
          </a:bodyPr>
          <a:lstStyle/>
          <a:p>
            <a:pPr marL="0" indent="0" algn="l">
              <a:lnSpc>
                <a:spcPct val="130000"/>
              </a:lnSpc>
              <a:spcBef>
                <a:spcPts val="0"/>
              </a:spcBef>
              <a:spcAft>
                <a:spcPts val="200"/>
              </a:spcAft>
              <a:buNone/>
            </a:pPr>
            <a:r>
              <a:rPr sz="936" b="1" i="0">
                <a:solidFill>
                  <a:srgbClr val="0F172A"/>
                </a:solidFill>
                <a:latin typeface="DM Sans"/>
              </a:rPr>
              <a:t>Laerdal SimCapture</a:t>
            </a:r>
          </a:p>
          <a:p>
            <a:pPr marL="0" indent="0" algn="l">
              <a:lnSpc>
                <a:spcPct val="130000"/>
              </a:lnSpc>
              <a:spcBef>
                <a:spcPts val="0"/>
              </a:spcBef>
              <a:spcAft>
                <a:spcPts val="200"/>
              </a:spcAft>
              <a:buNone/>
            </a:pPr>
            <a:r>
              <a:rPr sz="861" b="0" i="0">
                <a:solidFill>
                  <a:srgbClr val="334155"/>
                </a:solidFill>
                <a:latin typeface="DM Sans"/>
              </a:rPr>
              <a:t>Commercial recording and debriefing prior art; video debrief is not claimed as new.</a:t>
            </a:r>
          </a:p>
          <a:p>
            <a:pPr marL="0" indent="0" algn="l">
              <a:lnSpc>
                <a:spcPct val="120000"/>
              </a:lnSpc>
              <a:spcBef>
                <a:spcPts val="0"/>
              </a:spcBef>
              <a:spcAft>
                <a:spcPts val="0"/>
              </a:spcAft>
              <a:buNone/>
            </a:pPr>
            <a:r>
              <a:rPr sz="800" b="0" i="0" u="sng">
                <a:solidFill>
                  <a:srgbClr val="0369A1"/>
                </a:solidFill>
                <a:latin typeface="DM Sans"/>
                <a:hlinkClick r:id="rId12"/>
              </a:rPr>
              <a:t>laerdal.com/in/services-and-programs/educational-services/getting-started-with-simcapture/</a:t>
            </a:r>
          </a:p>
        </p:txBody>
      </p:sp>
      <p:cxnSp>
        <p:nvCxnSpPr>
          <p:cNvPr id="33" name="Connector 32"/>
          <p:cNvCxnSpPr/>
          <p:nvPr/>
        </p:nvCxnSpPr>
        <p:spPr>
          <a:xfrm>
            <a:off x="6227064" y="4379976"/>
            <a:ext cx="5486400" cy="0"/>
          </a:xfrm>
          <a:prstGeom prst="line">
            <a:avLst/>
          </a:prstGeom>
          <a:ln w="6350">
            <a:solidFill>
              <a:srgbClr val="CBD5E1"/>
            </a:solidFill>
          </a:ln>
        </p:spPr>
      </p:cxnSp>
      <p:sp>
        <p:nvSpPr>
          <p:cNvPr id="34" name="Ref tag"/>
          <p:cNvSpPr/>
          <p:nvPr/>
        </p:nvSpPr>
        <p:spPr>
          <a:xfrm>
            <a:off x="6227064" y="4462272"/>
            <a:ext cx="457200" cy="237744"/>
          </a:xfrm>
          <a:prstGeom prst="roundRect">
            <a:avLst>
              <a:gd name="adj" fmla="val 23076"/>
            </a:avLst>
          </a:prstGeom>
          <a:solidFill>
            <a:srgbClr val="F0FDF4"/>
          </a:solidFill>
          <a:ln w="9525">
            <a:solidFill>
              <a:srgbClr val="BBF7D0"/>
            </a:solidFill>
          </a:ln>
        </p:spPr>
        <p:txBody>
          <a:bodyPr rtlCol="0" anchor="ctr"/>
          <a:lstStyle/>
          <a:p>
            <a:pPr algn="ctr"/>
            <a:endParaRPr/>
          </a:p>
        </p:txBody>
      </p:sp>
      <p:sp>
        <p:nvSpPr>
          <p:cNvPr id="35" name="TextBox 34"/>
          <p:cNvSpPr txBox="1"/>
          <p:nvPr/>
        </p:nvSpPr>
        <p:spPr>
          <a:xfrm>
            <a:off x="6227064" y="4462272"/>
            <a:ext cx="457200" cy="237744"/>
          </a:xfrm>
          <a:prstGeom prst="rect">
            <a:avLst/>
          </a:prstGeom>
          <a:noFill/>
        </p:spPr>
        <p:txBody>
          <a:bodyPr wrap="square" lIns="0" tIns="0" rIns="0" bIns="0" anchor="ctr">
            <a:noAutofit/>
          </a:bodyPr>
          <a:lstStyle/>
          <a:p>
            <a:pPr marL="0" indent="0" algn="ctr">
              <a:lnSpc>
                <a:spcPct val="100000"/>
              </a:lnSpc>
              <a:spcBef>
                <a:spcPts val="0"/>
              </a:spcBef>
              <a:spcAft>
                <a:spcPts val="0"/>
              </a:spcAft>
              <a:buNone/>
            </a:pPr>
            <a:r>
              <a:rPr sz="936" b="1" i="0">
                <a:solidFill>
                  <a:srgbClr val="059669"/>
                </a:solidFill>
                <a:latin typeface="DM Sans"/>
              </a:rPr>
              <a:t>[S8]</a:t>
            </a:r>
          </a:p>
        </p:txBody>
      </p:sp>
      <p:sp>
        <p:nvSpPr>
          <p:cNvPr id="36" name="TextBox 35"/>
          <p:cNvSpPr txBox="1"/>
          <p:nvPr/>
        </p:nvSpPr>
        <p:spPr>
          <a:xfrm>
            <a:off x="6793992" y="4443984"/>
            <a:ext cx="4937760" cy="1078992"/>
          </a:xfrm>
          <a:prstGeom prst="rect">
            <a:avLst/>
          </a:prstGeom>
          <a:noFill/>
        </p:spPr>
        <p:txBody>
          <a:bodyPr wrap="square" lIns="0" tIns="0" rIns="0" bIns="0" anchor="t">
            <a:noAutofit/>
          </a:bodyPr>
          <a:lstStyle/>
          <a:p>
            <a:pPr marL="0" indent="0" algn="l">
              <a:lnSpc>
                <a:spcPct val="130000"/>
              </a:lnSpc>
              <a:spcBef>
                <a:spcPts val="0"/>
              </a:spcBef>
              <a:spcAft>
                <a:spcPts val="200"/>
              </a:spcAft>
              <a:buNone/>
            </a:pPr>
            <a:r>
              <a:rPr sz="936" b="1" i="0">
                <a:solidFill>
                  <a:srgbClr val="0F172A"/>
                </a:solidFill>
                <a:latin typeface="DM Sans"/>
              </a:rPr>
              <a:t>MEYELens, 3D-printable wearable gaze-tracking hardware (CERN-OHL-P-2.0)</a:t>
            </a:r>
          </a:p>
          <a:p>
            <a:pPr marL="0" indent="0" algn="l">
              <a:lnSpc>
                <a:spcPct val="130000"/>
              </a:lnSpc>
              <a:spcBef>
                <a:spcPts val="0"/>
              </a:spcBef>
              <a:spcAft>
                <a:spcPts val="200"/>
              </a:spcAft>
              <a:buNone/>
            </a:pPr>
            <a:r>
              <a:rPr sz="861" b="0" i="0">
                <a:solidFill>
                  <a:srgbClr val="334155"/>
                </a:solidFill>
                <a:latin typeface="DM Sans"/>
              </a:rPr>
              <a:t>Reference frame, STL/3MF and exploded view; adaptation required for GIG scene camera, control and display.</a:t>
            </a:r>
          </a:p>
          <a:p>
            <a:pPr marL="0" indent="0" algn="l">
              <a:lnSpc>
                <a:spcPct val="120000"/>
              </a:lnSpc>
              <a:spcBef>
                <a:spcPts val="0"/>
              </a:spcBef>
              <a:spcAft>
                <a:spcPts val="0"/>
              </a:spcAft>
              <a:buNone/>
            </a:pPr>
            <a:r>
              <a:rPr sz="800" b="0" i="0" u="sng">
                <a:solidFill>
                  <a:srgbClr val="0369A1"/>
                </a:solidFill>
                <a:latin typeface="DM Sans"/>
                <a:hlinkClick r:id="rId13"/>
              </a:rPr>
              <a:t>github.com/raffaelemazziotti/MEYElens</a:t>
            </a:r>
          </a:p>
        </p:txBody>
      </p:sp>
      <p:pic>
        <p:nvPicPr>
          <p:cNvPr id="37" name="Note bar" descr="image.png"/>
          <p:cNvPicPr>
            <a:picLocks noChangeAspect="1"/>
          </p:cNvPicPr>
          <p:nvPr/>
        </p:nvPicPr>
        <p:blipFill>
          <a:blip r:embed="rId14"/>
          <a:stretch>
            <a:fillRect/>
          </a:stretch>
        </p:blipFill>
        <p:spPr>
          <a:xfrm>
            <a:off x="530352" y="5715000"/>
            <a:ext cx="11128248" cy="365760"/>
          </a:xfrm>
          <a:prstGeom prst="rect">
            <a:avLst/>
          </a:prstGeom>
        </p:spPr>
      </p:pic>
      <p:sp>
        <p:nvSpPr>
          <p:cNvPr id="38" name="Note text"/>
          <p:cNvSpPr txBox="1"/>
          <p:nvPr/>
        </p:nvSpPr>
        <p:spPr>
          <a:xfrm>
            <a:off x="722376" y="5797296"/>
            <a:ext cx="10789920" cy="274320"/>
          </a:xfrm>
          <a:prstGeom prst="rect">
            <a:avLst/>
          </a:prstGeom>
          <a:noFill/>
        </p:spPr>
        <p:txBody>
          <a:bodyPr wrap="square" lIns="0" tIns="0" rIns="0" bIns="0" anchor="t">
            <a:noAutofit/>
          </a:bodyPr>
          <a:lstStyle/>
          <a:p>
            <a:pPr marL="0" indent="0" algn="l">
              <a:lnSpc>
                <a:spcPct val="145000"/>
              </a:lnSpc>
              <a:spcBef>
                <a:spcPts val="0"/>
              </a:spcBef>
              <a:spcAft>
                <a:spcPts val="0"/>
              </a:spcAft>
              <a:buNone/>
            </a:pPr>
            <a:r>
              <a:rPr sz="936" b="1" i="0">
                <a:solidFill>
                  <a:srgbClr val="0F172A"/>
                </a:solidFill>
                <a:latin typeface="DM Sans"/>
              </a:rPr>
              <a:t>Design targets and concept visuals are not measured GIG results. No NDRF affiliation or partner access is claimed.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3"/>
          <a:stretch>
            <a:fillRect/>
          </a:stretch>
        </p:blipFill>
        <p:spPr>
          <a:xfrm>
            <a:off x="0" y="0"/>
            <a:ext cx="12191695" cy="6858000"/>
          </a:xfrm>
          <a:prstGeom prst="rect">
            <a:avLst/>
          </a:prstGeom>
        </p:spPr>
      </p:pic>
      <p:pic>
        <p:nvPicPr>
          <p:cNvPr id="3" name="Logo Vishwakarma" descr="image.png"/>
          <p:cNvPicPr>
            <a:picLocks noChangeAspect="1"/>
          </p:cNvPicPr>
          <p:nvPr/>
        </p:nvPicPr>
        <p:blipFill>
          <a:blip r:embed="rId4"/>
          <a:srcRect l="14673" t="33074" r="15820" b="44466"/>
          <a:stretch>
            <a:fillRect/>
          </a:stretch>
        </p:blipFill>
        <p:spPr>
          <a:xfrm>
            <a:off x="0" y="6281928"/>
            <a:ext cx="1783080" cy="576072"/>
          </a:xfrm>
          <a:prstGeom prst="rect">
            <a:avLst/>
          </a:prstGeom>
        </p:spPr>
      </p:pic>
      <p:pic>
        <p:nvPicPr>
          <p:cNvPr id="4" name="Logo Maker Bhavan" descr="image.png"/>
          <p:cNvPicPr>
            <a:picLocks noChangeAspect="1"/>
          </p:cNvPicPr>
          <p:nvPr/>
        </p:nvPicPr>
        <p:blipFill>
          <a:blip r:embed="rId5"/>
          <a:stretch>
            <a:fillRect/>
          </a:stretch>
        </p:blipFill>
        <p:spPr>
          <a:xfrm>
            <a:off x="11091672" y="6281928"/>
            <a:ext cx="1097280" cy="576072"/>
          </a:xfrm>
          <a:prstGeom prst="rect">
            <a:avLst/>
          </a:prstGeom>
        </p:spPr>
      </p:pic>
      <p:sp>
        <p:nvSpPr>
          <p:cNvPr id="5" name="Title"/>
          <p:cNvSpPr txBox="1"/>
          <p:nvPr/>
        </p:nvSpPr>
        <p:spPr>
          <a:xfrm>
            <a:off x="530352" y="438912"/>
            <a:ext cx="11128248" cy="310896"/>
          </a:xfrm>
          <a:prstGeom prst="rect">
            <a:avLst/>
          </a:prstGeom>
          <a:noFill/>
        </p:spPr>
        <p:txBody>
          <a:bodyPr wrap="square" lIns="0" tIns="0" rIns="0" bIns="0" anchor="ctr">
            <a:noAutofit/>
          </a:bodyPr>
          <a:lstStyle/>
          <a:p>
            <a:pPr marL="0" indent="0" algn="l">
              <a:lnSpc>
                <a:spcPct val="120000"/>
              </a:lnSpc>
              <a:spcBef>
                <a:spcPts val="0"/>
              </a:spcBef>
              <a:spcAft>
                <a:spcPts val="0"/>
              </a:spcAft>
              <a:buNone/>
            </a:pPr>
            <a:r>
              <a:rPr sz="2025" b="1" i="0">
                <a:solidFill>
                  <a:srgbClr val="0F172A"/>
                </a:solidFill>
                <a:latin typeface="Poppins SemiBold"/>
              </a:rPr>
              <a:t>Image Sources &amp; Disclosure</a:t>
            </a:r>
          </a:p>
        </p:txBody>
      </p:sp>
      <p:sp>
        <p:nvSpPr>
          <p:cNvPr id="6" name="Footer"/>
          <p:cNvSpPr txBox="1"/>
          <p:nvPr/>
        </p:nvSpPr>
        <p:spPr>
          <a:xfrm>
            <a:off x="3840480" y="6455664"/>
            <a:ext cx="4507992" cy="164592"/>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sz="861" b="0" i="0">
                <a:solidFill>
                  <a:srgbClr val="64748B"/>
                </a:solidFill>
                <a:latin typeface="DM Sans"/>
              </a:rPr>
              <a:t>VK26-AU-HCI-0032  ·  HCI 2.0  ·  16 / 16</a:t>
            </a:r>
          </a:p>
        </p:txBody>
      </p:sp>
      <p:pic>
        <p:nvPicPr>
          <p:cNvPr id="7" name="Thumbnail 1" descr="1792942202361_image.png"/>
          <p:cNvPicPr>
            <a:picLocks noChangeAspect="1"/>
          </p:cNvPicPr>
          <p:nvPr/>
        </p:nvPicPr>
        <p:blipFill>
          <a:blip r:embed="rId6"/>
          <a:stretch>
            <a:fillRect/>
          </a:stretch>
        </p:blipFill>
        <p:spPr>
          <a:xfrm>
            <a:off x="530352" y="1005840"/>
            <a:ext cx="1298448" cy="731520"/>
          </a:xfrm>
          <a:prstGeom prst="roundRect">
            <a:avLst>
              <a:gd name="adj" fmla="val 8750"/>
            </a:avLst>
          </a:prstGeom>
          <a:ln w="9525">
            <a:solidFill>
              <a:srgbClr val="CBD5E1"/>
            </a:solidFill>
          </a:ln>
        </p:spPr>
      </p:pic>
      <p:sp>
        <p:nvSpPr>
          <p:cNvPr id="8" name="TextBox 7"/>
          <p:cNvSpPr txBox="1"/>
          <p:nvPr/>
        </p:nvSpPr>
        <p:spPr>
          <a:xfrm>
            <a:off x="2057400" y="987552"/>
            <a:ext cx="9509760" cy="822960"/>
          </a:xfrm>
          <a:prstGeom prst="rect">
            <a:avLst/>
          </a:prstGeom>
          <a:noFill/>
        </p:spPr>
        <p:txBody>
          <a:bodyPr wrap="square" lIns="0" tIns="0" rIns="0" bIns="0" anchor="t">
            <a:noAutofit/>
          </a:bodyPr>
          <a:lstStyle/>
          <a:p>
            <a:pPr marL="0" indent="0" algn="l">
              <a:lnSpc>
                <a:spcPct val="130000"/>
              </a:lnSpc>
              <a:spcBef>
                <a:spcPts val="0"/>
              </a:spcBef>
              <a:spcAft>
                <a:spcPts val="200"/>
              </a:spcAft>
              <a:buNone/>
            </a:pPr>
            <a:r>
              <a:rPr sz="936" b="1" i="0">
                <a:solidFill>
                  <a:srgbClr val="0F172A"/>
                </a:solidFill>
                <a:latin typeface="DM Sans"/>
              </a:rPr>
              <a:t>images/01_gig_product_concept.png   Used on: Project Overview, Electronics</a:t>
            </a:r>
          </a:p>
          <a:p>
            <a:pPr marL="0" indent="0" algn="l">
              <a:lnSpc>
                <a:spcPct val="130000"/>
              </a:lnSpc>
              <a:spcBef>
                <a:spcPts val="0"/>
              </a:spcBef>
              <a:spcAft>
                <a:spcPts val="0"/>
              </a:spcAft>
              <a:buNone/>
            </a:pPr>
            <a:r>
              <a:rPr sz="936" b="0" i="0">
                <a:solidFill>
                  <a:srgbClr val="64748B"/>
                </a:solidFill>
                <a:latin typeface="DM Sans"/>
              </a:rPr>
              <a:t>Source: AI-generated illustrative product concept. Not a CAD render, photograph or built device.</a:t>
            </a:r>
            <a:r>
              <a:rPr sz="936" b="0" i="0">
                <a:solidFill>
                  <a:srgbClr val="0369A1"/>
                </a:solidFill>
                <a:latin typeface="DM Sans"/>
              </a:rPr>
              <a:t/>
            </a:r>
          </a:p>
        </p:txBody>
      </p:sp>
      <p:cxnSp>
        <p:nvCxnSpPr>
          <p:cNvPr id="9" name="Connector 8"/>
          <p:cNvCxnSpPr/>
          <p:nvPr/>
        </p:nvCxnSpPr>
        <p:spPr>
          <a:xfrm>
            <a:off x="530352" y="1883664"/>
            <a:ext cx="11128248" cy="0"/>
          </a:xfrm>
          <a:prstGeom prst="line">
            <a:avLst/>
          </a:prstGeom>
          <a:ln w="6350">
            <a:solidFill>
              <a:srgbClr val="CBD5E1"/>
            </a:solidFill>
          </a:ln>
        </p:spPr>
      </p:cxnSp>
      <p:pic>
        <p:nvPicPr>
          <p:cNvPr id="10" name="Thumbnail 2" descr="1792942212439_image.png"/>
          <p:cNvPicPr>
            <a:picLocks noChangeAspect="1"/>
          </p:cNvPicPr>
          <p:nvPr/>
        </p:nvPicPr>
        <p:blipFill>
          <a:blip r:embed="rId7"/>
          <a:stretch>
            <a:fillRect/>
          </a:stretch>
        </p:blipFill>
        <p:spPr>
          <a:xfrm>
            <a:off x="530352" y="2029968"/>
            <a:ext cx="1298448" cy="731520"/>
          </a:xfrm>
          <a:prstGeom prst="roundRect">
            <a:avLst>
              <a:gd name="adj" fmla="val 8750"/>
            </a:avLst>
          </a:prstGeom>
          <a:ln w="9525">
            <a:solidFill>
              <a:srgbClr val="CBD5E1"/>
            </a:solidFill>
          </a:ln>
        </p:spPr>
      </p:pic>
      <p:sp>
        <p:nvSpPr>
          <p:cNvPr id="11" name="TextBox 10"/>
          <p:cNvSpPr txBox="1"/>
          <p:nvPr/>
        </p:nvSpPr>
        <p:spPr>
          <a:xfrm>
            <a:off x="2057400" y="2011680"/>
            <a:ext cx="9509760" cy="822960"/>
          </a:xfrm>
          <a:prstGeom prst="rect">
            <a:avLst/>
          </a:prstGeom>
          <a:noFill/>
        </p:spPr>
        <p:txBody>
          <a:bodyPr wrap="square" lIns="0" tIns="0" rIns="0" bIns="0" anchor="t">
            <a:noAutofit/>
          </a:bodyPr>
          <a:lstStyle/>
          <a:p>
            <a:pPr marL="0" indent="0" algn="l">
              <a:lnSpc>
                <a:spcPct val="130000"/>
              </a:lnSpc>
              <a:spcBef>
                <a:spcPts val="0"/>
              </a:spcBef>
              <a:spcAft>
                <a:spcPts val="200"/>
              </a:spcAft>
              <a:buNone/>
            </a:pPr>
            <a:r>
              <a:rPr sz="936" b="1" i="0">
                <a:solidFill>
                  <a:srgbClr val="0F172A"/>
                </a:solidFill>
                <a:latin typeface="DM Sans"/>
              </a:rPr>
              <a:t>images/02_training_scenario.png</a:t>
            </a:r>
            <a:r>
              <a:rPr sz="861" b="0" i="0">
                <a:solidFill>
                  <a:srgbClr val="64748B"/>
                </a:solidFill>
                <a:latin typeface="DM Sans"/>
              </a:rPr>
              <a:t>   Used on: Problem Context</a:t>
            </a:r>
          </a:p>
          <a:p>
            <a:pPr marL="0" indent="0" algn="l">
              <a:lnSpc>
                <a:spcPct val="130000"/>
              </a:lnSpc>
              <a:spcBef>
                <a:spcPts val="0"/>
              </a:spcBef>
              <a:spcAft>
                <a:spcPts val="0"/>
              </a:spcAft>
              <a:buNone/>
            </a:pPr>
            <a:r>
              <a:rPr sz="936" b="0" i="0">
                <a:solidFill>
                  <a:srgbClr val="64748B"/>
                </a:solidFill>
                <a:latin typeface="DM Sans"/>
              </a:rPr>
              <a:t>Source: </a:t>
            </a:r>
            <a:r>
              <a:rPr sz="936" b="0" i="0">
                <a:solidFill>
                  <a:srgbClr val="0369A1"/>
                </a:solidFill>
                <a:latin typeface="DM Sans"/>
              </a:rPr>
              <a:t>AI-generated illustration of a supervised training scenario. Not an NDRF photograph.</a:t>
            </a:r>
          </a:p>
        </p:txBody>
      </p:sp>
      <p:cxnSp>
        <p:nvCxnSpPr>
          <p:cNvPr id="12" name="Connector 11"/>
          <p:cNvCxnSpPr/>
          <p:nvPr/>
        </p:nvCxnSpPr>
        <p:spPr>
          <a:xfrm>
            <a:off x="530352" y="2907792"/>
            <a:ext cx="11128248" cy="0"/>
          </a:xfrm>
          <a:prstGeom prst="line">
            <a:avLst/>
          </a:prstGeom>
          <a:ln w="6350">
            <a:solidFill>
              <a:srgbClr val="CBD5E1"/>
            </a:solidFill>
          </a:ln>
        </p:spPr>
      </p:cxnSp>
      <p:pic>
        <p:nvPicPr>
          <p:cNvPr id="13" name="Thumbnail 3" descr="1792942217089_image.png"/>
          <p:cNvPicPr>
            <a:picLocks noChangeAspect="1"/>
          </p:cNvPicPr>
          <p:nvPr/>
        </p:nvPicPr>
        <p:blipFill>
          <a:blip r:embed="rId8"/>
          <a:stretch>
            <a:fillRect/>
          </a:stretch>
        </p:blipFill>
        <p:spPr>
          <a:xfrm>
            <a:off x="530352" y="3054096"/>
            <a:ext cx="1298448" cy="731520"/>
          </a:xfrm>
          <a:prstGeom prst="roundRect">
            <a:avLst>
              <a:gd name="adj" fmla="val 8750"/>
            </a:avLst>
          </a:prstGeom>
          <a:ln w="9525">
            <a:solidFill>
              <a:srgbClr val="CBD5E1"/>
            </a:solidFill>
          </a:ln>
        </p:spPr>
      </p:pic>
      <p:sp>
        <p:nvSpPr>
          <p:cNvPr id="14" name="TextBox 13"/>
          <p:cNvSpPr txBox="1"/>
          <p:nvPr/>
        </p:nvSpPr>
        <p:spPr>
          <a:xfrm>
            <a:off x="2057400" y="3035808"/>
            <a:ext cx="9509760" cy="822960"/>
          </a:xfrm>
          <a:prstGeom prst="rect">
            <a:avLst/>
          </a:prstGeom>
          <a:noFill/>
        </p:spPr>
        <p:txBody>
          <a:bodyPr wrap="square" lIns="0" tIns="0" rIns="0" bIns="0" anchor="t">
            <a:noAutofit/>
          </a:bodyPr>
          <a:lstStyle/>
          <a:p>
            <a:pPr marL="0" indent="0" algn="l">
              <a:lnSpc>
                <a:spcPct val="130000"/>
              </a:lnSpc>
              <a:spcBef>
                <a:spcPts val="0"/>
              </a:spcBef>
              <a:spcAft>
                <a:spcPts val="200"/>
              </a:spcAft>
              <a:buNone/>
            </a:pPr>
            <a:r>
              <a:rPr sz="936" b="1" i="0">
                <a:solidFill>
                  <a:srgbClr val="0F172A"/>
                </a:solidFill>
                <a:latin typeface="DM Sans"/>
              </a:rPr>
              <a:t>images/03_wearer_pov_concept.png</a:t>
            </a:r>
            <a:r>
              <a:rPr sz="861" b="0" i="0">
                <a:solidFill>
                  <a:srgbClr val="64748B"/>
                </a:solidFill>
                <a:latin typeface="DM Sans"/>
              </a:rPr>
              <a:t>   Used on: User Journey, First Prototype Interaction</a:t>
            </a:r>
          </a:p>
          <a:p>
            <a:pPr marL="0" indent="0" algn="l">
              <a:lnSpc>
                <a:spcPct val="130000"/>
              </a:lnSpc>
              <a:spcBef>
                <a:spcPts val="0"/>
              </a:spcBef>
              <a:spcAft>
                <a:spcPts val="0"/>
              </a:spcAft>
              <a:buNone/>
            </a:pPr>
            <a:r>
              <a:rPr sz="936" b="0" i="0">
                <a:solidFill>
                  <a:srgbClr val="64748B"/>
                </a:solidFill>
                <a:latin typeface="DM Sans"/>
              </a:rPr>
              <a:t>Source: </a:t>
            </a:r>
            <a:r>
              <a:rPr sz="936" b="0" i="0">
                <a:solidFill>
                  <a:srgbClr val="0369A1"/>
                </a:solidFill>
                <a:latin typeface="DM Sans"/>
              </a:rPr>
              <a:t>AI-generated illustrative wearer view. The highlight is a candidate, not a completed check.</a:t>
            </a:r>
          </a:p>
        </p:txBody>
      </p:sp>
      <p:cxnSp>
        <p:nvCxnSpPr>
          <p:cNvPr id="15" name="Connector 14"/>
          <p:cNvCxnSpPr/>
          <p:nvPr/>
        </p:nvCxnSpPr>
        <p:spPr>
          <a:xfrm>
            <a:off x="530352" y="3931920"/>
            <a:ext cx="11128248" cy="0"/>
          </a:xfrm>
          <a:prstGeom prst="line">
            <a:avLst/>
          </a:prstGeom>
          <a:ln w="6350">
            <a:solidFill>
              <a:srgbClr val="CBD5E1"/>
            </a:solidFill>
          </a:ln>
        </p:spPr>
      </p:cxnSp>
      <p:pic>
        <p:nvPicPr>
          <p:cNvPr id="16" name="Thumbnail 4" descr="1792942222407_image.png"/>
          <p:cNvPicPr>
            <a:picLocks noChangeAspect="1"/>
          </p:cNvPicPr>
          <p:nvPr/>
        </p:nvPicPr>
        <p:blipFill>
          <a:blip r:embed="rId9"/>
          <a:stretch>
            <a:fillRect/>
          </a:stretch>
        </p:blipFill>
        <p:spPr>
          <a:xfrm>
            <a:off x="530352" y="4078224"/>
            <a:ext cx="1298448" cy="731520"/>
          </a:xfrm>
          <a:prstGeom prst="roundRect">
            <a:avLst>
              <a:gd name="adj" fmla="val 8750"/>
            </a:avLst>
          </a:prstGeom>
          <a:ln w="9525">
            <a:solidFill>
              <a:srgbClr val="CBD5E1"/>
            </a:solidFill>
          </a:ln>
        </p:spPr>
      </p:pic>
      <p:sp>
        <p:nvSpPr>
          <p:cNvPr id="17" name="TextBox 16"/>
          <p:cNvSpPr txBox="1"/>
          <p:nvPr/>
        </p:nvSpPr>
        <p:spPr>
          <a:xfrm>
            <a:off x="2057400" y="4059936"/>
            <a:ext cx="9509760" cy="822960"/>
          </a:xfrm>
          <a:prstGeom prst="rect">
            <a:avLst/>
          </a:prstGeom>
          <a:noFill/>
        </p:spPr>
        <p:txBody>
          <a:bodyPr wrap="square" lIns="0" tIns="0" rIns="0" bIns="0" anchor="t">
            <a:noAutofit/>
          </a:bodyPr>
          <a:lstStyle/>
          <a:p>
            <a:pPr marL="0" indent="0" algn="l">
              <a:lnSpc>
                <a:spcPct val="130000"/>
              </a:lnSpc>
              <a:spcBef>
                <a:spcPts val="0"/>
              </a:spcBef>
              <a:spcAft>
                <a:spcPts val="200"/>
              </a:spcAft>
              <a:buNone/>
            </a:pPr>
            <a:r>
              <a:rPr sz="936" b="1" i="0">
                <a:solidFill>
                  <a:srgbClr val="0F172A"/>
                </a:solidFill>
                <a:latin typeface="DM Sans"/>
              </a:rPr>
              <a:t>images/04_instructor_debrief_concept.png</a:t>
            </a:r>
            <a:r>
              <a:rPr sz="861" b="0" i="0">
                <a:solidFill>
                  <a:srgbClr val="64748B"/>
                </a:solidFill>
                <a:latin typeface="DM Sans"/>
              </a:rPr>
              <a:t>   Used on: First Prototype Interaction (review step)</a:t>
            </a:r>
          </a:p>
          <a:p>
            <a:pPr marL="0" indent="0" algn="l">
              <a:lnSpc>
                <a:spcPct val="130000"/>
              </a:lnSpc>
              <a:spcBef>
                <a:spcPts val="0"/>
              </a:spcBef>
              <a:spcAft>
                <a:spcPts val="0"/>
              </a:spcAft>
              <a:buNone/>
            </a:pPr>
            <a:r>
              <a:rPr sz="936" b="0" i="0">
                <a:solidFill>
                  <a:srgbClr val="64748B"/>
                </a:solidFill>
                <a:latin typeface="DM Sans"/>
              </a:rPr>
              <a:t>Source: </a:t>
            </a:r>
            <a:r>
              <a:rPr sz="936" b="0" i="0">
                <a:solidFill>
                  <a:srgbClr val="0369A1"/>
                </a:solidFill>
                <a:latin typeface="DM Sans"/>
              </a:rPr>
              <a:t>AI-generated illustrative debrief interface. Not functional software.</a:t>
            </a:r>
          </a:p>
        </p:txBody>
      </p:sp>
      <p:cxnSp>
        <p:nvCxnSpPr>
          <p:cNvPr id="18" name="Connector 17"/>
          <p:cNvCxnSpPr/>
          <p:nvPr/>
        </p:nvCxnSpPr>
        <p:spPr>
          <a:xfrm>
            <a:off x="530352" y="4956048"/>
            <a:ext cx="11128248" cy="0"/>
          </a:xfrm>
          <a:prstGeom prst="line">
            <a:avLst/>
          </a:prstGeom>
          <a:ln w="6350">
            <a:solidFill>
              <a:srgbClr val="CBD5E1"/>
            </a:solidFill>
          </a:ln>
        </p:spPr>
      </p:cxnSp>
      <p:sp>
        <p:nvSpPr>
          <p:cNvPr id="19" name="TextBox 18"/>
          <p:cNvSpPr txBox="1"/>
          <p:nvPr/>
        </p:nvSpPr>
        <p:spPr>
          <a:xfrm>
            <a:off x="530352" y="5138928"/>
            <a:ext cx="11128248" cy="411480"/>
          </a:xfrm>
          <a:prstGeom prst="rect">
            <a:avLst/>
          </a:prstGeom>
          <a:noFill/>
        </p:spPr>
        <p:txBody>
          <a:bodyPr wrap="square" lIns="0" tIns="0" rIns="0" bIns="0" anchor="t">
            <a:noAutofit/>
          </a:bodyPr>
          <a:lstStyle/>
          <a:p>
            <a:pPr marL="0" indent="0" algn="l">
              <a:lnSpc>
                <a:spcPct val="140000"/>
              </a:lnSpc>
              <a:spcBef>
                <a:spcPts val="0"/>
              </a:spcBef>
              <a:spcAft>
                <a:spcPts val="0"/>
              </a:spcAft>
              <a:buNone/>
            </a:pPr>
            <a:r>
              <a:rPr sz="936" b="1" i="0">
                <a:solidFill>
                  <a:srgbClr val="0F172A"/>
                </a:solidFill>
                <a:latin typeface="DM Sans"/>
              </a:rPr>
              <a:t>CAD files: original untested GIG temple .scad; third-party open-hardware frame .3mf/STLs and exploded reference drawing [S8].</a:t>
            </a:r>
          </a:p>
        </p:txBody>
      </p:sp>
      <p:pic>
        <p:nvPicPr>
          <p:cNvPr id="20" name="Note bar" descr="image.png"/>
          <p:cNvPicPr>
            <a:picLocks noChangeAspect="1"/>
          </p:cNvPicPr>
          <p:nvPr/>
        </p:nvPicPr>
        <p:blipFill>
          <a:blip r:embed="rId10"/>
          <a:stretch>
            <a:fillRect/>
          </a:stretch>
        </p:blipFill>
        <p:spPr>
          <a:xfrm>
            <a:off x="530352" y="5715000"/>
            <a:ext cx="11128248" cy="365760"/>
          </a:xfrm>
          <a:prstGeom prst="rect">
            <a:avLst/>
          </a:prstGeom>
        </p:spPr>
      </p:pic>
      <p:sp>
        <p:nvSpPr>
          <p:cNvPr id="21" name="Note text"/>
          <p:cNvSpPr txBox="1"/>
          <p:nvPr/>
        </p:nvSpPr>
        <p:spPr>
          <a:xfrm>
            <a:off x="722376" y="5797296"/>
            <a:ext cx="10789920" cy="274320"/>
          </a:xfrm>
          <a:prstGeom prst="rect">
            <a:avLst/>
          </a:prstGeom>
          <a:noFill/>
        </p:spPr>
        <p:txBody>
          <a:bodyPr wrap="square" lIns="0" tIns="0" rIns="0" bIns="0" anchor="t">
            <a:noAutofit/>
          </a:bodyPr>
          <a:lstStyle/>
          <a:p>
            <a:pPr marL="0" indent="0" algn="l">
              <a:lnSpc>
                <a:spcPct val="145000"/>
              </a:lnSpc>
              <a:spcBef>
                <a:spcPts val="0"/>
              </a:spcBef>
              <a:spcAft>
                <a:spcPts val="0"/>
              </a:spcAft>
              <a:buNone/>
            </a:pPr>
            <a:r>
              <a:rPr sz="936" b="1" i="0">
                <a:solidFill>
                  <a:srgbClr val="0F172A"/>
                </a:solidFill>
                <a:latin typeface="DM Sans"/>
              </a:rPr>
              <a:t>The four concept images are AI-generated. The CAD view is a cited third-party reference, not a built or validated GIG assembly.</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4091</Words>
  <Application>Microsoft Macintosh PowerPoint</Application>
  <PresentationFormat>Widescreen</PresentationFormat>
  <Paragraphs>356</Paragraphs>
  <Slides>16</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Poppins</vt:lpstr>
      <vt:lpstr>Arial</vt:lpstr>
      <vt:lpstr>DM Sans</vt:lpstr>
      <vt:lpstr>Calibri</vt:lpstr>
      <vt:lpstr>DM Sans Medium</vt:lpstr>
      <vt:lpstr>Poppins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Labish Bardiya</cp:lastModifiedBy>
  <cp:revision>2</cp:revision>
  <dcterms:modified xsi:type="dcterms:W3CDTF">2026-10-25T16:06:33Z</dcterms:modified>
</cp:coreProperties>
</file>